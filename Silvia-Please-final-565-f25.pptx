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5765800" cy="3238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432434" y="1005903"/>
            <a:ext cx="4900932" cy="68142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864869" y="1817116"/>
            <a:ext cx="4036062" cy="81121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288290" y="746315"/>
            <a:ext cx="2508125" cy="214160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2" y="-1"/>
            <a:ext cx="5760000" cy="354154"/>
          </a:xfrm>
          <a:prstGeom prst="rect">
            <a:avLst/>
          </a:prstGeom>
          <a:solidFill>
            <a:srgbClr val="CCD9E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95300" y="61884"/>
            <a:ext cx="3497580" cy="24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100444" y="711744"/>
            <a:ext cx="4986021" cy="1066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600"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8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15.xm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" Target="slide9.xml"/><Relationship Id="rId12" Type="http://schemas.openxmlformats.org/officeDocument/2006/relationships/slide" Target="slide25.xml"/><Relationship Id="rId13" Type="http://schemas.openxmlformats.org/officeDocument/2006/relationships/slide" Target="slide27.xml"/><Relationship Id="rId14" Type="http://schemas.openxmlformats.org/officeDocument/2006/relationships/slide" Target="slide3.xml"/><Relationship Id="rId15" Type="http://schemas.openxmlformats.org/officeDocument/2006/relationships/slide" Target="slide2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object 2"/>
          <p:cNvGrpSpPr/>
          <p:nvPr/>
        </p:nvGrpSpPr>
        <p:grpSpPr>
          <a:xfrm>
            <a:off x="87741" y="571080"/>
            <a:ext cx="5635385" cy="771935"/>
            <a:chOff x="0" y="0"/>
            <a:chExt cx="5635383" cy="771934"/>
          </a:xfrm>
        </p:grpSpPr>
        <p:sp>
          <p:nvSpPr>
            <p:cNvPr id="65" name="object 3"/>
            <p:cNvSpPr/>
            <p:nvPr/>
          </p:nvSpPr>
          <p:spPr>
            <a:xfrm>
              <a:off x="-1" y="-1"/>
              <a:ext cx="5584584" cy="82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04" y="0"/>
                  </a:moveTo>
                  <a:lnTo>
                    <a:pt x="196" y="0"/>
                  </a:lnTo>
                  <a:lnTo>
                    <a:pt x="120" y="1051"/>
                  </a:lnTo>
                  <a:lnTo>
                    <a:pt x="58" y="3912"/>
                  </a:lnTo>
                  <a:lnTo>
                    <a:pt x="16" y="8147"/>
                  </a:lnTo>
                  <a:lnTo>
                    <a:pt x="0" y="1331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3319"/>
                  </a:lnTo>
                  <a:lnTo>
                    <a:pt x="21584" y="8147"/>
                  </a:lnTo>
                  <a:lnTo>
                    <a:pt x="21542" y="3912"/>
                  </a:lnTo>
                  <a:lnTo>
                    <a:pt x="21480" y="1051"/>
                  </a:lnTo>
                  <a:lnTo>
                    <a:pt x="21404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" name="object 4"/>
            <p:cNvSpPr/>
            <p:nvPr/>
          </p:nvSpPr>
          <p:spPr>
            <a:xfrm>
              <a:off x="50800" y="63243"/>
              <a:ext cx="5584584" cy="70869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" name="object 5"/>
            <p:cNvSpPr/>
            <p:nvPr/>
          </p:nvSpPr>
          <p:spPr>
            <a:xfrm>
              <a:off x="-1" y="44408"/>
              <a:ext cx="5584584" cy="67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979"/>
                  </a:lnTo>
                  <a:lnTo>
                    <a:pt x="16" y="20608"/>
                  </a:lnTo>
                  <a:lnTo>
                    <a:pt x="58" y="21124"/>
                  </a:lnTo>
                  <a:lnTo>
                    <a:pt x="120" y="2147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72"/>
                  </a:lnTo>
                  <a:lnTo>
                    <a:pt x="21542" y="21124"/>
                  </a:lnTo>
                  <a:lnTo>
                    <a:pt x="21584" y="20608"/>
                  </a:lnTo>
                  <a:lnTo>
                    <a:pt x="21600" y="1997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9" name="object 6"/>
          <p:cNvSpPr txBox="1"/>
          <p:nvPr>
            <p:ph type="title"/>
          </p:nvPr>
        </p:nvSpPr>
        <p:spPr>
          <a:xfrm>
            <a:off x="138543" y="634324"/>
            <a:ext cx="5584828" cy="709297"/>
          </a:xfrm>
          <a:prstGeom prst="rect">
            <a:avLst/>
          </a:prstGeom>
        </p:spPr>
        <p:txBody>
          <a:bodyPr/>
          <a:lstStyle/>
          <a:p>
            <a:pPr marL="1015364" marR="476884" indent="-633094">
              <a:lnSpc>
                <a:spcPct val="106699"/>
              </a:lnSpc>
              <a:spcBef>
                <a:spcPts val="300"/>
              </a:spcBef>
              <a:defRPr b="1" spc="-100">
                <a:latin typeface="Tahoma"/>
                <a:ea typeface="Tahoma"/>
                <a:cs typeface="Tahoma"/>
                <a:sym typeface="Tahoma"/>
              </a:defRPr>
            </a:pPr>
            <a:r>
              <a:t>Force-Driven</a:t>
            </a:r>
            <a:r>
              <a:rPr spc="0"/>
              <a:t> Minimum Latency </a:t>
            </a:r>
            <a:r>
              <a:t>Resource-Constrained Scheduling</a:t>
            </a:r>
            <a:r>
              <a:rPr spc="100"/>
              <a:t> </a:t>
            </a:r>
            <a:r>
              <a:rPr spc="0"/>
              <a:t>(ML-</a:t>
            </a:r>
            <a:r>
              <a:t>RCS)</a:t>
            </a:r>
          </a:p>
        </p:txBody>
      </p:sp>
      <p:sp>
        <p:nvSpPr>
          <p:cNvPr id="70" name="object 8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71" name="object 7"/>
          <p:cNvSpPr txBox="1"/>
          <p:nvPr/>
        </p:nvSpPr>
        <p:spPr>
          <a:xfrm>
            <a:off x="1638173" y="1517659"/>
            <a:ext cx="2483487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500"/>
              </a:spcBef>
              <a:defRPr b="1" spc="-25" sz="1100">
                <a:latin typeface="Arial"/>
                <a:ea typeface="Arial"/>
                <a:cs typeface="Arial"/>
                <a:sym typeface="Arial"/>
              </a:defRPr>
            </a:pPr>
            <a:r>
              <a:t>Silvia</a:t>
            </a:r>
            <a:r>
              <a:rPr spc="4"/>
              <a:t> </a:t>
            </a:r>
            <a:r>
              <a:rPr spc="-19"/>
              <a:t>Bonenti</a:t>
            </a:r>
            <a:r>
              <a:rPr spc="-30"/>
              <a:t> </a:t>
            </a:r>
            <a:r>
              <a:rPr spc="-19"/>
              <a:t>and</a:t>
            </a:r>
            <a:r>
              <a:t> </a:t>
            </a:r>
            <a:r>
              <a:rPr spc="-39"/>
              <a:t>Please</a:t>
            </a:r>
            <a:r>
              <a:rPr spc="4"/>
              <a:t> </a:t>
            </a:r>
            <a:r>
              <a:rPr spc="-19"/>
              <a:t>Lukau</a:t>
            </a:r>
          </a:p>
          <a:p>
            <a:pPr algn="ctr">
              <a:spcBef>
                <a:spcPts val="4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ECE/CS</a:t>
            </a:r>
            <a:r>
              <a:rPr spc="9"/>
              <a:t> </a:t>
            </a:r>
            <a:r>
              <a:rPr spc="-30"/>
              <a:t>565:</a:t>
            </a:r>
            <a:r>
              <a:rPr spc="135"/>
              <a:t> </a:t>
            </a:r>
            <a:r>
              <a:rPr spc="-25"/>
              <a:t>Physical</a:t>
            </a:r>
            <a:r>
              <a:rPr spc="15"/>
              <a:t> </a:t>
            </a:r>
            <a:r>
              <a:rPr spc="-39"/>
              <a:t>Design</a:t>
            </a:r>
            <a:r>
              <a:rPr spc="15"/>
              <a:t> </a:t>
            </a:r>
            <a:r>
              <a:rPr spc="-9"/>
              <a:t>Automation</a:t>
            </a:r>
          </a:p>
          <a:p>
            <a:pPr>
              <a:defRPr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>
              <a:spcBef>
                <a:spcPts val="4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 algn="ctr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Fall</a:t>
            </a:r>
            <a:r>
              <a:rPr spc="-35"/>
              <a:t> </a:t>
            </a:r>
            <a:r>
              <a:rPr spc="-19"/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/>
          <p:cNvSpPr txBox="1"/>
          <p:nvPr>
            <p:ph type="title"/>
          </p:nvPr>
        </p:nvSpPr>
        <p:spPr>
          <a:xfrm>
            <a:off x="95299" y="61884"/>
            <a:ext cx="555628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Outline</a:t>
            </a:r>
          </a:p>
        </p:txBody>
      </p:sp>
      <p:pic>
        <p:nvPicPr>
          <p:cNvPr id="7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278" y="665580"/>
            <a:ext cx="160100" cy="160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278" y="986115"/>
            <a:ext cx="160100" cy="160098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object 6"/>
          <p:cNvSpPr txBox="1"/>
          <p:nvPr/>
        </p:nvSpPr>
        <p:spPr>
          <a:xfrm>
            <a:off x="129755" y="997430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" name="object 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969453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Where we left off </a:t>
            </a:r>
          </a:p>
        </p:txBody>
      </p:sp>
      <p:pic>
        <p:nvPicPr>
          <p:cNvPr id="78" name="object 8" descr="object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278" y="1306652"/>
            <a:ext cx="160100" cy="160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object 10" descr="object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8" y="1627185"/>
            <a:ext cx="160100" cy="160098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object 11"/>
          <p:cNvSpPr txBox="1"/>
          <p:nvPr/>
        </p:nvSpPr>
        <p:spPr>
          <a:xfrm>
            <a:off x="129755" y="1638499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" name="object 12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95172" y="1610522"/>
            <a:ext cx="12839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New Features</a:t>
            </a:r>
          </a:p>
        </p:txBody>
      </p:sp>
      <p:pic>
        <p:nvPicPr>
          <p:cNvPr id="82" name="object 13" descr="object 1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278" y="1947734"/>
            <a:ext cx="160100" cy="160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object 15" descr="object 1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9278" y="2268270"/>
            <a:ext cx="160100" cy="160098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object 16"/>
          <p:cNvSpPr txBox="1"/>
          <p:nvPr/>
        </p:nvSpPr>
        <p:spPr>
          <a:xfrm>
            <a:off x="129755" y="2279570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85" name="object 18" descr="object 1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9278" y="2588804"/>
            <a:ext cx="160100" cy="16009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object 19"/>
          <p:cNvSpPr txBox="1"/>
          <p:nvPr/>
        </p:nvSpPr>
        <p:spPr>
          <a:xfrm>
            <a:off x="129753" y="2572141"/>
            <a:ext cx="807724" cy="174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baseline="6942" sz="12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</a:t>
            </a:r>
            <a:r>
              <a:rPr spc="307"/>
              <a:t> </a:t>
            </a:r>
          </a:p>
        </p:txBody>
      </p:sp>
      <p:sp>
        <p:nvSpPr>
          <p:cNvPr id="87" name="object 2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88" name="object 7">
            <a:hlinkClick r:id="rId11" invalidUrl="" action="ppaction://hlinksldjump" tgtFrame="" tooltip="" history="1" highlightClick="0" endSnd="0"/>
          </p:cNvPr>
          <p:cNvSpPr txBox="1"/>
          <p:nvPr/>
        </p:nvSpPr>
        <p:spPr>
          <a:xfrm>
            <a:off x="295172" y="1311211"/>
            <a:ext cx="18777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Requested Adjustments</a:t>
            </a:r>
          </a:p>
        </p:txBody>
      </p:sp>
      <p:sp>
        <p:nvSpPr>
          <p:cNvPr id="89" name="object 6"/>
          <p:cNvSpPr txBox="1"/>
          <p:nvPr/>
        </p:nvSpPr>
        <p:spPr>
          <a:xfrm>
            <a:off x="129640" y="1330261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" name="object 6"/>
          <p:cNvSpPr txBox="1"/>
          <p:nvPr/>
        </p:nvSpPr>
        <p:spPr>
          <a:xfrm>
            <a:off x="129640" y="1971331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1" name="object 12">
            <a:hlinkClick r:id="rId12" invalidUrl="" action="ppaction://hlinksldjump" tgtFrame="" tooltip="" history="1" highlightClick="0" endSnd="0"/>
          </p:cNvPr>
          <p:cNvSpPr txBox="1"/>
          <p:nvPr/>
        </p:nvSpPr>
        <p:spPr>
          <a:xfrm>
            <a:off x="295172" y="1945232"/>
            <a:ext cx="12839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92" name="object 12">
            <a:hlinkClick r:id="rId13" invalidUrl="" action="ppaction://hlinksldjump" tgtFrame="" tooltip="" history="1" highlightClick="0" endSnd="0"/>
          </p:cNvPr>
          <p:cNvSpPr txBox="1"/>
          <p:nvPr/>
        </p:nvSpPr>
        <p:spPr>
          <a:xfrm>
            <a:off x="295172" y="2260520"/>
            <a:ext cx="12839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 Analysis</a:t>
            </a:r>
          </a:p>
        </p:txBody>
      </p:sp>
      <p:sp>
        <p:nvSpPr>
          <p:cNvPr id="93" name="object 7">
            <a:hlinkClick r:id="rId1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663077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94" name="object 7">
            <a:hlinkClick r:id="rId15" invalidUrl="" action="ppaction://hlinksldjump" tgtFrame="" tooltip="" history="1" highlightClick="0" endSnd="0"/>
          </p:cNvPr>
          <p:cNvSpPr txBox="1"/>
          <p:nvPr/>
        </p:nvSpPr>
        <p:spPr>
          <a:xfrm>
            <a:off x="295172" y="2586302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95" name="object 6"/>
          <p:cNvSpPr txBox="1"/>
          <p:nvPr/>
        </p:nvSpPr>
        <p:spPr>
          <a:xfrm>
            <a:off x="129640" y="690701"/>
            <a:ext cx="79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573" defTabSz="905255">
              <a:defRPr spc="-99" sz="1386"/>
            </a:pPr>
            <a:r>
              <a:rPr b="1"/>
              <a:t>Introduction: </a:t>
            </a:r>
            <a:r>
              <a:t>High-Level</a:t>
            </a:r>
            <a:r>
              <a:rPr spc="0"/>
              <a:t> </a:t>
            </a:r>
            <a:r>
              <a:t>Synthesis</a:t>
            </a:r>
            <a:r>
              <a:rPr spc="0"/>
              <a:t> </a:t>
            </a:r>
            <a:r>
              <a:t>and</a:t>
            </a:r>
            <a:r>
              <a:rPr spc="0"/>
              <a:t> </a:t>
            </a:r>
            <a:r>
              <a:t>Scheduling</a:t>
            </a:r>
          </a:p>
        </p:txBody>
      </p:sp>
      <p:pic>
        <p:nvPicPr>
          <p:cNvPr id="9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123123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1333156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1088" y="1522945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712759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1864586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object 8"/>
          <p:cNvSpPr txBox="1"/>
          <p:nvPr/>
        </p:nvSpPr>
        <p:spPr>
          <a:xfrm>
            <a:off x="402930" y="1018751"/>
            <a:ext cx="4692653" cy="1117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just">
              <a:lnSpc>
                <a:spcPct val="119199"/>
              </a:lnSpc>
              <a:spcBef>
                <a:spcPts val="100"/>
              </a:spcBef>
              <a:defRPr spc="-50" sz="1100">
                <a:latin typeface="Tahoma"/>
                <a:ea typeface="Tahoma"/>
                <a:cs typeface="Tahoma"/>
                <a:sym typeface="Tahoma"/>
              </a:defRPr>
            </a:pPr>
            <a:r>
              <a:t>High-</a:t>
            </a:r>
            <a:r>
              <a:rPr spc="-25"/>
              <a:t>Level</a:t>
            </a:r>
            <a:r>
              <a:rPr spc="0"/>
              <a:t> </a:t>
            </a:r>
            <a:r>
              <a:rPr spc="-45"/>
              <a:t>Synthesis</a:t>
            </a:r>
            <a:r>
              <a:rPr spc="4"/>
              <a:t> </a:t>
            </a:r>
            <a:r>
              <a:rPr spc="0"/>
              <a:t>(HLS) </a:t>
            </a:r>
            <a:r>
              <a:rPr spc="-45"/>
              <a:t>converts</a:t>
            </a:r>
            <a:r>
              <a:rPr spc="4"/>
              <a:t> </a:t>
            </a:r>
            <a:r>
              <a:rPr spc="-35"/>
              <a:t>algorithmic</a:t>
            </a:r>
            <a:r>
              <a:rPr spc="0"/>
              <a:t> </a:t>
            </a:r>
            <a:r>
              <a:rPr spc="-45"/>
              <a:t>descriptions</a:t>
            </a:r>
            <a:r>
              <a:rPr spc="4"/>
              <a:t> </a:t>
            </a:r>
            <a:r>
              <a:rPr spc="-9"/>
              <a:t>into</a:t>
            </a:r>
            <a:r>
              <a:rPr spc="0"/>
              <a:t> RTL</a:t>
            </a:r>
            <a:r>
              <a:rPr spc="4"/>
              <a:t> </a:t>
            </a:r>
            <a:r>
              <a:rPr spc="-35"/>
              <a:t>hardware. </a:t>
            </a:r>
            <a:r>
              <a:rPr b="1" spc="-55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decides</a:t>
            </a:r>
            <a:r>
              <a:rPr spc="-35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i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each</a:t>
            </a:r>
            <a:r>
              <a:rPr spc="-30"/>
              <a:t> </a:t>
            </a:r>
            <a:r>
              <a:rPr spc="-39"/>
              <a:t>operation</a:t>
            </a:r>
            <a:r>
              <a:rPr spc="-35"/>
              <a:t> </a:t>
            </a:r>
            <a:r>
              <a:rPr spc="0"/>
              <a:t>in</a:t>
            </a:r>
            <a:r>
              <a:rPr spc="-35"/>
              <a:t> </a:t>
            </a:r>
            <a:r>
              <a:rPr spc="0"/>
              <a:t>a</a:t>
            </a:r>
            <a:r>
              <a:rPr spc="-35"/>
              <a:t> </a:t>
            </a:r>
            <a:r>
              <a:rPr spc="0"/>
              <a:t>Data</a:t>
            </a:r>
            <a:r>
              <a:rPr spc="-35"/>
              <a:t> </a:t>
            </a:r>
            <a:r>
              <a:rPr spc="-19"/>
              <a:t>Flow</a:t>
            </a:r>
            <a:r>
              <a:rPr spc="-30"/>
              <a:t> </a:t>
            </a:r>
            <a:r>
              <a:rPr spc="-39"/>
              <a:t>Graph</a:t>
            </a:r>
            <a:r>
              <a:rPr spc="-35"/>
              <a:t> </a:t>
            </a:r>
            <a:r>
              <a:rPr spc="0"/>
              <a:t>(DFG)</a:t>
            </a:r>
            <a:r>
              <a:rPr spc="-35"/>
              <a:t> </a:t>
            </a:r>
            <a:r>
              <a:rPr spc="-19"/>
              <a:t>executes. </a:t>
            </a:r>
            <a:r>
              <a:rPr spc="-55"/>
              <a:t>Performance</a:t>
            </a:r>
            <a:r>
              <a:rPr spc="19"/>
              <a:t> </a:t>
            </a:r>
            <a:r>
              <a:rPr spc="-75"/>
              <a:t>depends</a:t>
            </a:r>
            <a:r>
              <a:rPr spc="25"/>
              <a:t> </a:t>
            </a:r>
            <a:r>
              <a:rPr spc="-25"/>
              <a:t>on:</a:t>
            </a:r>
          </a:p>
          <a:p>
            <a:pPr indent="289558">
              <a:lnSpc>
                <a:spcPts val="1200"/>
              </a:lnSpc>
              <a:spcBef>
                <a:spcPts val="100"/>
              </a:spcBef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19"/>
              <a:t> </a:t>
            </a:r>
            <a:r>
              <a:rPr b="0" spc="0"/>
              <a:t>–</a:t>
            </a:r>
            <a:r>
              <a:rPr b="0" spc="9"/>
              <a:t> </a:t>
            </a:r>
            <a:r>
              <a:rPr b="0" spc="0"/>
              <a:t>total</a:t>
            </a:r>
            <a:r>
              <a:rPr b="0" spc="9"/>
              <a:t> </a:t>
            </a:r>
            <a:r>
              <a:rPr b="0" spc="-35"/>
              <a:t>execution</a:t>
            </a:r>
            <a:r>
              <a:rPr b="0" spc="9"/>
              <a:t> </a:t>
            </a:r>
            <a:r>
              <a:rPr b="0" spc="-9"/>
              <a:t>time.</a:t>
            </a:r>
          </a:p>
          <a:p>
            <a:pPr indent="289558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19"/>
              <a:t> </a:t>
            </a:r>
            <a:r>
              <a:t>usage</a:t>
            </a:r>
            <a:r>
              <a:rPr spc="0"/>
              <a:t> </a:t>
            </a:r>
            <a:r>
              <a:rPr b="0" spc="0"/>
              <a:t>–</a:t>
            </a:r>
            <a:r>
              <a:rPr b="0" spc="-4"/>
              <a:t> </a:t>
            </a:r>
            <a:r>
              <a:rPr b="0" spc="-35"/>
              <a:t>number</a:t>
            </a:r>
            <a:r>
              <a:rPr b="0" spc="-4"/>
              <a:t> </a:t>
            </a:r>
            <a:r>
              <a:rPr b="0" spc="0"/>
              <a:t>of</a:t>
            </a:r>
            <a:r>
              <a:rPr b="0" spc="-4"/>
              <a:t> </a:t>
            </a:r>
            <a:r>
              <a:rPr b="0" spc="-19"/>
              <a:t>functional</a:t>
            </a:r>
            <a:r>
              <a:rPr b="0" spc="-4"/>
              <a:t> </a:t>
            </a:r>
            <a:r>
              <a:rPr b="0" spc="0"/>
              <a:t>units</a:t>
            </a:r>
            <a:r>
              <a:rPr b="0" spc="-4"/>
              <a:t> </a:t>
            </a:r>
            <a:r>
              <a:rPr b="0" spc="-9"/>
              <a:t>(FUs).</a:t>
            </a:r>
          </a:p>
          <a:p>
            <a:pPr indent="12700" algn="just"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30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4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3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generalizes</a:t>
            </a:r>
            <a:r>
              <a:rPr spc="-2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35"/>
              <a:t>classical</a:t>
            </a:r>
            <a:r>
              <a:rPr spc="-25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MR-LCS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9"/>
              <a:t>formulation.</a:t>
            </a:r>
          </a:p>
        </p:txBody>
      </p:sp>
      <p:pic>
        <p:nvPicPr>
          <p:cNvPr id="104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2061946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The </a:t>
            </a:r>
            <a:r>
              <a:rPr spc="-200"/>
              <a:t>Need</a:t>
            </a:r>
            <a:r>
              <a:rPr spc="0"/>
              <a:t> for</a:t>
            </a:r>
            <a:r>
              <a:t> Dual Forces</a:t>
            </a:r>
          </a:p>
        </p:txBody>
      </p:sp>
      <p:pic>
        <p:nvPicPr>
          <p:cNvPr id="10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1921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object 4"/>
          <p:cNvSpPr txBox="1"/>
          <p:nvPr/>
        </p:nvSpPr>
        <p:spPr>
          <a:xfrm>
            <a:off x="402931" y="547188"/>
            <a:ext cx="31527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in</a:t>
            </a:r>
            <a:r>
              <a:rPr spc="-19"/>
              <a:t> </a:t>
            </a:r>
            <a:r>
              <a:rPr spc="0"/>
              <a:t>HLS</a:t>
            </a:r>
            <a:r>
              <a:rPr spc="-19"/>
              <a:t> </a:t>
            </a:r>
            <a:r>
              <a:rPr spc="-35"/>
              <a:t>must</a:t>
            </a:r>
            <a:r>
              <a:rPr spc="-15"/>
              <a:t> </a:t>
            </a:r>
            <a:r>
              <a:rPr spc="-50"/>
              <a:t>balance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9"/>
              <a:t>competing</a:t>
            </a:r>
            <a:r>
              <a:rPr spc="-19"/>
              <a:t> </a:t>
            </a:r>
            <a:r>
              <a:rPr spc="-25"/>
              <a:t>goals:</a:t>
            </a:r>
          </a:p>
        </p:txBody>
      </p:sp>
      <p:grpSp>
        <p:nvGrpSpPr>
          <p:cNvPr id="112" name="object 5"/>
          <p:cNvGrpSpPr/>
          <p:nvPr/>
        </p:nvGrpSpPr>
        <p:grpSpPr>
          <a:xfrm>
            <a:off x="510118" y="770504"/>
            <a:ext cx="114218" cy="266047"/>
            <a:chOff x="0" y="0"/>
            <a:chExt cx="114216" cy="266045"/>
          </a:xfrm>
        </p:grpSpPr>
        <p:pic>
          <p:nvPicPr>
            <p:cNvPr id="11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114217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151829"/>
              <a:ext cx="114217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3" name="object 8"/>
          <p:cNvSpPr txBox="1"/>
          <p:nvPr/>
        </p:nvSpPr>
        <p:spPr>
          <a:xfrm>
            <a:off x="532255" y="769446"/>
            <a:ext cx="70487" cy="25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14" name="object 9"/>
          <p:cNvSpPr txBox="1"/>
          <p:nvPr/>
        </p:nvSpPr>
        <p:spPr>
          <a:xfrm>
            <a:off x="654633" y="736986"/>
            <a:ext cx="3166748" cy="301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39"/>
              <a:t>usage:</a:t>
            </a:r>
            <a:r>
              <a:rPr spc="79"/>
              <a:t> </a:t>
            </a:r>
            <a:r>
              <a:rPr b="0" spc="-70"/>
              <a:t>keep</a:t>
            </a:r>
            <a:r>
              <a:rPr b="0" spc="0"/>
              <a:t> FU</a:t>
            </a:r>
            <a:r>
              <a:rPr b="0" spc="-4"/>
              <a:t> </a:t>
            </a:r>
            <a:r>
              <a:rPr b="0" spc="-9"/>
              <a:t>utilization </a:t>
            </a:r>
            <a:r>
              <a:rPr b="0" spc="0">
                <a:latin typeface="Lucida Sans Unicode"/>
                <a:ea typeface="Lucida Sans Unicode"/>
                <a:cs typeface="Lucida Sans Unicode"/>
                <a:sym typeface="Lucida Sans Unicode"/>
              </a:rPr>
              <a:t>≤</a:t>
            </a:r>
            <a:r>
              <a:rPr b="0" spc="-7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i="1" spc="0"/>
              <a:t>a</a:t>
            </a:r>
            <a:r>
              <a:rPr b="0" baseline="-11902" i="1" spc="0"/>
              <a:t>k</a:t>
            </a:r>
            <a:r>
              <a:rPr b="0" baseline="-11902" i="1" spc="254"/>
              <a:t> </a:t>
            </a:r>
            <a:r>
              <a:rPr b="0" spc="-9"/>
              <a:t>per cycle.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19"/>
              <a:t>optimization:</a:t>
            </a:r>
            <a:r>
              <a:rPr spc="100"/>
              <a:t> </a:t>
            </a:r>
            <a:r>
              <a:rPr b="0" spc="-35"/>
              <a:t>minimize</a:t>
            </a:r>
            <a:r>
              <a:rPr b="0" spc="4"/>
              <a:t> </a:t>
            </a:r>
            <a:r>
              <a:rPr b="0" spc="-35"/>
              <a:t>overall</a:t>
            </a:r>
            <a:r>
              <a:rPr b="0" spc="0"/>
              <a:t> </a:t>
            </a:r>
            <a:r>
              <a:rPr b="0" spc="-30"/>
              <a:t>completion</a:t>
            </a:r>
            <a:r>
              <a:rPr b="0" spc="4"/>
              <a:t> </a:t>
            </a:r>
            <a:r>
              <a:rPr b="0" spc="-9"/>
              <a:t>time.</a:t>
            </a:r>
          </a:p>
        </p:txBody>
      </p:sp>
      <p:pic>
        <p:nvPicPr>
          <p:cNvPr id="11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158213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object 11"/>
          <p:cNvSpPr txBox="1"/>
          <p:nvPr/>
        </p:nvSpPr>
        <p:spPr>
          <a:xfrm>
            <a:off x="402932" y="1081745"/>
            <a:ext cx="5221605" cy="92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356233" indent="12700">
              <a:lnSpc>
                <a:spcPct val="102600"/>
              </a:lnSpc>
              <a:defRPr spc="-30" sz="1100">
                <a:latin typeface="Tahoma"/>
                <a:ea typeface="Tahoma"/>
                <a:cs typeface="Tahoma"/>
                <a:sym typeface="Tahoma"/>
              </a:defRPr>
            </a:pPr>
            <a:r>
              <a:t>Classical</a:t>
            </a:r>
            <a:r>
              <a:rPr spc="-19"/>
              <a:t> </a:t>
            </a:r>
            <a:r>
              <a:rPr spc="-50"/>
              <a:t>Force-</a:t>
            </a:r>
            <a:r>
              <a:rPr spc="-39"/>
              <a:t>Directed</a:t>
            </a:r>
            <a:r>
              <a:rPr spc="-19"/>
              <a:t> </a:t>
            </a:r>
            <a:r>
              <a:rPr spc="-45"/>
              <a:t>Scheduling</a:t>
            </a:r>
            <a:r>
              <a:rPr spc="-15"/>
              <a:t> </a:t>
            </a:r>
            <a:r>
              <a:rPr spc="0"/>
              <a:t>(FDS)</a:t>
            </a:r>
            <a:r>
              <a:rPr spc="-19"/>
              <a:t> </a:t>
            </a:r>
            <a:r>
              <a:rPr spc="-55"/>
              <a:t>considers</a:t>
            </a:r>
            <a:r>
              <a:rPr spc="-15"/>
              <a:t> </a:t>
            </a:r>
            <a:r>
              <a:rPr spc="-19"/>
              <a:t>only</a:t>
            </a:r>
            <a:r>
              <a:rPr spc="-4"/>
              <a:t> </a:t>
            </a:r>
            <a:r>
              <a:rPr b="1" spc="-65">
                <a:latin typeface="Arial"/>
                <a:ea typeface="Arial"/>
                <a:cs typeface="Arial"/>
                <a:sym typeface="Arial"/>
              </a:rPr>
              <a:t>resource</a:t>
            </a:r>
            <a:r>
              <a:rPr b="1" spc="5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forces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to</a:t>
            </a:r>
            <a:r>
              <a:rPr spc="-19"/>
              <a:t> </a:t>
            </a:r>
            <a:r>
              <a:rPr spc="-9"/>
              <a:t>spread </a:t>
            </a:r>
            <a:r>
              <a:rPr spc="-45"/>
              <a:t>operations</a:t>
            </a:r>
            <a:r>
              <a:rPr spc="-19"/>
              <a:t> </a:t>
            </a:r>
            <a:r>
              <a:rPr spc="-55"/>
              <a:t>over</a:t>
            </a:r>
            <a:r>
              <a:rPr spc="-15"/>
              <a:t> </a:t>
            </a:r>
            <a:r>
              <a:rPr spc="-9"/>
              <a:t>time.</a:t>
            </a:r>
          </a:p>
          <a:p>
            <a:pPr marR="5080" indent="12700">
              <a:lnSpc>
                <a:spcPct val="102697"/>
              </a:lnSpc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5"/>
              <a:t> </a:t>
            </a:r>
            <a:r>
              <a:rPr spc="-55"/>
              <a:t>scheduling</a:t>
            </a:r>
            <a:r>
              <a:rPr spc="-9"/>
              <a:t> </a:t>
            </a:r>
            <a:r>
              <a:rPr spc="-39"/>
              <a:t>algorithm</a:t>
            </a:r>
            <a:r>
              <a:rPr spc="-9"/>
              <a:t> </a:t>
            </a:r>
            <a:r>
              <a:rPr spc="-35"/>
              <a:t>for</a:t>
            </a:r>
            <a:r>
              <a:rPr spc="-9"/>
              <a:t> </a:t>
            </a:r>
            <a:r>
              <a:t>ML-RCS</a:t>
            </a:r>
            <a:r>
              <a:rPr spc="-9"/>
              <a:t> </a:t>
            </a:r>
            <a:r>
              <a:rPr spc="-39"/>
              <a:t>introduces</a:t>
            </a:r>
            <a:r>
              <a:rPr spc="-9"/>
              <a:t> </a:t>
            </a:r>
            <a:r>
              <a:rPr spc="-30"/>
              <a:t>an</a:t>
            </a:r>
            <a:r>
              <a:rPr spc="-9"/>
              <a:t> </a:t>
            </a:r>
            <a:r>
              <a:rPr spc="-35"/>
              <a:t>additional</a:t>
            </a:r>
            <a:r>
              <a:rPr spc="-9"/>
              <a:t> </a:t>
            </a:r>
            <a:r>
              <a:rPr b="1" spc="-30"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1" spc="6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50">
                <a:latin typeface="Arial"/>
                <a:ea typeface="Arial"/>
                <a:cs typeface="Arial"/>
                <a:sym typeface="Arial"/>
              </a:rPr>
              <a:t>force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t>to</a:t>
            </a:r>
            <a:r>
              <a:rPr spc="-9"/>
              <a:t> prioritize </a:t>
            </a:r>
            <a:r>
              <a:rPr spc="-45"/>
              <a:t>operations </a:t>
            </a:r>
            <a:r>
              <a:rPr spc="-30"/>
              <a:t>on</a:t>
            </a:r>
            <a:r>
              <a:rPr spc="-50"/>
              <a:t> </a:t>
            </a:r>
            <a:r>
              <a:rPr spc="-19"/>
              <a:t>the</a:t>
            </a:r>
            <a:r>
              <a:rPr spc="-50"/>
              <a:t> </a:t>
            </a:r>
            <a:r>
              <a:rPr spc="-9"/>
              <a:t>critical</a:t>
            </a:r>
            <a:r>
              <a:rPr spc="-45"/>
              <a:t> </a:t>
            </a:r>
            <a:r>
              <a:rPr spc="-9"/>
              <a:t>path.</a:t>
            </a:r>
          </a:p>
          <a:p>
            <a:pPr indent="12700">
              <a:spcBef>
                <a:spcPts val="300"/>
              </a:spcBef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Combined,</a:t>
            </a:r>
            <a:r>
              <a:rPr spc="-30"/>
              <a:t> </a:t>
            </a:r>
            <a:r>
              <a:rPr spc="-60"/>
              <a:t>these</a:t>
            </a:r>
            <a:r>
              <a:rPr spc="-25"/>
              <a:t> </a:t>
            </a:r>
            <a:r>
              <a:t>two</a:t>
            </a:r>
            <a:r>
              <a:rPr spc="-25"/>
              <a:t> </a:t>
            </a:r>
            <a:r>
              <a:rPr spc="-55"/>
              <a:t>forces</a:t>
            </a:r>
            <a:r>
              <a:rPr spc="-25"/>
              <a:t> </a:t>
            </a:r>
            <a:r>
              <a:rPr spc="-60"/>
              <a:t>guide</a:t>
            </a:r>
            <a:r>
              <a:rPr spc="-25"/>
              <a:t> </a:t>
            </a:r>
            <a:r>
              <a:rPr spc="-19"/>
              <a:t>the</a:t>
            </a:r>
            <a:r>
              <a:rPr spc="-25"/>
              <a:t> </a:t>
            </a:r>
            <a:r>
              <a:rPr spc="-55"/>
              <a:t>scheduler</a:t>
            </a:r>
            <a:r>
              <a:rPr spc="-25"/>
              <a:t> </a:t>
            </a:r>
            <a:r>
              <a:rPr spc="0"/>
              <a:t>to</a:t>
            </a:r>
            <a:r>
              <a:rPr spc="-25"/>
              <a:t> </a:t>
            </a:r>
            <a:r>
              <a:rPr spc="-55"/>
              <a:t>produce</a:t>
            </a:r>
            <a:r>
              <a:rPr spc="-25"/>
              <a:t> </a:t>
            </a:r>
            <a:r>
              <a:rPr spc="-50"/>
              <a:t>feasible</a:t>
            </a:r>
            <a:r>
              <a:rPr spc="-30"/>
              <a:t> </a:t>
            </a:r>
            <a:r>
              <a:rPr spc="-35"/>
              <a:t>yet</a:t>
            </a:r>
            <a:r>
              <a:rPr spc="-25"/>
              <a:t> </a:t>
            </a:r>
            <a:r>
              <a:rPr spc="-19"/>
              <a:t>fast</a:t>
            </a:r>
            <a:r>
              <a:rPr spc="-25"/>
              <a:t> </a:t>
            </a:r>
            <a:r>
              <a:rPr spc="-9"/>
              <a:t>schedules.</a:t>
            </a:r>
          </a:p>
        </p:txBody>
      </p:sp>
      <p:pic>
        <p:nvPicPr>
          <p:cNvPr id="11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540317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object 13" descr="object 1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92242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object 14"/>
          <p:cNvSpPr/>
          <p:nvPr/>
        </p:nvSpPr>
        <p:spPr>
          <a:xfrm>
            <a:off x="87742" y="2264384"/>
            <a:ext cx="5584583" cy="203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25"/>
                </a:lnTo>
                <a:lnTo>
                  <a:pt x="58" y="1583"/>
                </a:lnTo>
                <a:lnTo>
                  <a:pt x="16" y="3297"/>
                </a:lnTo>
                <a:lnTo>
                  <a:pt x="0" y="538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389"/>
                </a:lnTo>
                <a:lnTo>
                  <a:pt x="21584" y="3297"/>
                </a:lnTo>
                <a:lnTo>
                  <a:pt x="21542" y="1583"/>
                </a:lnTo>
                <a:lnTo>
                  <a:pt x="21480" y="425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object 15"/>
          <p:cNvSpPr txBox="1"/>
          <p:nvPr/>
        </p:nvSpPr>
        <p:spPr>
          <a:xfrm>
            <a:off x="138543" y="2277274"/>
            <a:ext cx="539753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spc="-4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Key</a:t>
            </a:r>
            <a:r>
              <a:rPr spc="-30"/>
              <a:t> </a:t>
            </a:r>
            <a:r>
              <a:rPr spc="-100"/>
              <a:t>Idea</a:t>
            </a:r>
          </a:p>
        </p:txBody>
      </p:sp>
      <p:grpSp>
        <p:nvGrpSpPr>
          <p:cNvPr id="123" name="object 16"/>
          <p:cNvGrpSpPr/>
          <p:nvPr/>
        </p:nvGrpSpPr>
        <p:grpSpPr>
          <a:xfrm>
            <a:off x="87741" y="2455328"/>
            <a:ext cx="5584584" cy="414138"/>
            <a:chOff x="0" y="0"/>
            <a:chExt cx="5584583" cy="414137"/>
          </a:xfrm>
        </p:grpSpPr>
        <p:pic>
          <p:nvPicPr>
            <p:cNvPr id="12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0"/>
              <a:ext cx="5584585" cy="506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" name="object 19"/>
            <p:cNvSpPr/>
            <p:nvPr/>
          </p:nvSpPr>
          <p:spPr>
            <a:xfrm>
              <a:off x="-1" y="44281"/>
              <a:ext cx="5584584" cy="369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4" name="object 20"/>
          <p:cNvSpPr txBox="1"/>
          <p:nvPr/>
        </p:nvSpPr>
        <p:spPr>
          <a:xfrm>
            <a:off x="138543" y="2481769"/>
            <a:ext cx="5584828" cy="339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39064">
              <a:lnSpc>
                <a:spcPct val="102600"/>
              </a:lnSpc>
              <a:defRPr b="1" spc="-65" sz="11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25"/>
              <a:t> </a:t>
            </a:r>
            <a:r>
              <a:rPr spc="-39"/>
              <a:t>force</a:t>
            </a:r>
            <a:r>
              <a:rPr spc="15"/>
              <a:t> </a:t>
            </a:r>
            <a:r>
              <a:rPr b="0" spc="-60">
                <a:latin typeface="Tahoma"/>
                <a:ea typeface="Tahoma"/>
                <a:cs typeface="Tahoma"/>
                <a:sym typeface="Tahoma"/>
              </a:rPr>
              <a:t>prevents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overuse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of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functional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units,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45">
                <a:latin typeface="Tahoma"/>
                <a:ea typeface="Tahoma"/>
                <a:cs typeface="Tahoma"/>
                <a:sym typeface="Tahoma"/>
              </a:rPr>
              <a:t>while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30"/>
              <a:t>latency</a:t>
            </a:r>
            <a:r>
              <a:rPr spc="45"/>
              <a:t> </a:t>
            </a:r>
            <a:r>
              <a:rPr spc="-50"/>
              <a:t>force</a:t>
            </a:r>
            <a:r>
              <a:rPr spc="9"/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reduces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critical-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path </a:t>
            </a:r>
            <a:r>
              <a:rPr b="0" spc="-50">
                <a:latin typeface="Tahoma"/>
                <a:ea typeface="Tahoma"/>
                <a:cs typeface="Tahoma"/>
                <a:sym typeface="Tahoma"/>
              </a:rPr>
              <a:t>delay.</a:t>
            </a:r>
            <a:r>
              <a:rPr b="0" spc="7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Their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interaction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>
                <a:latin typeface="Tahoma"/>
                <a:ea typeface="Tahoma"/>
                <a:cs typeface="Tahoma"/>
                <a:sym typeface="Tahoma"/>
              </a:rPr>
              <a:t>defines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balanced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scheduling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9">
                <a:latin typeface="Tahoma"/>
                <a:ea typeface="Tahoma"/>
                <a:cs typeface="Tahoma"/>
                <a:sym typeface="Tahoma"/>
              </a:rPr>
              <a:t>priority.</a:t>
            </a:r>
          </a:p>
        </p:txBody>
      </p:sp>
      <p:sp>
        <p:nvSpPr>
          <p:cNvPr id="125" name="object 21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Iterative </a:t>
            </a:r>
            <a:r>
              <a:rPr spc="0"/>
              <a:t>List</a:t>
            </a:r>
            <a:r>
              <a:t> Scheduling Framework</a:t>
            </a:r>
          </a:p>
        </p:txBody>
      </p:sp>
      <p:pic>
        <p:nvPicPr>
          <p:cNvPr id="12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object 4"/>
          <p:cNvSpPr txBox="1"/>
          <p:nvPr/>
        </p:nvSpPr>
        <p:spPr>
          <a:xfrm>
            <a:off x="402930" y="712441"/>
            <a:ext cx="4765044" cy="3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3199"/>
              </a:lnSpc>
              <a:spcBef>
                <a:spcPts val="1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9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39"/>
              <a:t>algorithm</a:t>
            </a:r>
            <a:r>
              <a:rPr spc="-15"/>
              <a:t> </a:t>
            </a:r>
            <a:r>
              <a:rPr spc="-65"/>
              <a:t>extends</a:t>
            </a:r>
            <a:r>
              <a:rPr spc="-15"/>
              <a:t> </a:t>
            </a:r>
            <a:r>
              <a:t>list</a:t>
            </a:r>
            <a:r>
              <a:rPr spc="-15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9"/>
              <a:t>into</a:t>
            </a:r>
            <a:r>
              <a:rPr spc="-15"/>
              <a:t> </a:t>
            </a:r>
            <a:r>
              <a:rPr spc="-30"/>
              <a:t>an</a:t>
            </a:r>
            <a:r>
              <a:rPr spc="-15"/>
              <a:t> </a:t>
            </a:r>
            <a:r>
              <a:rPr spc="-30"/>
              <a:t>iterative</a:t>
            </a:r>
            <a:r>
              <a:rPr spc="-19"/>
              <a:t> </a:t>
            </a:r>
            <a:r>
              <a:rPr spc="-55"/>
              <a:t>refinement</a:t>
            </a:r>
            <a:r>
              <a:rPr spc="-15"/>
              <a:t> </a:t>
            </a:r>
            <a:r>
              <a:rPr spc="-9"/>
              <a:t>loop. Each</a:t>
            </a:r>
            <a:r>
              <a:rPr spc="-35"/>
              <a:t> </a:t>
            </a:r>
            <a:r>
              <a:rPr spc="-25"/>
              <a:t>iteration</a:t>
            </a:r>
            <a:r>
              <a:rPr spc="-30"/>
              <a:t> </a:t>
            </a:r>
            <a:r>
              <a:rPr spc="-45"/>
              <a:t>includes</a:t>
            </a:r>
            <a:r>
              <a:rPr spc="-35"/>
              <a:t> </a:t>
            </a:r>
            <a:r>
              <a:rPr spc="-50"/>
              <a:t>three</a:t>
            </a:r>
            <a:r>
              <a:rPr spc="-30"/>
              <a:t> </a:t>
            </a:r>
            <a:r>
              <a:rPr spc="-55"/>
              <a:t>core</a:t>
            </a:r>
            <a:r>
              <a:rPr spc="-35"/>
              <a:t> </a:t>
            </a:r>
            <a:r>
              <a:rPr spc="-9"/>
              <a:t>phases:</a:t>
            </a:r>
          </a:p>
        </p:txBody>
      </p:sp>
      <p:pic>
        <p:nvPicPr>
          <p:cNvPr id="13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952104"/>
            <a:ext cx="65267" cy="6526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4" name="object 6"/>
          <p:cNvGrpSpPr/>
          <p:nvPr/>
        </p:nvGrpSpPr>
        <p:grpSpPr>
          <a:xfrm>
            <a:off x="510119" y="1147796"/>
            <a:ext cx="114217" cy="417875"/>
            <a:chOff x="0" y="0"/>
            <a:chExt cx="114216" cy="417873"/>
          </a:xfrm>
        </p:grpSpPr>
        <p:pic>
          <p:nvPicPr>
            <p:cNvPr id="13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0"/>
              <a:ext cx="114218" cy="1142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" name="object 8" descr="object 8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151828"/>
              <a:ext cx="114218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object 9" descr="object 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303658"/>
              <a:ext cx="114218" cy="1142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object 10"/>
          <p:cNvSpPr txBox="1"/>
          <p:nvPr/>
        </p:nvSpPr>
        <p:spPr>
          <a:xfrm>
            <a:off x="532255" y="1146749"/>
            <a:ext cx="70487" cy="40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3</a:t>
            </a:r>
          </a:p>
        </p:txBody>
      </p:sp>
      <p:sp>
        <p:nvSpPr>
          <p:cNvPr id="136" name="object 11"/>
          <p:cNvSpPr txBox="1"/>
          <p:nvPr/>
        </p:nvSpPr>
        <p:spPr>
          <a:xfrm>
            <a:off x="654633" y="1114275"/>
            <a:ext cx="3887473" cy="447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9" sz="10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4"/>
              <a:t> </a:t>
            </a:r>
            <a:r>
              <a:rPr spc="-25"/>
              <a:t>Computation</a:t>
            </a:r>
            <a:r>
              <a:rPr spc="-19"/>
              <a:t> </a:t>
            </a:r>
            <a:r>
              <a:rPr b="0" spc="0"/>
              <a:t>—</a:t>
            </a:r>
            <a:r>
              <a:rPr b="0" spc="-15"/>
              <a:t> </a:t>
            </a:r>
            <a:r>
              <a:rPr b="0" spc="-39"/>
              <a:t>derive</a:t>
            </a:r>
            <a:r>
              <a:rPr b="0" spc="-19"/>
              <a:t> </a:t>
            </a:r>
            <a:r>
              <a:rPr b="0" spc="-39"/>
              <a:t>urgency</a:t>
            </a:r>
            <a:r>
              <a:rPr b="0" spc="-19"/>
              <a:t> </a:t>
            </a:r>
            <a:r>
              <a:rPr b="0" spc="0"/>
              <a:t>from</a:t>
            </a:r>
            <a:r>
              <a:rPr b="0" spc="-15"/>
              <a:t> </a:t>
            </a:r>
            <a:r>
              <a:rPr b="0" spc="0"/>
              <a:t>mobility</a:t>
            </a:r>
            <a:r>
              <a:rPr b="0" spc="-19"/>
              <a:t> and </a:t>
            </a:r>
            <a:r>
              <a:rPr b="0"/>
              <a:t>congestion.</a:t>
            </a:r>
          </a:p>
          <a:p>
            <a:pPr indent="38100">
              <a:lnSpc>
                <a:spcPts val="1100"/>
              </a:lnSpc>
              <a:defRPr b="1" spc="-35" sz="1000">
                <a:latin typeface="Arial"/>
                <a:ea typeface="Arial"/>
                <a:cs typeface="Arial"/>
                <a:sym typeface="Arial"/>
              </a:defRPr>
            </a:pPr>
            <a:r>
              <a:t>List-</a:t>
            </a:r>
            <a:r>
              <a:rPr spc="-25"/>
              <a:t>Based</a:t>
            </a:r>
            <a:r>
              <a:rPr spc="39"/>
              <a:t> </a:t>
            </a:r>
            <a:r>
              <a:rPr spc="-50"/>
              <a:t>Scheduling</a:t>
            </a:r>
            <a:r>
              <a:rPr spc="25"/>
              <a:t> </a:t>
            </a:r>
            <a:r>
              <a:rPr b="0" spc="0"/>
              <a:t>—</a:t>
            </a:r>
            <a:r>
              <a:rPr b="0" spc="15"/>
              <a:t> </a:t>
            </a:r>
            <a:r>
              <a:rPr b="0" spc="-70"/>
              <a:t>assign</a:t>
            </a:r>
            <a:r>
              <a:rPr b="0" spc="9"/>
              <a:t> </a:t>
            </a:r>
            <a:r>
              <a:rPr b="0"/>
              <a:t>operations</a:t>
            </a:r>
            <a:r>
              <a:rPr b="0" spc="15"/>
              <a:t> </a:t>
            </a:r>
            <a:r>
              <a:rPr b="0" spc="-39"/>
              <a:t>respecting</a:t>
            </a:r>
            <a:r>
              <a:rPr b="0" spc="15"/>
              <a:t> </a:t>
            </a:r>
            <a:r>
              <a:rPr b="0" spc="0"/>
              <a:t>FU</a:t>
            </a:r>
            <a:r>
              <a:rPr b="0" spc="9"/>
              <a:t> </a:t>
            </a:r>
            <a:r>
              <a:rPr b="0" spc="-9"/>
              <a:t>limits.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5"/>
              <a:t> </a:t>
            </a:r>
            <a:r>
              <a:rPr spc="0"/>
              <a:t>Update</a:t>
            </a:r>
            <a:r>
              <a:rPr spc="4"/>
              <a:t>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50"/>
              <a:t>compare</a:t>
            </a:r>
            <a:r>
              <a:rPr b="0" spc="4"/>
              <a:t> </a:t>
            </a:r>
            <a:r>
              <a:rPr b="0" i="1" spc="0"/>
              <a:t>L</a:t>
            </a:r>
            <a:r>
              <a:rPr b="0" baseline="-11902" spc="0">
                <a:latin typeface="Tahoma"/>
                <a:ea typeface="Tahoma"/>
                <a:cs typeface="Tahoma"/>
                <a:sym typeface="Tahoma"/>
              </a:rPr>
              <a:t>final</a:t>
            </a:r>
            <a:r>
              <a:rPr b="0" baseline="-11902" spc="16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/>
              <a:t>and</a:t>
            </a:r>
            <a:r>
              <a:rPr b="0" spc="9"/>
              <a:t> </a:t>
            </a:r>
            <a:r>
              <a:rPr b="0" i="1" spc="-9"/>
              <a:t>L</a:t>
            </a:r>
            <a:r>
              <a:rPr b="0" baseline="-11902" spc="-15">
                <a:latin typeface="Tahoma"/>
                <a:ea typeface="Tahoma"/>
                <a:cs typeface="Tahoma"/>
                <a:sym typeface="Tahoma"/>
              </a:rPr>
              <a:t>target</a:t>
            </a:r>
            <a:r>
              <a:rPr b="0" spc="-9"/>
              <a:t>.</a:t>
            </a:r>
          </a:p>
        </p:txBody>
      </p:sp>
      <p:pic>
        <p:nvPicPr>
          <p:cNvPr id="137" name="object 12" descr="object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68733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object 13"/>
          <p:cNvSpPr txBox="1"/>
          <p:nvPr/>
        </p:nvSpPr>
        <p:spPr>
          <a:xfrm>
            <a:off x="402930" y="1615323"/>
            <a:ext cx="438785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50"/>
              <a:t> </a:t>
            </a:r>
            <a:r>
              <a:rPr spc="-65"/>
              <a:t>process</a:t>
            </a:r>
            <a:r>
              <a:rPr spc="-19"/>
              <a:t> </a:t>
            </a:r>
            <a:r>
              <a:rPr spc="-50"/>
              <a:t>repeats</a:t>
            </a:r>
            <a:r>
              <a:rPr spc="-30"/>
              <a:t> </a:t>
            </a:r>
            <a:r>
              <a:rPr spc="-9"/>
              <a:t>until</a:t>
            </a:r>
            <a:r>
              <a:rPr spc="-25"/>
              <a:t> </a:t>
            </a:r>
            <a:r>
              <a:rPr spc="-30"/>
              <a:t>latency </a:t>
            </a:r>
            <a:r>
              <a:rPr spc="-75"/>
              <a:t>converges</a:t>
            </a:r>
            <a:r>
              <a:rPr spc="-9"/>
              <a:t> </a:t>
            </a:r>
            <a:r>
              <a:rPr spc="-30"/>
              <a:t>or </a:t>
            </a:r>
            <a:r>
              <a:rPr spc="-19"/>
              <a:t>the</a:t>
            </a:r>
            <a:r>
              <a:rPr spc="-25"/>
              <a:t> iteration</a:t>
            </a:r>
            <a:r>
              <a:rPr spc="-30"/>
              <a:t> </a:t>
            </a:r>
            <a:r>
              <a:t>limit</a:t>
            </a:r>
            <a:r>
              <a:rPr spc="-25"/>
              <a:t> </a:t>
            </a:r>
            <a:r>
              <a:t>is</a:t>
            </a:r>
            <a:r>
              <a:rPr spc="-25"/>
              <a:t> </a:t>
            </a:r>
            <a:r>
              <a:rPr spc="-19"/>
              <a:t>reached.</a:t>
            </a:r>
          </a:p>
        </p:txBody>
      </p:sp>
      <p:sp>
        <p:nvSpPr>
          <p:cNvPr id="139" name="object 14"/>
          <p:cNvSpPr/>
          <p:nvPr/>
        </p:nvSpPr>
        <p:spPr>
          <a:xfrm>
            <a:off x="87742" y="2029292"/>
            <a:ext cx="5584583" cy="18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61"/>
                </a:lnTo>
                <a:lnTo>
                  <a:pt x="58" y="1716"/>
                </a:lnTo>
                <a:lnTo>
                  <a:pt x="16" y="3574"/>
                </a:lnTo>
                <a:lnTo>
                  <a:pt x="0" y="584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843"/>
                </a:lnTo>
                <a:lnTo>
                  <a:pt x="21584" y="3574"/>
                </a:lnTo>
                <a:lnTo>
                  <a:pt x="21542" y="1716"/>
                </a:lnTo>
                <a:lnTo>
                  <a:pt x="21480" y="461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grpSp>
        <p:nvGrpSpPr>
          <p:cNvPr id="143" name="object 16"/>
          <p:cNvGrpSpPr/>
          <p:nvPr/>
        </p:nvGrpSpPr>
        <p:grpSpPr>
          <a:xfrm>
            <a:off x="87741" y="2204440"/>
            <a:ext cx="5584584" cy="414137"/>
            <a:chOff x="0" y="0"/>
            <a:chExt cx="5584583" cy="414136"/>
          </a:xfrm>
        </p:grpSpPr>
        <p:pic>
          <p:nvPicPr>
            <p:cNvPr id="14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5584585" cy="50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2" name="object 19"/>
            <p:cNvSpPr/>
            <p:nvPr/>
          </p:nvSpPr>
          <p:spPr>
            <a:xfrm>
              <a:off x="-1" y="44281"/>
              <a:ext cx="5584584" cy="36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4" name="object 20"/>
          <p:cNvSpPr txBox="1"/>
          <p:nvPr/>
        </p:nvSpPr>
        <p:spPr>
          <a:xfrm>
            <a:off x="138543" y="2230879"/>
            <a:ext cx="5584828" cy="339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26415">
              <a:lnSpc>
                <a:spcPct val="102600"/>
              </a:lnSpc>
              <a:defRPr i="1" spc="-9" sz="11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85"/>
              <a:t>Schedule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39"/>
              <a:t>Update</a:t>
            </a:r>
            <a:r>
              <a:rPr spc="35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55"/>
              <a:t>Repeat</a:t>
            </a:r>
            <a:r>
              <a:rPr spc="100"/>
              <a:t> </a:t>
            </a:r>
            <a:r>
              <a:rPr i="0" spc="-75">
                <a:latin typeface="Tahoma"/>
                <a:ea typeface="Tahoma"/>
                <a:cs typeface="Tahoma"/>
                <a:sym typeface="Tahoma"/>
              </a:rPr>
              <a:t>ensures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55">
                <a:latin typeface="Tahoma"/>
                <a:ea typeface="Tahoma"/>
                <a:cs typeface="Tahoma"/>
                <a:sym typeface="Tahoma"/>
              </a:rPr>
              <a:t>progressively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improved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latency-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aware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scheduling.</a:t>
            </a:r>
          </a:p>
        </p:txBody>
      </p:sp>
      <p:sp>
        <p:nvSpPr>
          <p:cNvPr id="145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2"/>
          <p:cNvSpPr txBox="1"/>
          <p:nvPr>
            <p:ph type="title"/>
          </p:nvPr>
        </p:nvSpPr>
        <p:spPr>
          <a:xfrm>
            <a:off x="95299" y="61884"/>
            <a:ext cx="1256032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Algorithm Forces</a:t>
            </a:r>
          </a:p>
        </p:txBody>
      </p:sp>
      <p:pic>
        <p:nvPicPr>
          <p:cNvPr id="14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52821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object 4"/>
          <p:cNvSpPr txBox="1"/>
          <p:nvPr/>
        </p:nvSpPr>
        <p:spPr>
          <a:xfrm>
            <a:off x="402931" y="602903"/>
            <a:ext cx="36842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19"/>
              <a:t> </a:t>
            </a:r>
            <a:r>
              <a:rPr spc="-39"/>
              <a:t>algorithm</a:t>
            </a:r>
            <a:r>
              <a:rPr spc="-19"/>
              <a:t> </a:t>
            </a:r>
            <a:r>
              <a:rPr spc="-65"/>
              <a:t>defines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5"/>
              <a:t>interacting</a:t>
            </a:r>
            <a:r>
              <a:rPr spc="-19"/>
              <a:t> </a:t>
            </a:r>
            <a:r>
              <a:rPr spc="-55"/>
              <a:t>forces</a:t>
            </a:r>
            <a:r>
              <a:rPr spc="-15"/>
              <a:t> </a:t>
            </a:r>
            <a:r>
              <a:rPr spc="-35"/>
              <a:t>for</a:t>
            </a:r>
            <a:r>
              <a:rPr spc="-19"/>
              <a:t> </a:t>
            </a:r>
            <a:r>
              <a:rPr spc="-60"/>
              <a:t>each</a:t>
            </a:r>
            <a:r>
              <a:rPr spc="-19"/>
              <a:t> </a:t>
            </a:r>
            <a:r>
              <a:rPr spc="-9"/>
              <a:t>operation:</a:t>
            </a:r>
          </a:p>
        </p:txBody>
      </p:sp>
      <p:grpSp>
        <p:nvGrpSpPr>
          <p:cNvPr id="152" name="object 5"/>
          <p:cNvGrpSpPr/>
          <p:nvPr/>
        </p:nvGrpSpPr>
        <p:grpSpPr>
          <a:xfrm>
            <a:off x="510118" y="826207"/>
            <a:ext cx="114218" cy="266046"/>
            <a:chOff x="0" y="0"/>
            <a:chExt cx="114216" cy="266045"/>
          </a:xfrm>
        </p:grpSpPr>
        <p:pic>
          <p:nvPicPr>
            <p:cNvPr id="15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114217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151829"/>
              <a:ext cx="114217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3" name="object 8"/>
          <p:cNvSpPr txBox="1"/>
          <p:nvPr/>
        </p:nvSpPr>
        <p:spPr>
          <a:xfrm>
            <a:off x="532255" y="825160"/>
            <a:ext cx="70487" cy="250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54" name="object 9"/>
          <p:cNvSpPr txBox="1"/>
          <p:nvPr/>
        </p:nvSpPr>
        <p:spPr>
          <a:xfrm>
            <a:off x="680034" y="792700"/>
            <a:ext cx="4274185" cy="453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35"/>
              <a:t>Force</a:t>
            </a:r>
            <a:r>
              <a:rPr spc="35"/>
              <a:t> </a:t>
            </a:r>
            <a:r>
              <a:rPr spc="0"/>
              <a:t>(S)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70"/>
              <a:t>measures</a:t>
            </a:r>
            <a:r>
              <a:rPr b="0" spc="9"/>
              <a:t> </a:t>
            </a:r>
            <a:r>
              <a:rPr b="0" spc="0"/>
              <a:t>timing </a:t>
            </a:r>
            <a:r>
              <a:rPr b="0" spc="-39"/>
              <a:t>urgency</a:t>
            </a:r>
            <a:r>
              <a:rPr b="0" spc="4"/>
              <a:t> </a:t>
            </a:r>
            <a:r>
              <a:rPr b="0" spc="0"/>
              <a:t>(low</a:t>
            </a:r>
            <a:r>
              <a:rPr b="0" spc="4"/>
              <a:t> </a:t>
            </a:r>
            <a:r>
              <a:rPr b="0" spc="0"/>
              <a:t>mobility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3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high</a:t>
            </a:r>
            <a:r>
              <a:rPr b="0" spc="0"/>
              <a:t> </a:t>
            </a:r>
            <a:r>
              <a:rPr b="0" spc="-9"/>
              <a:t>priority).</a:t>
            </a:r>
          </a:p>
          <a:p>
            <a:pPr indent="127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50"/>
              <a:t> </a:t>
            </a:r>
            <a:r>
              <a:rPr spc="-35"/>
              <a:t>Force</a:t>
            </a:r>
            <a:r>
              <a:rPr spc="55"/>
              <a:t> </a:t>
            </a:r>
            <a:r>
              <a:rPr spc="0"/>
              <a:t>(C)</a:t>
            </a:r>
            <a:r>
              <a:rPr spc="25"/>
              <a:t> </a:t>
            </a:r>
            <a:r>
              <a:rPr b="0" spc="0"/>
              <a:t>—</a:t>
            </a:r>
            <a:r>
              <a:rPr b="0" spc="19"/>
              <a:t> </a:t>
            </a:r>
            <a:r>
              <a:rPr b="0" spc="-70"/>
              <a:t>measures</a:t>
            </a:r>
            <a:r>
              <a:rPr b="0" spc="30"/>
              <a:t> </a:t>
            </a:r>
            <a:r>
              <a:rPr b="0" spc="-45"/>
              <a:t>congestion</a:t>
            </a:r>
            <a:r>
              <a:rPr b="0" spc="19"/>
              <a:t> </a:t>
            </a:r>
            <a:r>
              <a:rPr b="0" spc="-9"/>
              <a:t>impact</a:t>
            </a:r>
            <a:r>
              <a:rPr b="0" spc="25"/>
              <a:t> </a:t>
            </a:r>
            <a:r>
              <a:rPr b="0" spc="0"/>
              <a:t>(high</a:t>
            </a:r>
            <a:r>
              <a:rPr b="0" spc="19"/>
              <a:t> </a:t>
            </a:r>
            <a:r>
              <a:rPr b="0" spc="-75"/>
              <a:t>usage</a:t>
            </a:r>
            <a:r>
              <a:rPr b="0" spc="19"/>
              <a:t>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9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penalized).</a:t>
            </a:r>
          </a:p>
        </p:txBody>
      </p:sp>
      <p:pic>
        <p:nvPicPr>
          <p:cNvPr id="15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290903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object 11"/>
          <p:cNvSpPr txBox="1"/>
          <p:nvPr/>
        </p:nvSpPr>
        <p:spPr>
          <a:xfrm>
            <a:off x="377315" y="1236505"/>
            <a:ext cx="3735504" cy="917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Both</a:t>
            </a:r>
            <a:r>
              <a:rPr spc="-39"/>
              <a:t> </a:t>
            </a:r>
            <a:r>
              <a:rPr spc="-55"/>
              <a:t>forces</a:t>
            </a:r>
            <a:r>
              <a:rPr spc="-30"/>
              <a:t> </a:t>
            </a:r>
            <a:r>
              <a:rPr spc="-50"/>
              <a:t>combine</a:t>
            </a:r>
            <a:r>
              <a:rPr spc="-35"/>
              <a:t> </a:t>
            </a:r>
            <a:r>
              <a:rPr spc="-9"/>
              <a:t>into</a:t>
            </a:r>
            <a:r>
              <a:rPr spc="-35"/>
              <a:t> </a:t>
            </a:r>
            <a:r>
              <a:t>a</a:t>
            </a:r>
            <a:r>
              <a:rPr spc="-35"/>
              <a:t> </a:t>
            </a:r>
            <a:r>
              <a:rPr spc="-39"/>
              <a:t>unified</a:t>
            </a:r>
            <a:r>
              <a:rPr spc="-30"/>
              <a:t> </a:t>
            </a:r>
            <a:r>
              <a:rPr spc="-9"/>
              <a:t>priority:</a:t>
            </a:r>
          </a:p>
          <a:p>
            <a:pPr indent="1673860">
              <a:spcBef>
                <a:spcPts val="1100"/>
              </a:spcBef>
              <a:defRPr i="1" spc="-70" sz="1100">
                <a:latin typeface="Arial"/>
                <a:ea typeface="Arial"/>
                <a:cs typeface="Arial"/>
                <a:sym typeface="Arial"/>
              </a:defRPr>
            </a:pPr>
            <a:r>
              <a:t>F</a:t>
            </a:r>
            <a:r>
              <a:rPr spc="-155"/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0"/>
              <a:t>u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25"/>
              <a:t>S</a:t>
            </a:r>
            <a:r>
              <a:rPr baseline="-10416" i="0" spc="-37" sz="1200"/>
              <a:t>norm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25"/>
              <a:t>u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00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baseline="45454" i="0" spc="644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spc="-15"/>
              <a:t>( C</a:t>
            </a:r>
            <a:r>
              <a:rPr baseline="-10416" i="0" spc="-22" sz="1200"/>
              <a:t>norm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15"/>
              <a:t>u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50"/>
              <a:t>ε )</a:t>
            </a:r>
            <a:r>
              <a:rPr baseline="45454" i="0" spc="-75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endParaRPr baseline="45454" spc="-101" sz="1600">
              <a:latin typeface="Lucida Sans Unicode"/>
              <a:ea typeface="Lucida Sans Unicode"/>
              <a:cs typeface="Lucida Sans Unicode"/>
              <a:sym typeface="Lucida Sans Unicode"/>
            </a:endParaRPr>
          </a:p>
          <a:p>
            <a:pPr indent="38100">
              <a:spcBef>
                <a:spcPts val="1100"/>
              </a:spcBef>
              <a:defRPr spc="-55" sz="1100">
                <a:latin typeface="Tahoma"/>
                <a:ea typeface="Tahoma"/>
                <a:cs typeface="Tahoma"/>
                <a:sym typeface="Tahoma"/>
              </a:defRPr>
            </a:pPr>
            <a:r>
              <a:t>Lower</a:t>
            </a:r>
            <a:r>
              <a:rPr spc="-4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pc="-158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(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spc="0"/>
              <a:t>) </a:t>
            </a:r>
            <a:r>
              <a:rPr spc="-70"/>
              <a:t>means</a:t>
            </a:r>
            <a:r>
              <a:rPr spc="4"/>
              <a:t> </a:t>
            </a:r>
            <a:r>
              <a:rPr spc="-50"/>
              <a:t>higher</a:t>
            </a:r>
            <a:r>
              <a:rPr spc="0"/>
              <a:t> </a:t>
            </a:r>
            <a:r>
              <a:t>scheduling</a:t>
            </a:r>
            <a:r>
              <a:rPr spc="4"/>
              <a:t> </a:t>
            </a:r>
            <a:r>
              <a:rPr spc="-9"/>
              <a:t>urgency.</a:t>
            </a:r>
          </a:p>
        </p:txBody>
      </p:sp>
      <p:pic>
        <p:nvPicPr>
          <p:cNvPr id="15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2033929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object 13"/>
          <p:cNvSpPr/>
          <p:nvPr/>
        </p:nvSpPr>
        <p:spPr>
          <a:xfrm>
            <a:off x="87742" y="2186088"/>
            <a:ext cx="5584583" cy="198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36"/>
                </a:lnTo>
                <a:lnTo>
                  <a:pt x="58" y="1625"/>
                </a:lnTo>
                <a:lnTo>
                  <a:pt x="16" y="3384"/>
                </a:lnTo>
                <a:lnTo>
                  <a:pt x="0" y="553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532"/>
                </a:lnTo>
                <a:lnTo>
                  <a:pt x="21584" y="3384"/>
                </a:lnTo>
                <a:lnTo>
                  <a:pt x="21542" y="1625"/>
                </a:lnTo>
                <a:lnTo>
                  <a:pt x="21480" y="436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object 14"/>
          <p:cNvSpPr txBox="1"/>
          <p:nvPr/>
        </p:nvSpPr>
        <p:spPr>
          <a:xfrm>
            <a:off x="138542" y="2193710"/>
            <a:ext cx="57975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9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grpSp>
        <p:nvGrpSpPr>
          <p:cNvPr id="162" name="object 15"/>
          <p:cNvGrpSpPr/>
          <p:nvPr/>
        </p:nvGrpSpPr>
        <p:grpSpPr>
          <a:xfrm>
            <a:off x="87741" y="2371762"/>
            <a:ext cx="5584584" cy="414137"/>
            <a:chOff x="0" y="0"/>
            <a:chExt cx="5584583" cy="414136"/>
          </a:xfrm>
        </p:grpSpPr>
        <p:pic>
          <p:nvPicPr>
            <p:cNvPr id="160" name="object 16" descr="object 16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-1"/>
              <a:ext cx="5584585" cy="50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1" name="object 18"/>
            <p:cNvSpPr/>
            <p:nvPr/>
          </p:nvSpPr>
          <p:spPr>
            <a:xfrm>
              <a:off x="-1" y="44281"/>
              <a:ext cx="5584584" cy="36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63" name="object 19"/>
          <p:cNvSpPr txBox="1"/>
          <p:nvPr/>
        </p:nvSpPr>
        <p:spPr>
          <a:xfrm>
            <a:off x="138543" y="2398202"/>
            <a:ext cx="5584828" cy="334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7329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9"/>
              <a:t> </a:t>
            </a:r>
            <a:r>
              <a:rPr spc="-55"/>
              <a:t>dual-force</a:t>
            </a:r>
            <a:r>
              <a:rPr spc="-4"/>
              <a:t> </a:t>
            </a:r>
            <a:r>
              <a:rPr spc="-35"/>
              <a:t>interaction</a:t>
            </a:r>
            <a:r>
              <a:rPr spc="-4"/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4"/>
              <a:t> </a:t>
            </a:r>
            <a:r>
              <a:rPr spc="-35"/>
              <a:t>minimization</a:t>
            </a:r>
            <a:r>
              <a:rPr spc="-4"/>
              <a:t> </a:t>
            </a:r>
            <a:r>
              <a:rPr spc="-45"/>
              <a:t>and</a:t>
            </a:r>
            <a:r>
              <a:rPr spc="-4"/>
              <a:t> </a:t>
            </a:r>
            <a:r>
              <a:rPr spc="-70"/>
              <a:t>resource</a:t>
            </a:r>
            <a:r>
              <a:rPr spc="-4"/>
              <a:t> </a:t>
            </a:r>
            <a:r>
              <a:rPr spc="-35"/>
              <a:t>feasibility</a:t>
            </a:r>
            <a:r>
              <a:rPr spc="-4"/>
              <a:t> </a:t>
            </a:r>
            <a:r>
              <a:rPr spc="-19"/>
              <a:t>within</a:t>
            </a:r>
            <a:r>
              <a:rPr spc="-4"/>
              <a:t> </a:t>
            </a:r>
            <a:r>
              <a:t>a</a:t>
            </a:r>
            <a:r>
              <a:rPr spc="-4"/>
              <a:t> </a:t>
            </a:r>
            <a:r>
              <a:rPr spc="-9"/>
              <a:t>single </a:t>
            </a:r>
            <a:r>
              <a:rPr spc="-35"/>
              <a:t>priority</a:t>
            </a:r>
            <a:r>
              <a:rPr spc="-25"/>
              <a:t> </a:t>
            </a:r>
            <a:r>
              <a:rPr spc="-9"/>
              <a:t>metric.</a:t>
            </a:r>
          </a:p>
        </p:txBody>
      </p:sp>
      <p:sp>
        <p:nvSpPr>
          <p:cNvPr id="164" name="object 2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Summary</a:t>
            </a:r>
          </a:p>
        </p:txBody>
      </p:sp>
      <p:pic>
        <p:nvPicPr>
          <p:cNvPr id="1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513016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681455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857034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008860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18487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object 8"/>
          <p:cNvSpPr txBox="1"/>
          <p:nvPr/>
        </p:nvSpPr>
        <p:spPr>
          <a:xfrm>
            <a:off x="100442" y="440991"/>
            <a:ext cx="5459099" cy="1112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3" marR="30480" indent="314958"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Proposed </a:t>
            </a:r>
            <a:r>
              <a:rPr spc="0"/>
              <a:t>a</a:t>
            </a:r>
            <a:r>
              <a:rPr spc="-35"/>
              <a:t> </a:t>
            </a:r>
            <a:r>
              <a:t>suboptimal</a:t>
            </a:r>
            <a:r>
              <a:rPr spc="-35"/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Iterative</a:t>
            </a:r>
            <a:r>
              <a:rPr b="1" spc="3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19">
                <a:latin typeface="Arial"/>
                <a:ea typeface="Arial"/>
                <a:cs typeface="Arial"/>
                <a:sym typeface="Arial"/>
              </a:rPr>
              <a:t> </a:t>
            </a:r>
            <a:r>
              <a:t>algorithm</a:t>
            </a:r>
            <a:r>
              <a:rPr spc="-35"/>
              <a:t> </a:t>
            </a:r>
            <a:r>
              <a:rPr spc="-25"/>
              <a:t>for</a:t>
            </a:r>
            <a:r>
              <a:rPr spc="-35"/>
              <a:t> </a:t>
            </a:r>
            <a:r>
              <a:rPr spc="-19"/>
              <a:t>the</a:t>
            </a:r>
            <a:r>
              <a:rPr spc="-35"/>
              <a:t> </a:t>
            </a:r>
            <a:r>
              <a:rPr b="1" spc="0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spc="-9"/>
              <a:t>. </a:t>
            </a:r>
            <a:endParaRPr spc="-9"/>
          </a:p>
          <a:p>
            <a:pPr lvl="3" marR="30480" indent="314958"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rPr spc="-45"/>
              <a:t>Combines</a:t>
            </a:r>
            <a:r>
              <a:rPr spc="-4"/>
              <a:t> </a:t>
            </a:r>
            <a:r>
              <a:rPr spc="-50"/>
              <a:t>Force-</a:t>
            </a:r>
            <a:r>
              <a:t>Directed</a:t>
            </a:r>
            <a:r>
              <a:rPr spc="-4"/>
              <a:t> </a:t>
            </a:r>
            <a:r>
              <a:rPr spc="-45"/>
              <a:t>Scheduling</a:t>
            </a:r>
            <a:r>
              <a:rPr spc="-4"/>
              <a:t> </a:t>
            </a:r>
            <a:r>
              <a:rPr spc="0"/>
              <a:t>(FDS)</a:t>
            </a:r>
            <a:r>
              <a:rPr spc="-4"/>
              <a:t> </a:t>
            </a:r>
            <a:r>
              <a:rPr spc="-55"/>
              <a:t>concepts</a:t>
            </a:r>
            <a:r>
              <a:rPr spc="-4"/>
              <a:t> </a:t>
            </a:r>
            <a:r>
              <a:rPr spc="-9"/>
              <a:t>with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55"/>
              <a:t>dual-force</a:t>
            </a:r>
            <a:r>
              <a:rPr spc="0"/>
              <a:t> </a:t>
            </a:r>
            <a:r>
              <a:rPr spc="-35"/>
              <a:t>priority</a:t>
            </a:r>
            <a:r>
              <a:rPr spc="-4"/>
              <a:t> </a:t>
            </a:r>
            <a:r>
              <a:rPr spc="-9"/>
              <a:t>model:</a:t>
            </a:r>
          </a:p>
          <a:p>
            <a:pPr indent="591819">
              <a:lnSpc>
                <a:spcPts val="1200"/>
              </a:lnSpc>
              <a:defRPr i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-9"/>
              <a:t> </a:t>
            </a:r>
            <a:r>
              <a:t>force</a:t>
            </a:r>
            <a:r>
              <a:rPr spc="55"/>
              <a:t> </a:t>
            </a:r>
            <a:r>
              <a:rPr i="0" spc="0"/>
              <a:t>—</a:t>
            </a:r>
            <a:r>
              <a:rPr i="0" spc="-9"/>
              <a:t> </a:t>
            </a:r>
            <a:r>
              <a:rPr i="0" spc="-39"/>
              <a:t>urgency</a:t>
            </a:r>
            <a:r>
              <a:rPr i="0" spc="-4"/>
              <a:t> </a:t>
            </a:r>
            <a:r>
              <a:rPr i="0" spc="0"/>
              <a:t>from</a:t>
            </a:r>
            <a:r>
              <a:rPr i="0" spc="-4"/>
              <a:t> </a:t>
            </a:r>
            <a:r>
              <a:rPr i="0" spc="-50"/>
              <a:t>scheduling</a:t>
            </a:r>
            <a:r>
              <a:rPr i="0" spc="-4"/>
              <a:t> </a:t>
            </a:r>
            <a:r>
              <a:rPr i="0" spc="-9"/>
              <a:t>mobility.</a:t>
            </a:r>
          </a:p>
          <a:p>
            <a:pPr indent="591819">
              <a:lnSpc>
                <a:spcPts val="1200"/>
              </a:lnSpc>
              <a:defRPr i="1" spc="-7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25"/>
              <a:t>force</a:t>
            </a:r>
            <a:r>
              <a:rPr spc="60"/>
              <a:t> </a:t>
            </a:r>
            <a:r>
              <a:rPr i="0" spc="0"/>
              <a:t>— </a:t>
            </a:r>
            <a:r>
              <a:rPr i="0" spc="-25"/>
              <a:t>probabilistic,</a:t>
            </a:r>
            <a:r>
              <a:rPr i="0" spc="0"/>
              <a:t> </a:t>
            </a:r>
            <a:r>
              <a:rPr i="0" spc="-39"/>
              <a:t>non-</a:t>
            </a:r>
            <a:r>
              <a:rPr i="0" spc="-35"/>
              <a:t>myopic</a:t>
            </a:r>
            <a:r>
              <a:rPr i="0" spc="0"/>
              <a:t> FU</a:t>
            </a:r>
            <a:r>
              <a:rPr i="0" spc="4"/>
              <a:t> </a:t>
            </a:r>
            <a:r>
              <a:rPr i="0" spc="-9"/>
              <a:t>congestion.</a:t>
            </a:r>
          </a:p>
          <a:p>
            <a:pPr indent="314958">
              <a:spcBef>
                <a:spcPts val="100"/>
              </a:spcBef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Iterative</a:t>
            </a:r>
            <a:r>
              <a:rPr spc="-9"/>
              <a:t> </a:t>
            </a:r>
            <a:r>
              <a:rPr spc="-55"/>
              <a:t>refinement</a:t>
            </a:r>
            <a:r>
              <a:rPr spc="-9"/>
              <a:t> </a:t>
            </a:r>
            <a:r>
              <a:rPr spc="0"/>
              <a:t>of</a:t>
            </a:r>
            <a:r>
              <a:rPr spc="-9"/>
              <a:t> 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baseline="-10416" spc="0" sz="1200"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aseline="-10416" spc="240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9"/>
              <a:t> </a:t>
            </a:r>
            <a:r>
              <a:t>and</a:t>
            </a:r>
            <a:r>
              <a:rPr spc="-9"/>
              <a:t> </a:t>
            </a:r>
            <a:r>
              <a:rPr spc="-70"/>
              <a:t>resource</a:t>
            </a:r>
            <a:r>
              <a:rPr spc="-9"/>
              <a:t> </a:t>
            </a:r>
            <a:r>
              <a:rPr spc="-19"/>
              <a:t>use.</a:t>
            </a:r>
          </a:p>
          <a:p>
            <a:pPr indent="38100">
              <a:spcBef>
                <a:spcPts val="10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Proven</a:t>
            </a:r>
            <a:r>
              <a:rPr spc="4"/>
              <a:t> </a:t>
            </a:r>
            <a:r>
              <a:rPr spc="-9"/>
              <a:t>properties:</a:t>
            </a:r>
          </a:p>
        </p:txBody>
      </p:sp>
      <p:pic>
        <p:nvPicPr>
          <p:cNvPr id="173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7672" y="1648024"/>
            <a:ext cx="114214" cy="114216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object 10"/>
          <p:cNvSpPr txBox="1"/>
          <p:nvPr/>
        </p:nvSpPr>
        <p:spPr>
          <a:xfrm>
            <a:off x="249809" y="1646964"/>
            <a:ext cx="704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object 11"/>
          <p:cNvSpPr txBox="1"/>
          <p:nvPr/>
        </p:nvSpPr>
        <p:spPr>
          <a:xfrm>
            <a:off x="402931" y="1609822"/>
            <a:ext cx="2496823" cy="72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2599"/>
              </a:lnSpc>
              <a:spcBef>
                <a:spcPts val="100"/>
              </a:spcBef>
              <a:defRPr spc="-35" sz="1100">
                <a:latin typeface="Tahoma"/>
                <a:ea typeface="Tahoma"/>
                <a:cs typeface="Tahoma"/>
                <a:sym typeface="Tahoma"/>
              </a:defRPr>
            </a:pPr>
            <a:r>
              <a:t>Produces</a:t>
            </a:r>
            <a:r>
              <a:rPr spc="-4"/>
              <a:t> </a:t>
            </a:r>
            <a:r>
              <a:rPr spc="-25"/>
              <a:t>valid,</a:t>
            </a:r>
            <a:r>
              <a:rPr spc="-4"/>
              <a:t> </a:t>
            </a:r>
            <a:r>
              <a:rPr spc="-70"/>
              <a:t>resource-</a:t>
            </a:r>
            <a:r>
              <a:rPr spc="-50"/>
              <a:t>feasible</a:t>
            </a:r>
            <a:r>
              <a:rPr spc="-4"/>
              <a:t> </a:t>
            </a:r>
            <a:r>
              <a:rPr spc="-50"/>
              <a:t>schedules. </a:t>
            </a:r>
            <a:r>
              <a:rPr spc="-55"/>
              <a:t>Guaranteed</a:t>
            </a:r>
            <a:r>
              <a:rPr spc="-9"/>
              <a:t> termination.</a:t>
            </a:r>
          </a:p>
          <a:p>
            <a:pPr marR="10160" indent="12700">
              <a:lnSpc>
                <a:spcPct val="112599"/>
              </a:lnSpc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Respects</a:t>
            </a:r>
            <a:r>
              <a:rPr spc="-25"/>
              <a:t> </a:t>
            </a:r>
            <a:r>
              <a:rPr spc="-19"/>
              <a:t>the </a:t>
            </a:r>
            <a:r>
              <a:rPr spc="-30"/>
              <a:t>critical-</a:t>
            </a:r>
            <a:r>
              <a:rPr spc="-9"/>
              <a:t>path</a:t>
            </a:r>
            <a:r>
              <a:rPr spc="-25"/>
              <a:t> </a:t>
            </a:r>
            <a:r>
              <a:rPr spc="-65"/>
              <a:t>lower</a:t>
            </a:r>
            <a:r>
              <a:rPr spc="-19"/>
              <a:t> </a:t>
            </a:r>
            <a:r>
              <a:rPr spc="-9"/>
              <a:t>bound. Optimal</a:t>
            </a:r>
            <a:r>
              <a:rPr spc="-19"/>
              <a:t> </a:t>
            </a:r>
            <a:r>
              <a:rPr spc="-70"/>
              <a:t>when</a:t>
            </a:r>
            <a:r>
              <a:rPr spc="-15"/>
              <a:t> </a:t>
            </a:r>
            <a:r>
              <a:rPr spc="-65"/>
              <a:t>resources</a:t>
            </a:r>
            <a:r>
              <a:rPr spc="-15"/>
              <a:t> </a:t>
            </a:r>
            <a:r>
              <a:rPr spc="-70"/>
              <a:t>are</a:t>
            </a:r>
            <a:r>
              <a:rPr spc="-15"/>
              <a:t> </a:t>
            </a:r>
            <a:r>
              <a:t>unconstrained.</a:t>
            </a:r>
          </a:p>
        </p:txBody>
      </p:sp>
      <p:pic>
        <p:nvPicPr>
          <p:cNvPr id="176" name="object 12" descr="object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27672" y="1836708"/>
            <a:ext cx="114214" cy="11421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object 13"/>
          <p:cNvSpPr txBox="1"/>
          <p:nvPr/>
        </p:nvSpPr>
        <p:spPr>
          <a:xfrm>
            <a:off x="249809" y="1835649"/>
            <a:ext cx="704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78" name="object 14" descr="object 1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27672" y="2025392"/>
            <a:ext cx="114214" cy="114216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bject 15"/>
          <p:cNvSpPr txBox="1"/>
          <p:nvPr/>
        </p:nvSpPr>
        <p:spPr>
          <a:xfrm>
            <a:off x="249809" y="2024333"/>
            <a:ext cx="704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80" name="object 16" descr="object 1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27672" y="2214061"/>
            <a:ext cx="114214" cy="114216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object 17"/>
          <p:cNvSpPr txBox="1"/>
          <p:nvPr/>
        </p:nvSpPr>
        <p:spPr>
          <a:xfrm>
            <a:off x="249809" y="2213018"/>
            <a:ext cx="704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2" name="object 19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183" name="object 18"/>
          <p:cNvSpPr txBox="1"/>
          <p:nvPr/>
        </p:nvSpPr>
        <p:spPr>
          <a:xfrm>
            <a:off x="113142" y="2471620"/>
            <a:ext cx="4663444" cy="43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5400">
              <a:defRPr b="1" spc="-9" sz="1100">
                <a:latin typeface="Arial"/>
                <a:ea typeface="Arial"/>
                <a:cs typeface="Arial"/>
                <a:sym typeface="Arial"/>
              </a:defRPr>
            </a:pPr>
            <a:r>
              <a:t>Complexity:</a:t>
            </a:r>
          </a:p>
          <a:p>
            <a:pPr indent="921385">
              <a:spcBef>
                <a:spcPts val="700"/>
              </a:spcBef>
              <a:tabLst>
                <a:tab pos="3048000" algn="l"/>
              </a:tabLst>
              <a:defRPr i="1" sz="1100">
                <a:latin typeface="Arial"/>
                <a:ea typeface="Arial"/>
                <a:cs typeface="Arial"/>
                <a:sym typeface="Arial"/>
              </a:defRPr>
            </a:pPr>
            <a:r>
              <a:t>T</a:t>
            </a:r>
            <a:r>
              <a:rPr baseline="-13887" i="0" sz="1200"/>
              <a:t>Total</a:t>
            </a:r>
            <a:r>
              <a:rPr baseline="-13887" i="0" spc="247" sz="120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K</a:t>
            </a:r>
            <a:r>
              <a:rPr spc="-158"/>
              <a:t> 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spc="-9"/>
              <a:t>N</a:t>
            </a:r>
            <a:r>
              <a:rPr spc="-4"/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log</a:t>
            </a:r>
            <a:r>
              <a:rPr i="0" spc="-1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N</a:t>
            </a:r>
            <a:r>
              <a:rPr spc="6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5"/>
              <a:t>E</a:t>
            </a:r>
            <a:r>
              <a:rPr spc="-163"/>
              <a:t> 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))</a:t>
            </a:r>
            <a:r>
              <a:rPr spc="-25"/>
              <a:t>,</a:t>
            </a:r>
            <a:r>
              <a:t>	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Space</a:t>
            </a:r>
            <a:r>
              <a:rPr i="0" spc="-3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N</a:t>
            </a:r>
            <a:r>
              <a:rPr spc="39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E</a:t>
            </a:r>
            <a:r>
              <a:rPr spc="75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rPr b="1"/>
              <a:t>Where we left off:</a:t>
            </a:r>
            <a:r>
              <a:t> Algorithm Limitations</a:t>
            </a:r>
          </a:p>
        </p:txBody>
      </p:sp>
      <p:pic>
        <p:nvPicPr>
          <p:cNvPr id="18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0865" y="1173212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1325041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889809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2067255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object 8" descr="object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0865" y="2219098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193" name="object 9"/>
          <p:cNvSpPr txBox="1"/>
          <p:nvPr/>
        </p:nvSpPr>
        <p:spPr>
          <a:xfrm>
            <a:off x="402931" y="973567"/>
            <a:ext cx="5122548" cy="1495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Suboptimal</a:t>
            </a:r>
            <a:r>
              <a:rPr spc="4"/>
              <a:t> </a:t>
            </a:r>
            <a:r>
              <a:rPr spc="-19"/>
              <a:t>by</a:t>
            </a:r>
            <a:r>
              <a:rPr spc="4"/>
              <a:t> </a:t>
            </a:r>
            <a:r>
              <a:rPr spc="-39"/>
              <a:t>Design</a:t>
            </a:r>
            <a:r>
              <a:rPr spc="9"/>
              <a:t> </a:t>
            </a:r>
            <a:r>
              <a:t>(Greedy</a:t>
            </a:r>
            <a:r>
              <a:rPr spc="4"/>
              <a:t> </a:t>
            </a:r>
            <a:r>
              <a:rPr spc="-9"/>
              <a:t>Heuristic):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is</a:t>
            </a:r>
            <a:r>
              <a:rPr spc="-4"/>
              <a:t> </a:t>
            </a:r>
            <a:r>
              <a:t>NP-</a:t>
            </a:r>
            <a:r>
              <a:rPr spc="-30"/>
              <a:t>complete;</a:t>
            </a:r>
            <a:r>
              <a:rPr spc="-9"/>
              <a:t> </a:t>
            </a:r>
            <a:r>
              <a:rPr spc="-75"/>
              <a:t>we</a:t>
            </a:r>
            <a:r>
              <a:rPr spc="4"/>
              <a:t> </a:t>
            </a:r>
            <a:r>
              <a:rPr spc="0"/>
              <a:t>aim</a:t>
            </a:r>
            <a:r>
              <a:rPr spc="-4"/>
              <a:t> </a:t>
            </a:r>
            <a:r>
              <a:rPr spc="0"/>
              <a:t>for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19"/>
              <a:t>good</a:t>
            </a:r>
            <a:r>
              <a:rPr spc="-9"/>
              <a:t> </a:t>
            </a:r>
            <a:r>
              <a:rPr spc="-19"/>
              <a:t>solution,</a:t>
            </a:r>
            <a:r>
              <a:rPr spc="-4"/>
              <a:t> </a:t>
            </a:r>
            <a:r>
              <a:rPr spc="0"/>
              <a:t>not</a:t>
            </a:r>
            <a:r>
              <a:rPr spc="-4"/>
              <a:t> </a:t>
            </a:r>
            <a:r>
              <a:rPr spc="0"/>
              <a:t>a</a:t>
            </a:r>
            <a:r>
              <a:rPr spc="-9"/>
              <a:t> </a:t>
            </a:r>
            <a:r>
              <a:rPr spc="-50"/>
              <a:t>guaranteed</a:t>
            </a:r>
            <a:r>
              <a:rPr spc="-4"/>
              <a:t> </a:t>
            </a:r>
            <a:r>
              <a:rPr spc="-9"/>
              <a:t>optimal </a:t>
            </a:r>
            <a:r>
              <a:rPr spc="-19"/>
              <a:t>one. </a:t>
            </a:r>
            <a:endParaRPr spc="-19"/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spc="0"/>
              <a:t>Our</a:t>
            </a:r>
            <a:r>
              <a:rPr spc="-19"/>
              <a:t> algorithm</a:t>
            </a:r>
            <a:r>
              <a:rPr spc="-4"/>
              <a:t> </a:t>
            </a:r>
            <a:r>
              <a:rPr spc="0"/>
              <a:t>is</a:t>
            </a:r>
            <a:r>
              <a:rPr spc="-9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b="1" spc="-39"/>
              <a:t>greedy</a:t>
            </a:r>
            <a:r>
              <a:rPr b="1" spc="4"/>
              <a:t> </a:t>
            </a:r>
            <a:r>
              <a:rPr spc="0"/>
              <a:t>List</a:t>
            </a:r>
            <a:r>
              <a:rPr spc="-4"/>
              <a:t> </a:t>
            </a:r>
            <a:r>
              <a:rPr spc="-39"/>
              <a:t>Scheduler:</a:t>
            </a:r>
            <a:r>
              <a:rPr spc="79"/>
              <a:t> </a:t>
            </a:r>
            <a:r>
              <a:rPr spc="0"/>
              <a:t>it</a:t>
            </a:r>
            <a:r>
              <a:rPr spc="-4"/>
              <a:t> </a:t>
            </a:r>
            <a:r>
              <a:rPr spc="-75"/>
              <a:t>makes</a:t>
            </a:r>
            <a:r>
              <a:rPr spc="4"/>
              <a:t> </a:t>
            </a:r>
            <a:r>
              <a:rPr spc="0"/>
              <a:t>the</a:t>
            </a:r>
            <a:r>
              <a:rPr spc="-4"/>
              <a:t> </a:t>
            </a:r>
            <a:r>
              <a:rPr spc="-19"/>
              <a:t>best</a:t>
            </a:r>
            <a:r>
              <a:rPr spc="-4"/>
              <a:t> </a:t>
            </a:r>
            <a:r>
              <a:rPr spc="-19"/>
              <a:t>greedy</a:t>
            </a:r>
            <a:r>
              <a:rPr spc="-9"/>
              <a:t> </a:t>
            </a:r>
            <a:r>
              <a:rPr spc="-50"/>
              <a:t>choice</a:t>
            </a:r>
            <a:r>
              <a:rPr spc="-4"/>
              <a:t> </a:t>
            </a:r>
            <a:r>
              <a:rPr spc="-50"/>
              <a:t>(based</a:t>
            </a:r>
            <a:r>
              <a:rPr spc="-9"/>
              <a:t> </a:t>
            </a:r>
            <a:r>
              <a:rPr spc="0"/>
              <a:t>on</a:t>
            </a:r>
            <a:r>
              <a:rPr spc="-4"/>
              <a:t> </a:t>
            </a:r>
            <a:r>
              <a:rPr spc="-25"/>
              <a:t>our </a:t>
            </a:r>
            <a:r>
              <a:rPr spc="-19"/>
              <a:t>heuristic mixing local urgency and global cost)</a:t>
            </a:r>
            <a:r>
              <a:rPr spc="4"/>
              <a:t> </a:t>
            </a:r>
            <a:r>
              <a:rPr spc="-25"/>
              <a:t>and</a:t>
            </a:r>
            <a:r>
              <a:rPr spc="4"/>
              <a:t> </a:t>
            </a:r>
            <a:r>
              <a:rPr b="1" spc="-25"/>
              <a:t>never</a:t>
            </a:r>
            <a:r>
              <a:rPr b="1" spc="35"/>
              <a:t> </a:t>
            </a:r>
            <a:r>
              <a:rPr b="1" spc="-35"/>
              <a:t>backtracks</a:t>
            </a:r>
            <a:r>
              <a:rPr b="1" spc="4"/>
              <a:t> </a:t>
            </a:r>
            <a:r>
              <a:rPr spc="0"/>
              <a:t>to</a:t>
            </a:r>
            <a:r>
              <a:rPr spc="9"/>
              <a:t> </a:t>
            </a:r>
            <a:r>
              <a:rPr spc="0"/>
              <a:t>fix</a:t>
            </a:r>
            <a:r>
              <a:rPr spc="4"/>
              <a:t> </a:t>
            </a:r>
            <a:r>
              <a:rPr spc="-19"/>
              <a:t>strategic</a:t>
            </a:r>
            <a:r>
              <a:rPr spc="4"/>
              <a:t> </a:t>
            </a:r>
            <a:r>
              <a:rPr spc="-9"/>
              <a:t>mistakes.</a:t>
            </a:r>
          </a:p>
          <a:p>
            <a:pPr>
              <a:defRPr sz="1000">
                <a:latin typeface="Arial"/>
                <a:ea typeface="Arial"/>
                <a:cs typeface="Arial"/>
                <a:sym typeface="Arial"/>
              </a:defRPr>
            </a:pPr>
          </a:p>
          <a:p>
            <a:pPr indent="12700">
              <a:defRPr b="1" spc="-35" sz="1100">
                <a:latin typeface="Arial"/>
                <a:ea typeface="Arial"/>
                <a:cs typeface="Arial"/>
                <a:sym typeface="Arial"/>
              </a:defRPr>
            </a:pPr>
            <a:r>
              <a:t>Heuristic</a:t>
            </a:r>
            <a:r>
              <a:rPr spc="45"/>
              <a:t> </a:t>
            </a:r>
            <a:r>
              <a:rPr spc="-19"/>
              <a:t>Limitations</a:t>
            </a:r>
            <a:r>
              <a:rPr spc="50"/>
              <a:t> </a:t>
            </a:r>
            <a:r>
              <a:rPr spc="0"/>
              <a:t>(e.g.,</a:t>
            </a:r>
            <a:r>
              <a:rPr spc="50"/>
              <a:t> </a:t>
            </a:r>
            <a:r>
              <a:rPr spc="-45"/>
              <a:t>False</a:t>
            </a:r>
            <a:r>
              <a:rPr spc="45"/>
              <a:t> </a:t>
            </a:r>
            <a:r>
              <a:rPr spc="-9"/>
              <a:t>Ties):</a:t>
            </a:r>
          </a:p>
          <a:p>
            <a:pPr indent="289558" algn="just">
              <a:lnSpc>
                <a:spcPts val="1200"/>
              </a:lnSpc>
              <a:spcBef>
                <a:spcPts val="100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The</a:t>
            </a:r>
            <a:r>
              <a:rPr spc="-60"/>
              <a:t> </a:t>
            </a:r>
            <a:r>
              <a:rPr spc="-9"/>
              <a:t>priority</a:t>
            </a:r>
            <a:r>
              <a:rPr spc="9"/>
              <a:t> </a:t>
            </a:r>
            <a:r>
              <a:rPr spc="-25"/>
              <a:t>formula</a:t>
            </a:r>
            <a:r>
              <a:rPr spc="15"/>
              <a:t> </a:t>
            </a:r>
            <a:r>
              <a:t>(</a:t>
            </a:r>
            <a:r>
              <a:rPr i="1"/>
              <a:t>F</a:t>
            </a:r>
            <a:r>
              <a:rPr i="1" spc="85"/>
              <a:t> </a:t>
            </a:r>
            <a:r>
              <a:rPr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1" spc="-120"/>
              <a:t>S</a:t>
            </a:r>
            <a:r>
              <a:rPr i="1" spc="35"/>
              <a:t> </a:t>
            </a:r>
            <a:r>
              <a:rPr spc="-365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spc="-9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i="1" spc="-100"/>
              <a:t>C</a:t>
            </a:r>
            <a:r>
              <a:rPr i="1" spc="-159"/>
              <a:t> </a:t>
            </a:r>
            <a:r>
              <a:t>)</a:t>
            </a:r>
            <a:r>
              <a:rPr spc="15"/>
              <a:t> </a:t>
            </a:r>
            <a:r>
              <a:t>is</a:t>
            </a:r>
            <a:r>
              <a:rPr spc="15"/>
              <a:t> </a:t>
            </a:r>
            <a:r>
              <a:rPr spc="-9"/>
              <a:t>an</a:t>
            </a:r>
            <a:r>
              <a:rPr spc="9"/>
              <a:t> </a:t>
            </a:r>
            <a:r>
              <a:rPr spc="-30"/>
              <a:t>estimate,</a:t>
            </a:r>
            <a:r>
              <a:rPr spc="15"/>
              <a:t> </a:t>
            </a:r>
            <a:r>
              <a:t>not</a:t>
            </a:r>
            <a:r>
              <a:rPr spc="15"/>
              <a:t> </a:t>
            </a:r>
            <a:r>
              <a:t>a</a:t>
            </a:r>
            <a:r>
              <a:rPr spc="9"/>
              <a:t> </a:t>
            </a:r>
            <a:r>
              <a:rPr spc="-19"/>
              <a:t>perfect</a:t>
            </a:r>
            <a:r>
              <a:rPr spc="15"/>
              <a:t> </a:t>
            </a:r>
            <a:r>
              <a:rPr spc="-30"/>
              <a:t>model</a:t>
            </a:r>
            <a:r>
              <a:rPr spc="15"/>
              <a:t> </a:t>
            </a:r>
            <a:r>
              <a:t>of</a:t>
            </a:r>
            <a:r>
              <a:rPr spc="15"/>
              <a:t> </a:t>
            </a:r>
            <a:r>
              <a:rPr spc="-9"/>
              <a:t>cost.</a:t>
            </a:r>
          </a:p>
          <a:p>
            <a:pPr marR="5080" indent="289558">
              <a:lnSpc>
                <a:spcPts val="1200"/>
              </a:lnSpc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It</a:t>
            </a:r>
            <a:r>
              <a:rPr spc="-9"/>
              <a:t> </a:t>
            </a:r>
            <a:r>
              <a:rPr spc="-39"/>
              <a:t>can</a:t>
            </a:r>
            <a:r>
              <a:rPr spc="-9"/>
              <a:t> </a:t>
            </a:r>
            <a:r>
              <a:rPr spc="-35"/>
              <a:t>create</a:t>
            </a:r>
            <a:r>
              <a:rPr spc="-9"/>
              <a:t> </a:t>
            </a:r>
            <a:r>
              <a:rPr i="1" spc="-39"/>
              <a:t>false</a:t>
            </a:r>
            <a:r>
              <a:rPr i="1" spc="-9"/>
              <a:t> </a:t>
            </a:r>
            <a:r>
              <a:rPr i="1"/>
              <a:t>ties</a:t>
            </a:r>
            <a:r>
              <a:rPr i="1" spc="60"/>
              <a:t> </a:t>
            </a:r>
            <a:r>
              <a:t>(like</a:t>
            </a:r>
            <a:r>
              <a:rPr spc="-9"/>
              <a:t> </a:t>
            </a:r>
            <a:r>
              <a:rPr i="1"/>
              <a:t>a </a:t>
            </a:r>
            <a:r>
              <a:rPr spc="-9"/>
              <a:t>vs.</a:t>
            </a:r>
            <a:r>
              <a:rPr spc="79"/>
              <a:t> </a:t>
            </a:r>
            <a:r>
              <a:rPr i="1"/>
              <a:t>d</a:t>
            </a:r>
            <a:r>
              <a:rPr i="1" spc="70"/>
              <a:t> </a:t>
            </a:r>
            <a:r>
              <a:t>in</a:t>
            </a:r>
            <a:r>
              <a:rPr spc="-9"/>
              <a:t> </a:t>
            </a:r>
            <a:r>
              <a:rPr spc="-39"/>
              <a:t>Example.</a:t>
            </a:r>
            <a:r>
              <a:rPr spc="79"/>
              <a:t> </a:t>
            </a:r>
            <a:r>
              <a:t>2),</a:t>
            </a:r>
            <a:r>
              <a:rPr spc="-9"/>
              <a:t> </a:t>
            </a:r>
            <a:r>
              <a:rPr spc="-19"/>
              <a:t>forcing</a:t>
            </a:r>
            <a:r>
              <a:rPr spc="-9"/>
              <a:t> an</a:t>
            </a:r>
            <a:r>
              <a:rPr spc="-4"/>
              <a:t> </a:t>
            </a:r>
            <a:r>
              <a:rPr spc="-19"/>
              <a:t>arbitrary</a:t>
            </a:r>
            <a:r>
              <a:rPr spc="-9"/>
              <a:t> (e.g., alphabetical) </a:t>
            </a:r>
            <a:r>
              <a:rPr spc="-25"/>
              <a:t>tie-</a:t>
            </a:r>
            <a:r>
              <a:rPr spc="-9"/>
              <a:t>break.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19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3" y="1567554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3" y="1222201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200" name="object 9"/>
          <p:cNvSpPr txBox="1"/>
          <p:nvPr/>
        </p:nvSpPr>
        <p:spPr>
          <a:xfrm>
            <a:off x="402931" y="973567"/>
            <a:ext cx="5122548" cy="117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Non-Myopic Congestion Cost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Modified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calculation to use the </a:t>
            </a:r>
            <a:r>
              <a:rPr b="1"/>
              <a:t>average expected usage</a:t>
            </a:r>
            <a:r>
              <a:t>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</m:sup>
                </m:sSup>
              </m:oMath>
            </a14:m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instead of the peak usage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sup>
                </m:sSup>
              </m:oMath>
            </a14:m>
            <a:r>
              <a:t> over the critical path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Why?</a:t>
            </a:r>
            <a:r>
              <a:t> Average gives a better estimate of the expected resource usage with respect to the 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worst case given by taking the maximum.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new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i="1"/>
              <a:t> </a:t>
            </a:r>
            <a:r>
              <a:t>formula is the following:</a:t>
            </a:r>
          </a:p>
        </p:txBody>
      </p:sp>
      <p:sp>
        <p:nvSpPr>
          <p:cNvPr id="201" name="Equation"/>
          <p:cNvSpPr txBox="1"/>
          <p:nvPr/>
        </p:nvSpPr>
        <p:spPr>
          <a:xfrm>
            <a:off x="2086627" y="2042240"/>
            <a:ext cx="1592546" cy="39837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limLow>
                    <m:e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sup>
                      </m:sSubSup>
                    </m:num>
                    <m:den>
                      <m:sSub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den>
                  </m:f>
                </m:oMath>
              </m:oMathPara>
            </a14:m>
            <a:endParaRPr sz="1000"/>
          </a:p>
        </p:txBody>
      </p:sp>
      <p:pic>
        <p:nvPicPr>
          <p:cNvPr id="202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3" y="1883446"/>
            <a:ext cx="52592" cy="52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0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3" y="1567554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3" y="1222201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209" name="object 9"/>
          <p:cNvSpPr txBox="1"/>
          <p:nvPr/>
        </p:nvSpPr>
        <p:spPr>
          <a:xfrm>
            <a:off x="402931" y="973567"/>
            <a:ext cx="5122548" cy="1568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Probability Distribution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calculation of the probabilistic FU usage 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was corrected to accurately model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operations with </a:t>
            </a: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Why?</a:t>
            </a:r>
            <a:r>
              <a:t> While an operation has a uniform probability of starting in any cycle within its mobility </a:t>
            </a:r>
          </a:p>
          <a:p>
            <a:pPr lvl="3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window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ASAP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ALAP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, its actual occupation time of the resource lasts for </a:t>
            </a:r>
            <a:r>
              <a:rPr i="1"/>
              <a:t>L </a:t>
            </a:r>
            <a:r>
              <a:t>cycles.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Impact:</a:t>
            </a:r>
            <a:r>
              <a:t> When we sum these individual probabilities, the effective resource utilization profile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becomes non-uniform and peaked in the middle of the operation's time range,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accurately reflecting the higher expected congestion in those central cycles. This provides a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realistic basis for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</p:txBody>
      </p:sp>
      <p:pic>
        <p:nvPicPr>
          <p:cNvPr id="21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3" y="1883446"/>
            <a:ext cx="52592" cy="52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1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3" y="1788135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pic>
        <p:nvPicPr>
          <p:cNvPr id="216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3" y="1236558"/>
            <a:ext cx="52592" cy="52592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object 9"/>
          <p:cNvSpPr txBox="1"/>
          <p:nvPr/>
        </p:nvSpPr>
        <p:spPr>
          <a:xfrm>
            <a:off x="402931" y="973567"/>
            <a:ext cx="5122548" cy="1366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Relaxed Latency Initialization 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spc="-27"/>
              <a:t>The outer loop now starts from a relaxed upper bound (</a:t>
            </a:r>
            <a14:m>
              <m:oMath>
                <m:sSub>
                  <m:e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</m:oMath>
            </a14:m>
            <a:r>
              <a:rPr i="1" spc="-27"/>
              <a:t>Latency</a:t>
            </a:r>
            <a:r>
              <a:rPr spc="-27"/>
              <a:t>) </a:t>
            </a:r>
            <a:endParaRPr spc="-27"/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spc="-27"/>
              <a:t>and iteratively decrements the target latency by (</a:t>
            </a:r>
            <a14:m>
              <m:oMath>
                <m:sSub>
                  <m:e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  <m:sSub>
                  <m:e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sub>
                </m:sSub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rPr spc="-27"/>
              <a:t>) to find </a:t>
            </a:r>
            <a:endParaRPr spc="-27"/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spc="-27"/>
              <a:t>the minimum feasible solution.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Why?</a:t>
            </a:r>
            <a:r>
              <a:t> Using an upper bound that can only be decreased prevents oscillating </a:t>
            </a:r>
          </a:p>
          <a:p>
            <a:pPr lvl="4" marR="215265" indent="289558" algn="just">
              <a:spcBef>
                <a:spcPts val="100"/>
              </a:spcBef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spc="-45" sz="1000"/>
              <a:t>behaviors and allows for a controlled convergence path </a:t>
            </a:r>
            <a:r>
              <a:t> 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sp>
        <p:nvSpPr>
          <p:cNvPr id="222" name="object 9"/>
          <p:cNvSpPr txBox="1"/>
          <p:nvPr/>
        </p:nvSpPr>
        <p:spPr>
          <a:xfrm>
            <a:off x="402931" y="973567"/>
            <a:ext cx="5122548" cy="946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Dynamic Priority Calculation 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priority function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no longer pre-calculated statically for all operations at the 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beginning of the List Scheduling phase.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Why?</a:t>
            </a:r>
            <a:r>
              <a:t> Based on actual resource availability and the specific set of competing operations in 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current cycle. Provides a more accurate estimate of current urgency and conflict cost.</a:t>
            </a:r>
          </a:p>
        </p:txBody>
      </p:sp>
      <p:pic>
        <p:nvPicPr>
          <p:cNvPr id="22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7172" y="1530165"/>
            <a:ext cx="52592" cy="52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7172" y="1223063"/>
            <a:ext cx="52592" cy="52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rPr b="1"/>
              <a:t>Effect:</a:t>
            </a:r>
            <a:r>
              <a:t> Example 1</a:t>
            </a:r>
          </a:p>
        </p:txBody>
      </p:sp>
      <p:sp>
        <p:nvSpPr>
          <p:cNvPr id="227" name="object 29"/>
          <p:cNvSpPr/>
          <p:nvPr/>
        </p:nvSpPr>
        <p:spPr>
          <a:xfrm>
            <a:off x="87742" y="1988080"/>
            <a:ext cx="5584583" cy="193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8" name="object 30"/>
          <p:cNvSpPr txBox="1"/>
          <p:nvPr/>
        </p:nvSpPr>
        <p:spPr>
          <a:xfrm>
            <a:off x="138542" y="2000973"/>
            <a:ext cx="383543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31" name="object 31"/>
          <p:cNvGrpSpPr/>
          <p:nvPr/>
        </p:nvGrpSpPr>
        <p:grpSpPr>
          <a:xfrm>
            <a:off x="87741" y="2168499"/>
            <a:ext cx="5584584" cy="593906"/>
            <a:chOff x="0" y="0"/>
            <a:chExt cx="5584583" cy="593905"/>
          </a:xfrm>
        </p:grpSpPr>
        <p:pic>
          <p:nvPicPr>
            <p:cNvPr id="229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5584585" cy="506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0" name="object 34"/>
            <p:cNvSpPr/>
            <p:nvPr/>
          </p:nvSpPr>
          <p:spPr>
            <a:xfrm>
              <a:off x="-1" y="44277"/>
              <a:ext cx="5584584" cy="549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2" name="object 35"/>
          <p:cNvSpPr txBox="1"/>
          <p:nvPr/>
        </p:nvSpPr>
        <p:spPr>
          <a:xfrm>
            <a:off x="138543" y="2194939"/>
            <a:ext cx="5584828" cy="50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still succeed to identify </a:t>
            </a:r>
            <a:r>
              <a:rPr b="1"/>
              <a:t>d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</a:t>
            </a:r>
            <a:r>
              <a:rPr b="1"/>
              <a:t>a</a:t>
            </a:r>
            <a:r>
              <a:t>.</a:t>
            </a:r>
            <a:r>
              <a:rPr spc="70"/>
              <a:t> </a:t>
            </a:r>
            <a:r>
              <a:t>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MUL</a:t>
            </a:r>
            <a:r>
              <a:rPr spc="-25"/>
              <a:t> </a:t>
            </a:r>
            <a:r>
              <a:rPr spc="-39"/>
              <a:t>operation</a:t>
            </a:r>
            <a:r>
              <a:rPr spc="-30"/>
              <a:t> </a:t>
            </a:r>
            <a:r>
              <a:rPr spc="225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spc="79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t>to</a:t>
            </a:r>
            <a:r>
              <a:rPr spc="-25"/>
              <a:t> </a:t>
            </a:r>
            <a:r>
              <a:rPr spc="-50"/>
              <a:t>be</a:t>
            </a:r>
            <a:r>
              <a:rPr spc="-25"/>
              <a:t> </a:t>
            </a:r>
            <a:r>
              <a:rPr spc="-70"/>
              <a:t>scheduled</a:t>
            </a:r>
            <a:r>
              <a:rPr spc="-19"/>
              <a:t> </a:t>
            </a:r>
            <a:r>
              <a:t>in</a:t>
            </a:r>
            <a:r>
              <a:rPr spc="-25"/>
              <a:t> </a:t>
            </a:r>
            <a:r>
              <a:rPr spc="-39"/>
              <a:t>parallel</a:t>
            </a:r>
            <a:r>
              <a:rPr spc="-25"/>
              <a:t> </a:t>
            </a:r>
            <a:r>
              <a:rPr spc="-9"/>
              <a:t>("hidden"),</a:t>
            </a:r>
            <a:r>
              <a:rPr spc="-19"/>
              <a:t> </a:t>
            </a:r>
            <a:r>
              <a:rPr spc="-45"/>
              <a:t>resulting</a:t>
            </a:r>
            <a:r>
              <a:rPr spc="-25"/>
              <a:t> </a:t>
            </a:r>
            <a:r>
              <a:t>in</a:t>
            </a:r>
            <a:r>
              <a:rPr spc="-25"/>
              <a:t> an optimal latency of 6.</a:t>
            </a:r>
          </a:p>
        </p:txBody>
      </p:sp>
      <p:sp>
        <p:nvSpPr>
          <p:cNvPr id="233" name="object 36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pic>
        <p:nvPicPr>
          <p:cNvPr id="234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0" t="0" r="50483" b="0"/>
          <a:stretch>
            <a:fillRect/>
          </a:stretch>
        </p:blipFill>
        <p:spPr>
          <a:xfrm>
            <a:off x="392887" y="365905"/>
            <a:ext cx="1861099" cy="902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Screenshot 2025-12-11 at 11.48.01 AM.png" descr="Screenshot 2025-12-11 at 11.48.01 AM.png"/>
          <p:cNvPicPr>
            <a:picLocks noChangeAspect="1"/>
          </p:cNvPicPr>
          <p:nvPr/>
        </p:nvPicPr>
        <p:blipFill>
          <a:blip r:embed="rId4">
            <a:extLst/>
          </a:blip>
          <a:srcRect l="0" t="20568" r="0" b="0"/>
          <a:stretch>
            <a:fillRect/>
          </a:stretch>
        </p:blipFill>
        <p:spPr>
          <a:xfrm>
            <a:off x="2379003" y="778210"/>
            <a:ext cx="3227311" cy="785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49668" t="17293" r="0" b="17293"/>
          <a:stretch>
            <a:fillRect/>
          </a:stretch>
        </p:blipFill>
        <p:spPr>
          <a:xfrm>
            <a:off x="333356" y="1312295"/>
            <a:ext cx="1861076" cy="5805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rPr b="1"/>
              <a:t>Effect:</a:t>
            </a:r>
            <a:r>
              <a:t> Example 2</a:t>
            </a:r>
          </a:p>
        </p:txBody>
      </p:sp>
      <p:sp>
        <p:nvSpPr>
          <p:cNvPr id="239" name="object 29"/>
          <p:cNvSpPr/>
          <p:nvPr/>
        </p:nvSpPr>
        <p:spPr>
          <a:xfrm>
            <a:off x="87742" y="1988080"/>
            <a:ext cx="5584583" cy="193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0" name="object 30"/>
          <p:cNvSpPr txBox="1"/>
          <p:nvPr/>
        </p:nvSpPr>
        <p:spPr>
          <a:xfrm>
            <a:off x="138542" y="2000973"/>
            <a:ext cx="383543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43" name="object 31"/>
          <p:cNvGrpSpPr/>
          <p:nvPr/>
        </p:nvGrpSpPr>
        <p:grpSpPr>
          <a:xfrm>
            <a:off x="87741" y="2168499"/>
            <a:ext cx="5584584" cy="593906"/>
            <a:chOff x="0" y="0"/>
            <a:chExt cx="5584583" cy="593905"/>
          </a:xfrm>
        </p:grpSpPr>
        <p:pic>
          <p:nvPicPr>
            <p:cNvPr id="241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5584585" cy="506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object 34"/>
            <p:cNvSpPr/>
            <p:nvPr/>
          </p:nvSpPr>
          <p:spPr>
            <a:xfrm>
              <a:off x="-1" y="44277"/>
              <a:ext cx="5584584" cy="549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44" name="object 35"/>
          <p:cNvSpPr txBox="1"/>
          <p:nvPr/>
        </p:nvSpPr>
        <p:spPr>
          <a:xfrm>
            <a:off x="138543" y="2194939"/>
            <a:ext cx="5584828" cy="50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succeed also to identify </a:t>
            </a:r>
            <a:r>
              <a:rPr b="1"/>
              <a:t>b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</a:t>
            </a:r>
            <a:r>
              <a:t>a</a:t>
            </a:r>
            <a:r>
              <a:t>. 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DIV operations to be executed as soon as possible, resulting in an optimal latency of 7</a:t>
            </a:r>
            <a:r>
              <a:rPr spc="-25"/>
              <a:t>.</a:t>
            </a:r>
          </a:p>
        </p:txBody>
      </p:sp>
      <p:sp>
        <p:nvSpPr>
          <p:cNvPr id="245" name="object 36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  <p:pic>
        <p:nvPicPr>
          <p:cNvPr id="246" name="Screenshot 2025-12-11 at 11.56.43 AM.png" descr="Screenshot 2025-12-11 at 11.56.4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083" y="345750"/>
            <a:ext cx="1651494" cy="9271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Screenshot 2025-12-11 at 11.57.10 AM.png" descr="Screenshot 2025-12-11 at 11.57.10 AM.png"/>
          <p:cNvPicPr>
            <a:picLocks noChangeAspect="1"/>
          </p:cNvPicPr>
          <p:nvPr/>
        </p:nvPicPr>
        <p:blipFill>
          <a:blip r:embed="rId4">
            <a:extLst/>
          </a:blip>
          <a:srcRect l="0" t="6057" r="0" b="6057"/>
          <a:stretch>
            <a:fillRect/>
          </a:stretch>
        </p:blipFill>
        <p:spPr>
          <a:xfrm>
            <a:off x="405984" y="1266932"/>
            <a:ext cx="1715573" cy="704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Screenshot 2025-12-11 at 12.08.32 PM.png" descr="Screenshot 2025-12-11 at 12.08.3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98662" y="783490"/>
            <a:ext cx="3221467" cy="9556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New Features</a:t>
            </a:r>
          </a:p>
        </p:txBody>
      </p:sp>
      <p:pic>
        <p:nvPicPr>
          <p:cNvPr id="25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object 4"/>
          <p:cNvSpPr txBox="1"/>
          <p:nvPr/>
        </p:nvSpPr>
        <p:spPr>
          <a:xfrm>
            <a:off x="402930" y="712441"/>
            <a:ext cx="476504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5080" indent="12700">
              <a:lnSpc>
                <a:spcPct val="113199"/>
              </a:lnSpc>
              <a:spcBef>
                <a:spcPts val="100"/>
              </a:spcBef>
              <a:defRPr sz="13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Two new features are presented:</a:t>
            </a:r>
          </a:p>
        </p:txBody>
      </p:sp>
      <p:pic>
        <p:nvPicPr>
          <p:cNvPr id="25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3426" y="116896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object 11"/>
          <p:cNvSpPr txBox="1"/>
          <p:nvPr/>
        </p:nvSpPr>
        <p:spPr>
          <a:xfrm>
            <a:off x="727475" y="1141281"/>
            <a:ext cx="3887473" cy="42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  <a:r>
              <a:t>Silvia’s Idea</a:t>
            </a:r>
          </a:p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</a:p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  <a:r>
              <a:t>Please’s Idea</a:t>
            </a:r>
          </a:p>
        </p:txBody>
      </p:sp>
      <p:sp>
        <p:nvSpPr>
          <p:cNvPr id="255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25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3426" y="1449083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Motivation: The false tie problem</a:t>
            </a:r>
          </a:p>
        </p:txBody>
      </p:sp>
      <p:pic>
        <p:nvPicPr>
          <p:cNvPr id="25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8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61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sp>
        <p:nvSpPr>
          <p:cNvPr id="262" name="object 4"/>
          <p:cNvSpPr txBox="1"/>
          <p:nvPr/>
        </p:nvSpPr>
        <p:spPr>
          <a:xfrm>
            <a:off x="402930" y="712441"/>
            <a:ext cx="4765044" cy="1601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Context: </a:t>
            </a:r>
            <a:r>
              <a:t>In the original ML-RCS scheduler, the priority function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ϵ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defines the main scheduling force.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Problem:</a:t>
            </a:r>
            <a:r>
              <a:t> When two nodes have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the scheduler breaks ties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arbitrarily (e.g., by node ID).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This leads to unstable or suboptimal schedules, since some nodes are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structurally harder to fit than others.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Goal:</a:t>
            </a:r>
            <a:r>
              <a:t> Introduce a tie-breaking which makes more consistent scheduling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decisions, thanks to structural awareness and path rigidity awareness.</a:t>
            </a:r>
          </a:p>
        </p:txBody>
      </p:sp>
      <p:pic>
        <p:nvPicPr>
          <p:cNvPr id="26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8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object 12" descr="object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375" y="2048370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 for a Rigidity Metric</a:t>
            </a:r>
          </a:p>
        </p:txBody>
      </p:sp>
      <p:pic>
        <p:nvPicPr>
          <p:cNvPr id="2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8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69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sp>
        <p:nvSpPr>
          <p:cNvPr id="270" name="object 4"/>
          <p:cNvSpPr txBox="1"/>
          <p:nvPr/>
        </p:nvSpPr>
        <p:spPr>
          <a:xfrm>
            <a:off x="402930" y="712441"/>
            <a:ext cx="4765044" cy="687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standard ML-RCS force function accounts for temporal urgency and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resource congestion, but it ignores the structural rigidity of the DFG.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ϵ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defines the main scheduling force.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fact, Two nodes with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 </a:t>
            </a:r>
            <a:r>
              <a:t>values can differ significantly:</a:t>
            </a:r>
          </a:p>
        </p:txBody>
      </p:sp>
      <p:pic>
        <p:nvPicPr>
          <p:cNvPr id="27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8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object 4"/>
          <p:cNvSpPr txBox="1"/>
          <p:nvPr/>
        </p:nvSpPr>
        <p:spPr>
          <a:xfrm>
            <a:off x="619973" y="1444015"/>
            <a:ext cx="4765044" cy="1087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One may lead to a long, sequential downstream chain that is difficult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place later.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Another may lead to short or parallel branches that are easier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accommodate.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73" name="object 4"/>
          <p:cNvSpPr txBox="1"/>
          <p:nvPr/>
        </p:nvSpPr>
        <p:spPr>
          <a:xfrm>
            <a:off x="402930" y="2093611"/>
            <a:ext cx="4765044" cy="45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To capture this structural aspect, a rigidity metric called </a:t>
            </a:r>
            <a:r>
              <a:rPr b="1" i="1"/>
              <a:t>stiffness </a:t>
            </a:r>
            <a:r>
              <a:t>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introduced, quantifying how rigid or inflexible the paths following a node are,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based on the squared latency of its successors.</a:t>
            </a:r>
          </a:p>
        </p:txBody>
      </p:sp>
      <p:pic>
        <p:nvPicPr>
          <p:cNvPr id="27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489803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791707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37503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Mathematical Definition of Stiffness</a:t>
            </a:r>
          </a:p>
        </p:txBody>
      </p:sp>
      <p:pic>
        <p:nvPicPr>
          <p:cNvPr id="27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81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28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191249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711576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object 4"/>
          <p:cNvSpPr txBox="1"/>
          <p:nvPr/>
        </p:nvSpPr>
        <p:spPr>
          <a:xfrm>
            <a:off x="402930" y="712441"/>
            <a:ext cx="4765044" cy="789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m:rPr>
                    <m:sty m:val="p"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= all the paths starting from a child of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t> and ending at sink, each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containing operations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  <a:r>
              <a:t> with latency </a:t>
            </a:r>
            <a14:m>
              <m:oMath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lim>
                  </m:limLow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m:rPr>
                      <m:nor/>
                    </m:rP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latency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e>
                    <m:sup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</a:p>
        </p:txBody>
      </p:sp>
      <p:sp>
        <p:nvSpPr>
          <p:cNvPr id="285" name="object 4"/>
          <p:cNvSpPr txBox="1"/>
          <p:nvPr/>
        </p:nvSpPr>
        <p:spPr>
          <a:xfrm>
            <a:off x="402930" y="1654888"/>
            <a:ext cx="4765044" cy="176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this way, the squared term penalizes long-latency operations more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strongly, while the maximum selects the most rigid successor path.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Interpretation: if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higher, it means that the path is more rigid and less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flexible, so it should be scheduled earlier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Normalization: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obtained by normalizing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to have a value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between 0 and 1, and then performing </a:t>
            </a:r>
            <a:r>
              <a:rPr i="1"/>
              <a:t>( 1 - normalized version )</a:t>
            </a:r>
            <a:r>
              <a:t> in order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get higher priority (lower value) for higher stiffness</a:t>
            </a:r>
            <a:r>
              <a:rPr i="1"/>
              <a:t> 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92204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685533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Implementation</a:t>
            </a:r>
          </a:p>
        </p:txBody>
      </p:sp>
      <p:pic>
        <p:nvPicPr>
          <p:cNvPr id="29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8575" y="771889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object 15"/>
          <p:cNvSpPr txBox="1"/>
          <p:nvPr/>
        </p:nvSpPr>
        <p:spPr>
          <a:xfrm>
            <a:off x="-102758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92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29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8575" y="196620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object 4"/>
          <p:cNvSpPr txBox="1"/>
          <p:nvPr/>
        </p:nvSpPr>
        <p:spPr>
          <a:xfrm>
            <a:off x="402930" y="712441"/>
            <a:ext cx="476504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calculate_stiffness_term(available_ops)</a:t>
            </a:r>
          </a:p>
        </p:txBody>
      </p:sp>
      <p:sp>
        <p:nvSpPr>
          <p:cNvPr id="295" name="object 4"/>
          <p:cNvSpPr txBox="1"/>
          <p:nvPr/>
        </p:nvSpPr>
        <p:spPr>
          <a:xfrm>
            <a:off x="606437" y="895470"/>
            <a:ext cx="476504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For</a:t>
            </a:r>
            <a:r>
              <a:t> each node in available_ops</a:t>
            </a:r>
          </a:p>
        </p:txBody>
      </p:sp>
      <p:sp>
        <p:nvSpPr>
          <p:cNvPr id="296" name="object 4"/>
          <p:cNvSpPr txBox="1"/>
          <p:nvPr/>
        </p:nvSpPr>
        <p:spPr>
          <a:xfrm>
            <a:off x="402930" y="1907350"/>
            <a:ext cx="4765044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get_stiffness(node)</a:t>
            </a:r>
          </a:p>
        </p:txBody>
      </p:sp>
      <p:sp>
        <p:nvSpPr>
          <p:cNvPr id="297" name="object 4"/>
          <p:cNvSpPr txBox="1"/>
          <p:nvPr/>
        </p:nvSpPr>
        <p:spPr>
          <a:xfrm>
            <a:off x="733437" y="1075889"/>
            <a:ext cx="4765043" cy="341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If</a:t>
            </a:r>
            <a:r>
              <a:t> node has no children, stiffness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0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Else</a:t>
            </a:r>
            <a:r>
              <a:t> find max stiffness across children. </a:t>
            </a:r>
          </a:p>
        </p:txBody>
      </p:sp>
      <p:sp>
        <p:nvSpPr>
          <p:cNvPr id="298" name="object 4"/>
          <p:cNvSpPr txBox="1"/>
          <p:nvPr/>
        </p:nvSpPr>
        <p:spPr>
          <a:xfrm>
            <a:off x="606437" y="1490829"/>
            <a:ext cx="4765043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Return</a:t>
            </a:r>
            <a:r>
              <a:t> </a:t>
            </a:r>
            <a:r>
              <a:rPr b="1"/>
              <a:t> </a:t>
            </a:r>
            <a:r>
              <a:t>1 -  normalized(stiffness) </a:t>
            </a:r>
            <a:r>
              <a:rPr i="1"/>
              <a:t>// List</a:t>
            </a:r>
          </a:p>
        </p:txBody>
      </p:sp>
      <p:sp>
        <p:nvSpPr>
          <p:cNvPr id="299" name="object 4"/>
          <p:cNvSpPr txBox="1"/>
          <p:nvPr/>
        </p:nvSpPr>
        <p:spPr>
          <a:xfrm>
            <a:off x="606437" y="2123410"/>
            <a:ext cx="4765043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If </a:t>
            </a:r>
            <a:r>
              <a:t>already computed for this node, return it</a:t>
            </a: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</a:p>
        </p:txBody>
      </p:sp>
      <p:sp>
        <p:nvSpPr>
          <p:cNvPr id="300" name="Compute latency squared for this node…"/>
          <p:cNvSpPr txBox="1"/>
          <p:nvPr/>
        </p:nvSpPr>
        <p:spPr>
          <a:xfrm>
            <a:off x="689999" y="2419829"/>
            <a:ext cx="2828202" cy="544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Compute latency squared for this node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If</a:t>
            </a:r>
            <a:r>
              <a:t> node has no children, return it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Else</a:t>
            </a:r>
            <a:r>
              <a:t> recursively find max across its children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Integration into the Force Function</a:t>
            </a:r>
          </a:p>
        </p:txBody>
      </p:sp>
      <p:pic>
        <p:nvPicPr>
          <p:cNvPr id="30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05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0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object 4"/>
          <p:cNvSpPr txBox="1"/>
          <p:nvPr/>
        </p:nvSpPr>
        <p:spPr>
          <a:xfrm>
            <a:off x="402930" y="712441"/>
            <a:ext cx="4765044" cy="341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Rather than using stiffness only as a tie-breaker, it is directly embedded into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main force: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ϵ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308" name="object 4"/>
          <p:cNvSpPr txBox="1"/>
          <p:nvPr/>
        </p:nvSpPr>
        <p:spPr>
          <a:xfrm>
            <a:off x="402930" y="1790980"/>
            <a:ext cx="4765044" cy="60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Effect:</a:t>
            </a:r>
            <a:r>
              <a:t> Nodes with more rigid successors slightly decrease their total force,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causing them to be scheduled earlier.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9" name="object 4"/>
          <p:cNvSpPr txBox="1"/>
          <p:nvPr/>
        </p:nvSpPr>
        <p:spPr>
          <a:xfrm>
            <a:off x="660503" y="1134248"/>
            <a:ext cx="4765043" cy="576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temporal urgency (slack)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resource congestion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: normalized stiffness term</a:t>
            </a:r>
          </a:p>
        </p:txBody>
      </p:sp>
      <p:pic>
        <p:nvPicPr>
          <p:cNvPr id="31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70" y="1402523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70" y="1586616"/>
            <a:ext cx="65267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70" y="1195595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Descendant-Based Tie-Breaker (Priority 3)</a:t>
            </a:r>
          </a:p>
        </p:txBody>
      </p:sp>
      <p:pic>
        <p:nvPicPr>
          <p:cNvPr id="31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17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1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object 4"/>
          <p:cNvSpPr txBox="1"/>
          <p:nvPr/>
        </p:nvSpPr>
        <p:spPr>
          <a:xfrm>
            <a:off x="402930" y="1790980"/>
            <a:ext cx="4765044" cy="909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Effect:</a:t>
            </a:r>
            <a:r>
              <a:t> Having more children gives a higher potential to unlock parallelism.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negative sign ensures that the scheduler, which sorts ascending,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assigns higher priority to nodes with more descendants.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0" name="object 4"/>
          <p:cNvSpPr txBox="1"/>
          <p:nvPr/>
        </p:nvSpPr>
        <p:spPr>
          <a:xfrm>
            <a:off x="402930" y="712441"/>
            <a:ext cx="4765044" cy="105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When two nodes still have still equal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and thus the tie-breaking 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arbitrary, we apply an additional criterion based on unlock potential: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t>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Where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is an anchestor of 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other words, it is the number of immediate children.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Final sorting hierarchy</a:t>
            </a:r>
          </a:p>
        </p:txBody>
      </p:sp>
      <p:pic>
        <p:nvPicPr>
          <p:cNvPr id="32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25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2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040300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object 4"/>
          <p:cNvSpPr txBox="1"/>
          <p:nvPr/>
        </p:nvSpPr>
        <p:spPr>
          <a:xfrm>
            <a:off x="402930" y="1998815"/>
            <a:ext cx="4765044" cy="757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Effect:</a:t>
            </a:r>
            <a:r>
              <a:t> This hierarchy resolves ties consistently while incorporating structural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information and parallelism potential.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8" name="object 4"/>
          <p:cNvSpPr txBox="1"/>
          <p:nvPr/>
        </p:nvSpPr>
        <p:spPr>
          <a:xfrm>
            <a:off x="402930" y="712441"/>
            <a:ext cx="5388773" cy="8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Level 1:</a:t>
            </a:r>
            <a:r>
              <a:t>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- Original force enhanced with rigidity awareness. It is minimized.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Level 2: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 - Prefer nodes that unlock more successors.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Level 3:</a:t>
            </a:r>
            <a:r>
              <a:t> </a:t>
            </a:r>
            <a:r>
              <a:rPr i="1"/>
              <a:t>Node ID - </a:t>
            </a:r>
            <a:r>
              <a:t>Stable ordering in case of full tie.</a:t>
            </a:r>
          </a:p>
        </p:txBody>
      </p:sp>
      <p:pic>
        <p:nvPicPr>
          <p:cNvPr id="32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137500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464240"/>
            <a:ext cx="65267" cy="652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Outcome</a:t>
            </a:r>
          </a:p>
        </p:txBody>
      </p:sp>
      <p:sp>
        <p:nvSpPr>
          <p:cNvPr id="333" name="object 15"/>
          <p:cNvSpPr txBox="1"/>
          <p:nvPr/>
        </p:nvSpPr>
        <p:spPr>
          <a:xfrm>
            <a:off x="4810" y="1572522"/>
            <a:ext cx="476887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34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3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object 15"/>
          <p:cNvSpPr txBox="1"/>
          <p:nvPr/>
        </p:nvSpPr>
        <p:spPr>
          <a:xfrm>
            <a:off x="-292647" y="2188464"/>
            <a:ext cx="476887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3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062285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357265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object 4"/>
          <p:cNvSpPr txBox="1"/>
          <p:nvPr/>
        </p:nvSpPr>
        <p:spPr>
          <a:xfrm>
            <a:off x="402930" y="712441"/>
            <a:ext cx="5388773" cy="1062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Eliminates random tie behavior.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Captures rigidity of successor paths via stiffness.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Promotes parallelism using descendant-based tie-breaking.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Keeps complexity low through memoization and local computations.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object 2"/>
          <p:cNvSpPr txBox="1"/>
          <p:nvPr>
            <p:ph type="title"/>
          </p:nvPr>
        </p:nvSpPr>
        <p:spPr>
          <a:xfrm>
            <a:off x="95298" y="61884"/>
            <a:ext cx="3497583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Please’s idea</a:t>
            </a:r>
          </a:p>
        </p:txBody>
      </p:sp>
      <p:pic>
        <p:nvPicPr>
          <p:cNvPr id="34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object 4"/>
          <p:cNvSpPr txBox="1"/>
          <p:nvPr/>
        </p:nvSpPr>
        <p:spPr>
          <a:xfrm>
            <a:off x="402930" y="712441"/>
            <a:ext cx="4765044" cy="2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115000"/>
              </a:lnSpc>
              <a:spcBef>
                <a:spcPts val="1200"/>
              </a:spcBef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To improve responsiveness to real scheduling conditions, I introduced </a:t>
            </a:r>
            <a:r>
              <a:rPr b="1"/>
              <a:t>dynamic priority computation</a:t>
            </a:r>
            <a:r>
              <a:t>:</a:t>
            </a:r>
          </a:p>
          <a:p>
            <a:pPr marL="457200" indent="-228600" defTabSz="457200">
              <a:lnSpc>
                <a:spcPct val="115000"/>
              </a:lnSpc>
              <a:spcBef>
                <a:spcPts val="1200"/>
              </a:spcBef>
              <a:buSzPct val="100000"/>
              <a:buAutoNum type="arabicPeriod" startAt="1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Priorities are recomputed at every cycle</a:t>
            </a:r>
            <a:r>
              <a:t>, not just once at the beginning</a:t>
            </a:r>
          </a:p>
          <a:p>
            <a:pPr marL="457200" indent="-228600" defTabSz="457200">
              <a:lnSpc>
                <a:spcPct val="115000"/>
              </a:lnSpc>
              <a:buSzPct val="100000"/>
              <a:buAutoNum type="arabicPeriod" startAt="1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Both latency force and congestion force now incorporate </a:t>
            </a:r>
            <a:r>
              <a:rPr b="1"/>
              <a:t>current events</a:t>
            </a:r>
            <a:r>
              <a:t>:</a:t>
            </a:r>
          </a:p>
          <a:p>
            <a:pPr lvl="1" marL="914400" indent="-228600" defTabSz="457200">
              <a:lnSpc>
                <a:spcPct val="115000"/>
              </a:lnSpc>
              <a:buSzPct val="100000"/>
              <a:buChar char="○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Number of active operations</a:t>
            </a:r>
          </a:p>
          <a:p>
            <a:pPr lvl="1" marL="914400" indent="-228600" defTabSz="457200">
              <a:lnSpc>
                <a:spcPct val="115000"/>
              </a:lnSpc>
              <a:buSzPct val="100000"/>
              <a:buChar char="○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Resource usage at this cycle</a:t>
            </a:r>
          </a:p>
          <a:p>
            <a:pPr lvl="1" marL="914400" indent="-228600" defTabSz="457200">
              <a:lnSpc>
                <a:spcPct val="115000"/>
              </a:lnSpc>
              <a:buSzPct val="100000"/>
              <a:buChar char="○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Changes in mobility windows as nodes are scheduled</a:t>
            </a:r>
            <a:br/>
          </a:p>
          <a:p>
            <a:pPr marL="457200" indent="-228600" defTabSz="457200">
              <a:lnSpc>
                <a:spcPct val="115000"/>
              </a:lnSpc>
              <a:spcBef>
                <a:spcPts val="1200"/>
              </a:spcBef>
              <a:buSzPct val="100000"/>
              <a:buAutoNum type="arabicPeriod" startAt="1"/>
              <a:defRPr sz="11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This yields a priority model that reflects </a:t>
            </a:r>
            <a:r>
              <a:rPr i="1"/>
              <a:t>real-time scheduling pressure</a:t>
            </a:r>
            <a:r>
              <a:t>.</a:t>
            </a:r>
          </a:p>
        </p:txBody>
      </p:sp>
      <p:pic>
        <p:nvPicPr>
          <p:cNvPr id="34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952104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47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object 2"/>
          <p:cNvSpPr txBox="1"/>
          <p:nvPr>
            <p:ph type="title"/>
          </p:nvPr>
        </p:nvSpPr>
        <p:spPr>
          <a:xfrm>
            <a:off x="95298" y="61884"/>
            <a:ext cx="5380308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Latency improvement vs DFGs (LS-std, LS-enhanced, FALLS, FDS)</a:t>
            </a:r>
          </a:p>
        </p:txBody>
      </p:sp>
      <p:sp>
        <p:nvSpPr>
          <p:cNvPr id="35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51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52" name="file_2025-12-11_20.04.47.png" descr="file_2025-12-11_20.04.4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979" y="1154815"/>
            <a:ext cx="2677889" cy="1329449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Uniform"/>
          <p:cNvSpPr txBox="1"/>
          <p:nvPr/>
        </p:nvSpPr>
        <p:spPr>
          <a:xfrm>
            <a:off x="716301" y="816117"/>
            <a:ext cx="1511245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54" name="InvDelay"/>
          <p:cNvSpPr txBox="1"/>
          <p:nvPr/>
        </p:nvSpPr>
        <p:spPr>
          <a:xfrm>
            <a:off x="3510473" y="816117"/>
            <a:ext cx="1511246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55" name="file_2025-12-11_20.05.04.png" descr="file_2025-12-11_20.05.0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0084" y="1132840"/>
            <a:ext cx="2772024" cy="13733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object 2"/>
          <p:cNvSpPr txBox="1"/>
          <p:nvPr>
            <p:ph type="title"/>
          </p:nvPr>
        </p:nvSpPr>
        <p:spPr>
          <a:xfrm>
            <a:off x="95298" y="61884"/>
            <a:ext cx="5380308" cy="2444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Runtime vs DFGs size (LS-std, LS-enhanced, FDS)</a:t>
            </a:r>
          </a:p>
        </p:txBody>
      </p:sp>
      <p:sp>
        <p:nvSpPr>
          <p:cNvPr id="358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59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sp>
        <p:nvSpPr>
          <p:cNvPr id="360" name="Uniform"/>
          <p:cNvSpPr txBox="1"/>
          <p:nvPr/>
        </p:nvSpPr>
        <p:spPr>
          <a:xfrm>
            <a:off x="716301" y="816117"/>
            <a:ext cx="1511245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61" name="InvDelay"/>
          <p:cNvSpPr txBox="1"/>
          <p:nvPr/>
        </p:nvSpPr>
        <p:spPr>
          <a:xfrm>
            <a:off x="3510473" y="816117"/>
            <a:ext cx="1511246" cy="239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62" name="file_2025-12-11_20.05.17.png" descr="file_2025-12-11_20.05.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992" y="1204872"/>
            <a:ext cx="2601862" cy="1289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" name="file_2025-12-11_20.05.30.png" descr="file_2025-12-11_20.05.3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65165" y="1204872"/>
            <a:ext cx="2601862" cy="1289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Results Analysis</a:t>
            </a:r>
          </a:p>
        </p:txBody>
      </p:sp>
      <p:sp>
        <p:nvSpPr>
          <p:cNvPr id="36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67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sp>
        <p:nvSpPr>
          <p:cNvPr id="368" name="object 15"/>
          <p:cNvSpPr txBox="1"/>
          <p:nvPr/>
        </p:nvSpPr>
        <p:spPr>
          <a:xfrm>
            <a:off x="4810" y="1572522"/>
            <a:ext cx="476887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6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062285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object 4"/>
          <p:cNvSpPr txBox="1"/>
          <p:nvPr/>
        </p:nvSpPr>
        <p:spPr>
          <a:xfrm>
            <a:off x="402930" y="712441"/>
            <a:ext cx="5388773" cy="1214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From the graphs before, it can be observed that the new approach is successful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Runtime experiments confirm that the enhanced scheduler maintains similar asymptotic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complexity but performs fewer mis-scheduling iterations, resulting in faster convergence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for large DFGs.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Time improvement in the final version is consistent, giving better results than both LS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and FALLS (even though with 1.5 factor)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object 2"/>
          <p:cNvSpPr txBox="1"/>
          <p:nvPr>
            <p:ph type="title"/>
          </p:nvPr>
        </p:nvSpPr>
        <p:spPr>
          <a:xfrm>
            <a:off x="95298" y="61884"/>
            <a:ext cx="5575203" cy="244477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Conclusion</a:t>
            </a:r>
          </a:p>
        </p:txBody>
      </p:sp>
      <p:sp>
        <p:nvSpPr>
          <p:cNvPr id="375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76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sp>
        <p:nvSpPr>
          <p:cNvPr id="377" name="object 15"/>
          <p:cNvSpPr txBox="1"/>
          <p:nvPr/>
        </p:nvSpPr>
        <p:spPr>
          <a:xfrm>
            <a:off x="4810" y="1572522"/>
            <a:ext cx="476887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7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7" cy="65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220323"/>
            <a:ext cx="65267" cy="65267"/>
          </a:xfrm>
          <a:prstGeom prst="rect">
            <a:avLst/>
          </a:prstGeom>
          <a:ln w="12700">
            <a:miter lim="400000"/>
          </a:ln>
        </p:spPr>
      </p:pic>
      <p:sp>
        <p:nvSpPr>
          <p:cNvPr id="380" name="object 4"/>
          <p:cNvSpPr txBox="1"/>
          <p:nvPr/>
        </p:nvSpPr>
        <p:spPr>
          <a:xfrm>
            <a:off x="402930" y="712441"/>
            <a:ext cx="5388773" cy="60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From the results discussed before, it is clear that the new approach consistently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outperforms baseline LS and FDS on realistic benchmarks.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Runtime behavior aligns with theoretical predictions and demonstrates strong scalability.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