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</p:sldIdLst>
  <p:sldSz cx="5765800" cy="3238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62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63" name="Shape 63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Aptos"/>
      </a:defRPr>
    </a:lvl1pPr>
    <a:lvl2pPr indent="228600" latinLnBrk="0">
      <a:defRPr sz="1200">
        <a:latin typeface="+mj-lt"/>
        <a:ea typeface="+mj-ea"/>
        <a:cs typeface="+mj-cs"/>
        <a:sym typeface="Aptos"/>
      </a:defRPr>
    </a:lvl2pPr>
    <a:lvl3pPr indent="457200" latinLnBrk="0">
      <a:defRPr sz="1200">
        <a:latin typeface="+mj-lt"/>
        <a:ea typeface="+mj-ea"/>
        <a:cs typeface="+mj-cs"/>
        <a:sym typeface="Aptos"/>
      </a:defRPr>
    </a:lvl3pPr>
    <a:lvl4pPr indent="685800" latinLnBrk="0">
      <a:defRPr sz="1200">
        <a:latin typeface="+mj-lt"/>
        <a:ea typeface="+mj-ea"/>
        <a:cs typeface="+mj-cs"/>
        <a:sym typeface="Aptos"/>
      </a:defRPr>
    </a:lvl4pPr>
    <a:lvl5pPr indent="914400" latinLnBrk="0">
      <a:defRPr sz="1200">
        <a:latin typeface="+mj-lt"/>
        <a:ea typeface="+mj-ea"/>
        <a:cs typeface="+mj-cs"/>
        <a:sym typeface="Aptos"/>
      </a:defRPr>
    </a:lvl5pPr>
    <a:lvl6pPr indent="1143000" latinLnBrk="0">
      <a:defRPr sz="1200">
        <a:latin typeface="+mj-lt"/>
        <a:ea typeface="+mj-ea"/>
        <a:cs typeface="+mj-cs"/>
        <a:sym typeface="Aptos"/>
      </a:defRPr>
    </a:lvl6pPr>
    <a:lvl7pPr indent="1371600" latinLnBrk="0">
      <a:defRPr sz="1200">
        <a:latin typeface="+mj-lt"/>
        <a:ea typeface="+mj-ea"/>
        <a:cs typeface="+mj-cs"/>
        <a:sym typeface="Aptos"/>
      </a:defRPr>
    </a:lvl7pPr>
    <a:lvl8pPr indent="1600200" latinLnBrk="0">
      <a:defRPr sz="1200">
        <a:latin typeface="+mj-lt"/>
        <a:ea typeface="+mj-ea"/>
        <a:cs typeface="+mj-cs"/>
        <a:sym typeface="Aptos"/>
      </a:defRPr>
    </a:lvl8pPr>
    <a:lvl9pPr indent="1828800" latinLnBrk="0">
      <a:defRPr sz="1200">
        <a:latin typeface="+mj-lt"/>
        <a:ea typeface="+mj-ea"/>
        <a:cs typeface="+mj-cs"/>
        <a:sym typeface="Aptos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Text"/>
          <p:cNvSpPr txBox="1"/>
          <p:nvPr>
            <p:ph type="title"/>
          </p:nvPr>
        </p:nvSpPr>
        <p:spPr>
          <a:xfrm>
            <a:off x="432434" y="1005903"/>
            <a:ext cx="4900932" cy="68142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3" name="Body Level One…"/>
          <p:cNvSpPr txBox="1"/>
          <p:nvPr>
            <p:ph type="body" sz="quarter" idx="1"/>
          </p:nvPr>
        </p:nvSpPr>
        <p:spPr>
          <a:xfrm>
            <a:off x="864869" y="1817116"/>
            <a:ext cx="4036063" cy="811215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le and Content 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Body Level One…"/>
          <p:cNvSpPr txBox="1"/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half" idx="1"/>
          </p:nvPr>
        </p:nvSpPr>
        <p:spPr>
          <a:xfrm>
            <a:off x="288290" y="746315"/>
            <a:ext cx="2508126" cy="2141604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g object 16"/>
          <p:cNvSpPr/>
          <p:nvPr/>
        </p:nvSpPr>
        <p:spPr>
          <a:xfrm>
            <a:off x="-2" y="-1"/>
            <a:ext cx="5760000" cy="354154"/>
          </a:xfrm>
          <a:prstGeom prst="rect">
            <a:avLst/>
          </a:prstGeom>
          <a:solidFill>
            <a:srgbClr val="CCD9E7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3" name="Title Text"/>
          <p:cNvSpPr txBox="1"/>
          <p:nvPr>
            <p:ph type="title"/>
          </p:nvPr>
        </p:nvSpPr>
        <p:spPr>
          <a:xfrm>
            <a:off x="95300" y="61884"/>
            <a:ext cx="3497580" cy="2444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4" name="Body Level One…"/>
          <p:cNvSpPr txBox="1"/>
          <p:nvPr>
            <p:ph type="body" idx="1"/>
          </p:nvPr>
        </p:nvSpPr>
        <p:spPr>
          <a:xfrm>
            <a:off x="100444" y="711744"/>
            <a:ext cx="4986021" cy="10661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sz="600"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 xmlns:p14="http://schemas.microsoft.com/office/powerpoint/2010/main" spd="med" advClick="1"/>
  <p:txStyles>
    <p:title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400" u="none">
          <a:solidFill>
            <a:srgbClr val="00468C"/>
          </a:solidFill>
          <a:uFillTx/>
          <a:latin typeface="Arial"/>
          <a:ea typeface="Arial"/>
          <a:cs typeface="Arial"/>
          <a:sym typeface="Arial"/>
        </a:defRPr>
      </a:lvl9pPr>
    </p:titleStyle>
    <p:body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100" u="none">
          <a:solidFill>
            <a:srgbClr val="000000"/>
          </a:solidFill>
          <a:uFillTx/>
          <a:latin typeface="Tahoma"/>
          <a:ea typeface="Tahoma"/>
          <a:cs typeface="Tahoma"/>
          <a:sym typeface="Tahoma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600" u="none">
          <a:solidFill>
            <a:schemeClr val="tx1"/>
          </a:solidFill>
          <a:uFillTx/>
          <a:latin typeface="+mn-lt"/>
          <a:ea typeface="+mn-ea"/>
          <a:cs typeface="+mn-cs"/>
          <a:sym typeface="Lucida Sans Unicod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" Target="slide8.xml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slide" Target="slide15.xml"/><Relationship Id="rId8" Type="http://schemas.openxmlformats.org/officeDocument/2006/relationships/image" Target="../media/image5.png"/><Relationship Id="rId9" Type="http://schemas.openxmlformats.org/officeDocument/2006/relationships/image" Target="../media/image6.png"/><Relationship Id="rId10" Type="http://schemas.openxmlformats.org/officeDocument/2006/relationships/image" Target="../media/image7.png"/><Relationship Id="rId11" Type="http://schemas.openxmlformats.org/officeDocument/2006/relationships/slide" Target="slide9.xml"/><Relationship Id="rId12" Type="http://schemas.openxmlformats.org/officeDocument/2006/relationships/slide" Target="slide27.xml"/><Relationship Id="rId13" Type="http://schemas.openxmlformats.org/officeDocument/2006/relationships/slide" Target="slide28.xml"/><Relationship Id="rId14" Type="http://schemas.openxmlformats.org/officeDocument/2006/relationships/slide" Target="slide3.xml"/><Relationship Id="rId15" Type="http://schemas.openxmlformats.org/officeDocument/2006/relationships/slide" Target="slide38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3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image" Target="../media/image18.png"/><Relationship Id="rId7" Type="http://schemas.openxmlformats.org/officeDocument/2006/relationships/image" Target="../media/image19.png"/><Relationship Id="rId8" Type="http://schemas.openxmlformats.org/officeDocument/2006/relationships/image" Target="../media/image20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3.png"/><Relationship Id="rId5" Type="http://schemas.openxmlformats.org/officeDocument/2006/relationships/image" Target="../media/image24.png"/><Relationship Id="rId6" Type="http://schemas.openxmlformats.org/officeDocument/2006/relationships/image" Target="../media/image25.png"/><Relationship Id="rId7" Type="http://schemas.openxmlformats.org/officeDocument/2006/relationships/image" Target="../media/image26.png"/><Relationship Id="rId8" Type="http://schemas.openxmlformats.org/officeDocument/2006/relationships/image" Target="../media/image27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8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image" Target="../media/image32.png"/><Relationship Id="rId7" Type="http://schemas.openxmlformats.org/officeDocument/2006/relationships/image" Target="../media/image27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Relationship Id="rId4" Type="http://schemas.openxmlformats.org/officeDocument/2006/relationships/image" Target="../media/image35.png"/><Relationship Id="rId5" Type="http://schemas.openxmlformats.org/officeDocument/2006/relationships/image" Target="../media/image36.png"/><Relationship Id="rId6" Type="http://schemas.openxmlformats.org/officeDocument/2006/relationships/image" Target="../media/image37.png"/><Relationship Id="rId7" Type="http://schemas.openxmlformats.org/officeDocument/2006/relationships/image" Target="../media/image38.png"/><Relationship Id="rId8" Type="http://schemas.openxmlformats.org/officeDocument/2006/relationships/image" Target="../media/image39.png"/><Relationship Id="rId9" Type="http://schemas.openxmlformats.org/officeDocument/2006/relationships/image" Target="../media/image40.png"/><Relationship Id="rId10" Type="http://schemas.openxmlformats.org/officeDocument/2006/relationships/image" Target="../media/image41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Relationship Id="rId3" Type="http://schemas.openxmlformats.org/officeDocument/2006/relationships/image" Target="../media/image44.png"/><Relationship Id="rId4" Type="http://schemas.openxmlformats.org/officeDocument/2006/relationships/image" Target="../media/image43.png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png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48.png"/><Relationship Id="rId4" Type="http://schemas.openxmlformats.org/officeDocument/2006/relationships/image" Target="../media/image49.png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Relationship Id="rId3" Type="http://schemas.openxmlformats.org/officeDocument/2006/relationships/image" Target="../media/image50.png"/><Relationship Id="rId4" Type="http://schemas.openxmlformats.org/officeDocument/2006/relationships/image" Target="../media/image51.png"/><Relationship Id="rId5" Type="http://schemas.openxmlformats.org/officeDocument/2006/relationships/image" Target="../media/image52.png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Relationship Id="rId4" Type="http://schemas.openxmlformats.org/officeDocument/2006/relationships/image" Target="../media/image26.png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3.png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4.png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5.png"/><Relationship Id="rId3" Type="http://schemas.openxmlformats.org/officeDocument/2006/relationships/image" Target="../media/image56.png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7.png"/><Relationship Id="rId3" Type="http://schemas.openxmlformats.org/officeDocument/2006/relationships/image" Target="../media/image58.png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/Relationships>

</file>

<file path=ppt/slides/_rels/slide3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3" Type="http://schemas.openxmlformats.org/officeDocument/2006/relationships/image" Target="../media/image22.png"/></Relationships>

</file>

<file path=ppt/slides/_rels/slide3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8" name="object 2"/>
          <p:cNvGrpSpPr/>
          <p:nvPr/>
        </p:nvGrpSpPr>
        <p:grpSpPr>
          <a:xfrm>
            <a:off x="87740" y="571079"/>
            <a:ext cx="5635387" cy="771937"/>
            <a:chOff x="0" y="-1"/>
            <a:chExt cx="5635386" cy="771936"/>
          </a:xfrm>
        </p:grpSpPr>
        <p:sp>
          <p:nvSpPr>
            <p:cNvPr id="65" name="object 3"/>
            <p:cNvSpPr/>
            <p:nvPr/>
          </p:nvSpPr>
          <p:spPr>
            <a:xfrm>
              <a:off x="-1" y="-2"/>
              <a:ext cx="5584586" cy="8238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404" y="0"/>
                  </a:moveTo>
                  <a:lnTo>
                    <a:pt x="196" y="0"/>
                  </a:lnTo>
                  <a:lnTo>
                    <a:pt x="120" y="1051"/>
                  </a:lnTo>
                  <a:lnTo>
                    <a:pt x="58" y="3912"/>
                  </a:lnTo>
                  <a:lnTo>
                    <a:pt x="16" y="8147"/>
                  </a:lnTo>
                  <a:lnTo>
                    <a:pt x="0" y="13319"/>
                  </a:lnTo>
                  <a:lnTo>
                    <a:pt x="0" y="21600"/>
                  </a:lnTo>
                  <a:lnTo>
                    <a:pt x="21600" y="21600"/>
                  </a:lnTo>
                  <a:lnTo>
                    <a:pt x="21600" y="13319"/>
                  </a:lnTo>
                  <a:lnTo>
                    <a:pt x="21584" y="8147"/>
                  </a:lnTo>
                  <a:lnTo>
                    <a:pt x="21542" y="3912"/>
                  </a:lnTo>
                  <a:lnTo>
                    <a:pt x="21480" y="1051"/>
                  </a:lnTo>
                  <a:lnTo>
                    <a:pt x="21404" y="0"/>
                  </a:lnTo>
                  <a:close/>
                </a:path>
              </a:pathLst>
            </a:custGeom>
            <a:solidFill>
              <a:srgbClr val="CCD9E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6" name="object 4"/>
            <p:cNvSpPr/>
            <p:nvPr/>
          </p:nvSpPr>
          <p:spPr>
            <a:xfrm>
              <a:off x="50800" y="63243"/>
              <a:ext cx="5584586" cy="708693"/>
            </a:xfrm>
            <a:prstGeom prst="rect">
              <a:avLst/>
            </a:prstGeom>
            <a:solidFill>
              <a:srgbClr val="00000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sp>
          <p:nvSpPr>
            <p:cNvPr id="67" name="object 5"/>
            <p:cNvSpPr/>
            <p:nvPr/>
          </p:nvSpPr>
          <p:spPr>
            <a:xfrm>
              <a:off x="-1" y="44408"/>
              <a:ext cx="5584586" cy="67672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979"/>
                  </a:lnTo>
                  <a:lnTo>
                    <a:pt x="16" y="20608"/>
                  </a:lnTo>
                  <a:lnTo>
                    <a:pt x="58" y="21124"/>
                  </a:lnTo>
                  <a:lnTo>
                    <a:pt x="120" y="2147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72"/>
                  </a:lnTo>
                  <a:lnTo>
                    <a:pt x="21542" y="21124"/>
                  </a:lnTo>
                  <a:lnTo>
                    <a:pt x="21584" y="20608"/>
                  </a:lnTo>
                  <a:lnTo>
                    <a:pt x="21600" y="19979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CCD9E7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69" name="object 6"/>
          <p:cNvSpPr txBox="1"/>
          <p:nvPr>
            <p:ph type="title"/>
          </p:nvPr>
        </p:nvSpPr>
        <p:spPr>
          <a:xfrm>
            <a:off x="138542" y="634324"/>
            <a:ext cx="5584830" cy="709298"/>
          </a:xfrm>
          <a:prstGeom prst="rect">
            <a:avLst/>
          </a:prstGeom>
        </p:spPr>
        <p:txBody>
          <a:bodyPr/>
          <a:lstStyle/>
          <a:p>
            <a:pPr marL="633094" marR="476884" indent="-250824">
              <a:lnSpc>
                <a:spcPct val="106699"/>
              </a:lnSpc>
              <a:spcBef>
                <a:spcPts val="300"/>
              </a:spcBef>
              <a:defRPr b="1" spc="-100">
                <a:latin typeface="Tahoma"/>
                <a:ea typeface="Tahoma"/>
                <a:cs typeface="Tahoma"/>
                <a:sym typeface="Tahoma"/>
              </a:defRPr>
            </a:pPr>
            <a:r>
              <a:t>Force-Driven</a:t>
            </a:r>
            <a:r>
              <a:rPr spc="0"/>
              <a:t> Minimum Latency </a:t>
            </a:r>
            <a:r>
              <a:t>Resource-Constrained Scheduling</a:t>
            </a:r>
            <a:r>
              <a:rPr spc="100"/>
              <a:t> </a:t>
            </a:r>
            <a:r>
              <a:rPr spc="0"/>
              <a:t>(ML-</a:t>
            </a:r>
            <a:r>
              <a:t>RCS)</a:t>
            </a:r>
          </a:p>
        </p:txBody>
      </p:sp>
      <p:sp>
        <p:nvSpPr>
          <p:cNvPr id="70" name="object 7"/>
          <p:cNvSpPr txBox="1"/>
          <p:nvPr/>
        </p:nvSpPr>
        <p:spPr>
          <a:xfrm>
            <a:off x="1638173" y="1517659"/>
            <a:ext cx="2483488" cy="914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algn="ctr">
              <a:spcBef>
                <a:spcPts val="500"/>
              </a:spcBef>
              <a:defRPr b="1" spc="-25" sz="1100">
                <a:latin typeface="Arial"/>
                <a:ea typeface="Arial"/>
                <a:cs typeface="Arial"/>
                <a:sym typeface="Arial"/>
              </a:defRPr>
            </a:pPr>
            <a:r>
              <a:t>Silvia</a:t>
            </a:r>
            <a:r>
              <a:rPr spc="4"/>
              <a:t> </a:t>
            </a:r>
            <a:r>
              <a:rPr spc="-19"/>
              <a:t>Bonenti</a:t>
            </a:r>
            <a:r>
              <a:rPr spc="-30"/>
              <a:t> </a:t>
            </a:r>
            <a:r>
              <a:rPr spc="-19"/>
              <a:t>and</a:t>
            </a:r>
            <a:r>
              <a:t> </a:t>
            </a:r>
            <a:r>
              <a:rPr spc="-39"/>
              <a:t>Please</a:t>
            </a:r>
            <a:r>
              <a:rPr spc="4"/>
              <a:t> </a:t>
            </a:r>
            <a:r>
              <a:rPr spc="-19"/>
              <a:t>Lukau</a:t>
            </a:r>
          </a:p>
          <a:p>
            <a:pPr algn="ctr">
              <a:spcBef>
                <a:spcPts val="4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ECE/CS</a:t>
            </a:r>
            <a:r>
              <a:rPr spc="9"/>
              <a:t> </a:t>
            </a:r>
            <a:r>
              <a:rPr spc="-30"/>
              <a:t>565:</a:t>
            </a:r>
            <a:r>
              <a:rPr spc="135"/>
              <a:t> </a:t>
            </a:r>
            <a:r>
              <a:rPr spc="-25"/>
              <a:t>Physical</a:t>
            </a:r>
            <a:r>
              <a:rPr spc="15"/>
              <a:t> </a:t>
            </a:r>
            <a:r>
              <a:rPr spc="-39"/>
              <a:t>Design</a:t>
            </a:r>
            <a:r>
              <a:rPr spc="15"/>
              <a:t> </a:t>
            </a:r>
            <a:r>
              <a:rPr spc="-9"/>
              <a:t>Automation</a:t>
            </a:r>
          </a:p>
          <a:p>
            <a:pPr>
              <a:defRPr spc="-9" sz="1100">
                <a:latin typeface="Tahoma"/>
                <a:ea typeface="Tahoma"/>
                <a:cs typeface="Tahoma"/>
                <a:sym typeface="Tahoma"/>
              </a:defRPr>
            </a:pPr>
          </a:p>
          <a:p>
            <a:pPr>
              <a:spcBef>
                <a:spcPts val="400"/>
              </a:spcBef>
              <a:defRPr spc="-9" sz="1100">
                <a:latin typeface="Tahoma"/>
                <a:ea typeface="Tahoma"/>
                <a:cs typeface="Tahoma"/>
                <a:sym typeface="Tahoma"/>
              </a:defRPr>
            </a:pPr>
          </a:p>
          <a:p>
            <a:pPr algn="ctr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Fall</a:t>
            </a:r>
            <a:r>
              <a:rPr spc="-35"/>
              <a:t> </a:t>
            </a:r>
            <a:r>
              <a:rPr spc="-19"/>
              <a:t>2025</a:t>
            </a:r>
          </a:p>
        </p:txBody>
      </p:sp>
      <p:sp>
        <p:nvSpPr>
          <p:cNvPr id="71" name="object 8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object 2"/>
          <p:cNvSpPr txBox="1"/>
          <p:nvPr>
            <p:ph type="title"/>
          </p:nvPr>
        </p:nvSpPr>
        <p:spPr>
          <a:xfrm>
            <a:off x="95298" y="61883"/>
            <a:ext cx="555629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Outline</a:t>
            </a:r>
          </a:p>
        </p:txBody>
      </p:sp>
      <p:pic>
        <p:nvPicPr>
          <p:cNvPr id="7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9277" y="665580"/>
            <a:ext cx="160102" cy="160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9277" y="986115"/>
            <a:ext cx="160102" cy="160099"/>
          </a:xfrm>
          <a:prstGeom prst="rect">
            <a:avLst/>
          </a:prstGeom>
          <a:ln w="12700">
            <a:miter lim="400000"/>
          </a:ln>
        </p:spPr>
      </p:pic>
      <p:sp>
        <p:nvSpPr>
          <p:cNvPr id="76" name="object 6"/>
          <p:cNvSpPr txBox="1"/>
          <p:nvPr/>
        </p:nvSpPr>
        <p:spPr>
          <a:xfrm>
            <a:off x="129755" y="997430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77" name="object 7">
            <a:hlinkClick r:id="rId4" invalidUrl="" action="ppaction://hlinksldjump" tgtFrame="" tooltip="" history="1" highlightClick="0" endSnd="0"/>
          </p:cNvPr>
          <p:cNvSpPr txBox="1"/>
          <p:nvPr/>
        </p:nvSpPr>
        <p:spPr>
          <a:xfrm>
            <a:off x="295172" y="969453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Where we left off </a:t>
            </a:r>
          </a:p>
        </p:txBody>
      </p:sp>
      <p:pic>
        <p:nvPicPr>
          <p:cNvPr id="78" name="object 8" descr="object 8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89277" y="1306652"/>
            <a:ext cx="160102" cy="160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object 10" descr="object 10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89277" y="1627184"/>
            <a:ext cx="160102" cy="160099"/>
          </a:xfrm>
          <a:prstGeom prst="rect">
            <a:avLst/>
          </a:prstGeom>
          <a:ln w="12700">
            <a:miter lim="400000"/>
          </a:ln>
        </p:spPr>
      </p:pic>
      <p:sp>
        <p:nvSpPr>
          <p:cNvPr id="80" name="object 11"/>
          <p:cNvSpPr txBox="1"/>
          <p:nvPr/>
        </p:nvSpPr>
        <p:spPr>
          <a:xfrm>
            <a:off x="129755" y="1638499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81" name="object 12">
            <a:hlinkClick r:id="rId7" invalidUrl="" action="ppaction://hlinksldjump" tgtFrame="" tooltip="" history="1" highlightClick="0" endSnd="0"/>
          </p:cNvPr>
          <p:cNvSpPr txBox="1"/>
          <p:nvPr/>
        </p:nvSpPr>
        <p:spPr>
          <a:xfrm>
            <a:off x="295171" y="1610522"/>
            <a:ext cx="1283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New Features</a:t>
            </a:r>
          </a:p>
        </p:txBody>
      </p:sp>
      <p:pic>
        <p:nvPicPr>
          <p:cNvPr id="82" name="object 13" descr="object 13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89277" y="1947734"/>
            <a:ext cx="160102" cy="160099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object 15" descr="object 15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89277" y="2268270"/>
            <a:ext cx="160102" cy="160099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object 16"/>
          <p:cNvSpPr txBox="1"/>
          <p:nvPr/>
        </p:nvSpPr>
        <p:spPr>
          <a:xfrm>
            <a:off x="129755" y="2279569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85" name="object 18" descr="object 18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89277" y="2588803"/>
            <a:ext cx="160102" cy="160100"/>
          </a:xfrm>
          <a:prstGeom prst="rect">
            <a:avLst/>
          </a:prstGeom>
          <a:ln w="12700">
            <a:miter lim="400000"/>
          </a:ln>
        </p:spPr>
      </p:pic>
      <p:sp>
        <p:nvSpPr>
          <p:cNvPr id="86" name="object 19"/>
          <p:cNvSpPr txBox="1"/>
          <p:nvPr/>
        </p:nvSpPr>
        <p:spPr>
          <a:xfrm>
            <a:off x="129753" y="2572141"/>
            <a:ext cx="807725" cy="174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baseline="6942" sz="12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7</a:t>
            </a:r>
            <a:r>
              <a:rPr spc="307"/>
              <a:t> </a:t>
            </a:r>
          </a:p>
        </p:txBody>
      </p:sp>
      <p:sp>
        <p:nvSpPr>
          <p:cNvPr id="87" name="object 7">
            <a:hlinkClick r:id="rId11" invalidUrl="" action="ppaction://hlinksldjump" tgtFrame="" tooltip="" history="1" highlightClick="0" endSnd="0"/>
          </p:cNvPr>
          <p:cNvSpPr txBox="1"/>
          <p:nvPr/>
        </p:nvSpPr>
        <p:spPr>
          <a:xfrm>
            <a:off x="295171" y="1311210"/>
            <a:ext cx="1877741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Requested Adjustments</a:t>
            </a:r>
          </a:p>
        </p:txBody>
      </p:sp>
      <p:sp>
        <p:nvSpPr>
          <p:cNvPr id="88" name="object 6"/>
          <p:cNvSpPr txBox="1"/>
          <p:nvPr/>
        </p:nvSpPr>
        <p:spPr>
          <a:xfrm>
            <a:off x="129640" y="1330260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9" name="object 6"/>
          <p:cNvSpPr txBox="1"/>
          <p:nvPr/>
        </p:nvSpPr>
        <p:spPr>
          <a:xfrm>
            <a:off x="129640" y="1971331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90" name="object 12">
            <a:hlinkClick r:id="rId12" invalidUrl="" action="ppaction://hlinksldjump" tgtFrame="" tooltip="" history="1" highlightClick="0" endSnd="0"/>
          </p:cNvPr>
          <p:cNvSpPr txBox="1"/>
          <p:nvPr/>
        </p:nvSpPr>
        <p:spPr>
          <a:xfrm>
            <a:off x="295171" y="1945232"/>
            <a:ext cx="1283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Results</a:t>
            </a:r>
          </a:p>
        </p:txBody>
      </p:sp>
      <p:sp>
        <p:nvSpPr>
          <p:cNvPr id="91" name="object 12">
            <a:hlinkClick r:id="rId13" invalidUrl="" action="ppaction://hlinksldjump" tgtFrame="" tooltip="" history="1" highlightClick="0" endSnd="0"/>
          </p:cNvPr>
          <p:cNvSpPr txBox="1"/>
          <p:nvPr/>
        </p:nvSpPr>
        <p:spPr>
          <a:xfrm>
            <a:off x="295171" y="2260519"/>
            <a:ext cx="1283973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0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Results Analysis</a:t>
            </a:r>
          </a:p>
        </p:txBody>
      </p:sp>
      <p:sp>
        <p:nvSpPr>
          <p:cNvPr id="92" name="object 7">
            <a:hlinkClick r:id="rId14" invalidUrl="" action="ppaction://hlinksldjump" tgtFrame="" tooltip="" history="1" highlightClick="0" endSnd="0"/>
          </p:cNvPr>
          <p:cNvSpPr txBox="1"/>
          <p:nvPr/>
        </p:nvSpPr>
        <p:spPr>
          <a:xfrm>
            <a:off x="295172" y="663077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Introduction</a:t>
            </a:r>
          </a:p>
        </p:txBody>
      </p:sp>
      <p:sp>
        <p:nvSpPr>
          <p:cNvPr id="93" name="object 7">
            <a:hlinkClick r:id="rId15" invalidUrl="" action="ppaction://hlinksldjump" tgtFrame="" tooltip="" history="1" highlightClick="0" endSnd="0"/>
          </p:cNvPr>
          <p:cNvSpPr txBox="1"/>
          <p:nvPr/>
        </p:nvSpPr>
        <p:spPr>
          <a:xfrm>
            <a:off x="295172" y="2586302"/>
            <a:ext cx="1096012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39" sz="1100" u="sng">
                <a:solidFill>
                  <a:srgbClr val="00468C"/>
                </a:solidFill>
                <a:uFill>
                  <a:solidFill>
                    <a:srgbClr val="00468C"/>
                  </a:solidFill>
                </a:uFill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Conclusion</a:t>
            </a:r>
          </a:p>
        </p:txBody>
      </p:sp>
      <p:sp>
        <p:nvSpPr>
          <p:cNvPr id="94" name="object 6"/>
          <p:cNvSpPr txBox="1"/>
          <p:nvPr/>
        </p:nvSpPr>
        <p:spPr>
          <a:xfrm>
            <a:off x="129640" y="690701"/>
            <a:ext cx="7937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800">
                <a:solidFill>
                  <a:srgbClr val="E5ECF3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95" name="object 2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573" defTabSz="905255">
              <a:defRPr b="1" spc="-100" sz="1100"/>
            </a:pPr>
            <a:r>
              <a:t>Introduction: </a:t>
            </a:r>
            <a:r>
              <a:rPr b="0"/>
              <a:t>High-Level</a:t>
            </a:r>
            <a:r>
              <a:rPr b="0" spc="0"/>
              <a:t> </a:t>
            </a:r>
            <a:r>
              <a:rPr b="0"/>
              <a:t>Synthesis</a:t>
            </a:r>
            <a:r>
              <a:rPr b="0" spc="0"/>
              <a:t> </a:t>
            </a:r>
            <a:r>
              <a:rPr b="0"/>
              <a:t>and</a:t>
            </a:r>
            <a:r>
              <a:rPr b="0" spc="0"/>
              <a:t> </a:t>
            </a:r>
            <a:r>
              <a:rPr b="0"/>
              <a:t>Scheduling</a:t>
            </a:r>
          </a:p>
        </p:txBody>
      </p:sp>
      <p:pic>
        <p:nvPicPr>
          <p:cNvPr id="9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123123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133315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281088" y="152294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0865" y="1712759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2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0865" y="1864585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103" name="object 8"/>
          <p:cNvSpPr txBox="1"/>
          <p:nvPr/>
        </p:nvSpPr>
        <p:spPr>
          <a:xfrm>
            <a:off x="402929" y="1018750"/>
            <a:ext cx="4692655" cy="1117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 algn="just">
              <a:lnSpc>
                <a:spcPct val="119199"/>
              </a:lnSpc>
              <a:spcBef>
                <a:spcPts val="100"/>
              </a:spcBef>
              <a:defRPr spc="-50" sz="1100">
                <a:latin typeface="Tahoma"/>
                <a:ea typeface="Tahoma"/>
                <a:cs typeface="Tahoma"/>
                <a:sym typeface="Tahoma"/>
              </a:defRPr>
            </a:pPr>
            <a:r>
              <a:t>High-</a:t>
            </a:r>
            <a:r>
              <a:rPr spc="-25"/>
              <a:t>Level</a:t>
            </a:r>
            <a:r>
              <a:rPr spc="0"/>
              <a:t> </a:t>
            </a:r>
            <a:r>
              <a:rPr spc="-45"/>
              <a:t>Synthesis</a:t>
            </a:r>
            <a:r>
              <a:rPr spc="4"/>
              <a:t> </a:t>
            </a:r>
            <a:r>
              <a:rPr spc="0"/>
              <a:t>(HLS) </a:t>
            </a:r>
            <a:r>
              <a:rPr spc="-45"/>
              <a:t>converts</a:t>
            </a:r>
            <a:r>
              <a:rPr spc="4"/>
              <a:t> </a:t>
            </a:r>
            <a:r>
              <a:rPr spc="-35"/>
              <a:t>algorithmic</a:t>
            </a:r>
            <a:r>
              <a:rPr spc="0"/>
              <a:t> </a:t>
            </a:r>
            <a:r>
              <a:rPr spc="-45"/>
              <a:t>descriptions</a:t>
            </a:r>
            <a:r>
              <a:rPr spc="4"/>
              <a:t> </a:t>
            </a:r>
            <a:r>
              <a:rPr spc="-9"/>
              <a:t>into</a:t>
            </a:r>
            <a:r>
              <a:rPr spc="0"/>
              <a:t> RTL</a:t>
            </a:r>
            <a:r>
              <a:rPr spc="4"/>
              <a:t> </a:t>
            </a:r>
            <a:r>
              <a:rPr spc="-35"/>
              <a:t>hardware. </a:t>
            </a:r>
            <a:r>
              <a:rPr b="1" spc="-55"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b="1" spc="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55"/>
              <a:t>decides</a:t>
            </a:r>
            <a:r>
              <a:rPr spc="-35"/>
              <a:t> </a:t>
            </a:r>
            <a:r>
              <a:rPr i="1" spc="-70">
                <a:latin typeface="Arial"/>
                <a:ea typeface="Arial"/>
                <a:cs typeface="Arial"/>
                <a:sym typeface="Arial"/>
              </a:rPr>
              <a:t>when</a:t>
            </a:r>
            <a:r>
              <a:rPr i="1" spc="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/>
              <a:t>each</a:t>
            </a:r>
            <a:r>
              <a:rPr spc="-30"/>
              <a:t> </a:t>
            </a:r>
            <a:r>
              <a:rPr spc="-39"/>
              <a:t>operation</a:t>
            </a:r>
            <a:r>
              <a:rPr spc="-35"/>
              <a:t> </a:t>
            </a:r>
            <a:r>
              <a:rPr spc="0"/>
              <a:t>in</a:t>
            </a:r>
            <a:r>
              <a:rPr spc="-35"/>
              <a:t> </a:t>
            </a:r>
            <a:r>
              <a:rPr spc="0"/>
              <a:t>a</a:t>
            </a:r>
            <a:r>
              <a:rPr spc="-35"/>
              <a:t> </a:t>
            </a:r>
            <a:r>
              <a:rPr spc="0"/>
              <a:t>Data</a:t>
            </a:r>
            <a:r>
              <a:rPr spc="-35"/>
              <a:t> </a:t>
            </a:r>
            <a:r>
              <a:rPr spc="-19"/>
              <a:t>Flow</a:t>
            </a:r>
            <a:r>
              <a:rPr spc="-30"/>
              <a:t> </a:t>
            </a:r>
            <a:r>
              <a:rPr spc="-39"/>
              <a:t>Graph</a:t>
            </a:r>
            <a:r>
              <a:rPr spc="-35"/>
              <a:t> </a:t>
            </a:r>
            <a:r>
              <a:rPr spc="0"/>
              <a:t>(DFG)</a:t>
            </a:r>
            <a:r>
              <a:rPr spc="-35"/>
              <a:t> </a:t>
            </a:r>
            <a:r>
              <a:rPr spc="-19"/>
              <a:t>executes. </a:t>
            </a:r>
            <a:r>
              <a:rPr spc="-55"/>
              <a:t>Performance</a:t>
            </a:r>
            <a:r>
              <a:rPr spc="19"/>
              <a:t> </a:t>
            </a:r>
            <a:r>
              <a:rPr spc="-75"/>
              <a:t>depends</a:t>
            </a:r>
            <a:r>
              <a:rPr spc="25"/>
              <a:t> </a:t>
            </a:r>
            <a:r>
              <a:rPr spc="-25"/>
              <a:t>on:</a:t>
            </a:r>
          </a:p>
          <a:p>
            <a:pPr indent="289558">
              <a:lnSpc>
                <a:spcPts val="1200"/>
              </a:lnSpc>
              <a:spcBef>
                <a:spcPts val="100"/>
              </a:spcBef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19"/>
              <a:t> </a:t>
            </a:r>
            <a:r>
              <a:rPr b="0" spc="0"/>
              <a:t>–</a:t>
            </a:r>
            <a:r>
              <a:rPr b="0" spc="9"/>
              <a:t> </a:t>
            </a:r>
            <a:r>
              <a:rPr b="0" spc="0"/>
              <a:t>total</a:t>
            </a:r>
            <a:r>
              <a:rPr b="0" spc="9"/>
              <a:t> </a:t>
            </a:r>
            <a:r>
              <a:rPr b="0" spc="-35"/>
              <a:t>execution</a:t>
            </a:r>
            <a:r>
              <a:rPr b="0" spc="9"/>
              <a:t> </a:t>
            </a:r>
            <a:r>
              <a:rPr b="0" spc="-9"/>
              <a:t>time.</a:t>
            </a:r>
          </a:p>
          <a:p>
            <a:pPr indent="289558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19"/>
              <a:t> </a:t>
            </a:r>
            <a:r>
              <a:t>usage</a:t>
            </a:r>
            <a:r>
              <a:rPr spc="0"/>
              <a:t> </a:t>
            </a:r>
            <a:r>
              <a:rPr b="0" spc="0"/>
              <a:t>–</a:t>
            </a:r>
            <a:r>
              <a:rPr b="0" spc="-4"/>
              <a:t> </a:t>
            </a:r>
            <a:r>
              <a:rPr b="0" spc="-35"/>
              <a:t>number</a:t>
            </a:r>
            <a:r>
              <a:rPr b="0" spc="-4"/>
              <a:t> </a:t>
            </a:r>
            <a:r>
              <a:rPr b="0" spc="0"/>
              <a:t>of</a:t>
            </a:r>
            <a:r>
              <a:rPr b="0" spc="-4"/>
              <a:t> </a:t>
            </a:r>
            <a:r>
              <a:rPr b="0" spc="-19"/>
              <a:t>functional</a:t>
            </a:r>
            <a:r>
              <a:rPr b="0" spc="-4"/>
              <a:t> </a:t>
            </a:r>
            <a:r>
              <a:rPr b="0" spc="0"/>
              <a:t>units</a:t>
            </a:r>
            <a:r>
              <a:rPr b="0" spc="-4"/>
              <a:t> </a:t>
            </a:r>
            <a:r>
              <a:rPr b="0" spc="-9"/>
              <a:t>(FUs).</a:t>
            </a:r>
          </a:p>
          <a:p>
            <a:pPr indent="12700" algn="just">
              <a:spcBef>
                <a:spcPts val="3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30"/>
              <a:t>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ML-RCS</a:t>
            </a:r>
            <a:r>
              <a:rPr b="1" spc="4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39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b="1" spc="1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55"/>
              <a:t>generalizes</a:t>
            </a:r>
            <a:r>
              <a:rPr spc="-2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35"/>
              <a:t>classical</a:t>
            </a:r>
            <a:r>
              <a:rPr spc="-25"/>
              <a:t> </a:t>
            </a:r>
            <a:r>
              <a:rPr b="1">
                <a:latin typeface="Arial"/>
                <a:ea typeface="Arial"/>
                <a:cs typeface="Arial"/>
                <a:sym typeface="Arial"/>
              </a:rPr>
              <a:t>MR-LCS</a:t>
            </a:r>
            <a:r>
              <a:rPr b="1" spc="1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9"/>
              <a:t>formulation.</a:t>
            </a:r>
          </a:p>
        </p:txBody>
      </p:sp>
      <p:pic>
        <p:nvPicPr>
          <p:cNvPr id="104" name="object 9" descr="object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2061946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The </a:t>
            </a:r>
            <a:r>
              <a:rPr spc="-200"/>
              <a:t>Need</a:t>
            </a:r>
            <a:r>
              <a:rPr spc="0"/>
              <a:t> for</a:t>
            </a:r>
            <a:r>
              <a:t> Dual Forces</a:t>
            </a:r>
          </a:p>
        </p:txBody>
      </p:sp>
      <p:pic>
        <p:nvPicPr>
          <p:cNvPr id="10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61921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09" name="object 4"/>
          <p:cNvSpPr txBox="1"/>
          <p:nvPr/>
        </p:nvSpPr>
        <p:spPr>
          <a:xfrm>
            <a:off x="402931" y="547188"/>
            <a:ext cx="3152776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Scheduling</a:t>
            </a:r>
            <a:r>
              <a:rPr spc="-19"/>
              <a:t> </a:t>
            </a:r>
            <a:r>
              <a:rPr spc="0"/>
              <a:t>in</a:t>
            </a:r>
            <a:r>
              <a:rPr spc="-19"/>
              <a:t> </a:t>
            </a:r>
            <a:r>
              <a:rPr spc="0"/>
              <a:t>HLS</a:t>
            </a:r>
            <a:r>
              <a:rPr spc="-19"/>
              <a:t> </a:t>
            </a:r>
            <a:r>
              <a:rPr spc="-35"/>
              <a:t>must</a:t>
            </a:r>
            <a:r>
              <a:rPr spc="-15"/>
              <a:t> </a:t>
            </a:r>
            <a:r>
              <a:rPr spc="-50"/>
              <a:t>balance</a:t>
            </a:r>
            <a:r>
              <a:rPr spc="-19"/>
              <a:t> </a:t>
            </a:r>
            <a:r>
              <a:rPr spc="-39"/>
              <a:t>two</a:t>
            </a:r>
            <a:r>
              <a:rPr spc="-19"/>
              <a:t> </a:t>
            </a:r>
            <a:r>
              <a:rPr spc="-39"/>
              <a:t>competing</a:t>
            </a:r>
            <a:r>
              <a:rPr spc="-19"/>
              <a:t> </a:t>
            </a:r>
            <a:r>
              <a:rPr spc="-25"/>
              <a:t>goals:</a:t>
            </a:r>
          </a:p>
        </p:txBody>
      </p:sp>
      <p:grpSp>
        <p:nvGrpSpPr>
          <p:cNvPr id="112" name="object 5"/>
          <p:cNvGrpSpPr/>
          <p:nvPr/>
        </p:nvGrpSpPr>
        <p:grpSpPr>
          <a:xfrm>
            <a:off x="510116" y="770502"/>
            <a:ext cx="114220" cy="266051"/>
            <a:chOff x="-1" y="-1"/>
            <a:chExt cx="114219" cy="266049"/>
          </a:xfrm>
        </p:grpSpPr>
        <p:pic>
          <p:nvPicPr>
            <p:cNvPr id="110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2" y="-2"/>
              <a:ext cx="114221" cy="11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1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2" y="151830"/>
              <a:ext cx="114221" cy="11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13" name="object 8"/>
          <p:cNvSpPr txBox="1"/>
          <p:nvPr/>
        </p:nvSpPr>
        <p:spPr>
          <a:xfrm>
            <a:off x="532255" y="769446"/>
            <a:ext cx="70488" cy="250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</p:txBody>
      </p:sp>
      <p:sp>
        <p:nvSpPr>
          <p:cNvPr id="114" name="object 9"/>
          <p:cNvSpPr txBox="1"/>
          <p:nvPr/>
        </p:nvSpPr>
        <p:spPr>
          <a:xfrm>
            <a:off x="654633" y="736986"/>
            <a:ext cx="3166748" cy="3012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0"/>
              <a:t> </a:t>
            </a:r>
            <a:r>
              <a:rPr spc="-39"/>
              <a:t>usage:</a:t>
            </a:r>
            <a:r>
              <a:rPr spc="79"/>
              <a:t> </a:t>
            </a:r>
            <a:r>
              <a:rPr b="0" spc="-70"/>
              <a:t>keep</a:t>
            </a:r>
            <a:r>
              <a:rPr b="0" spc="0"/>
              <a:t> FU</a:t>
            </a:r>
            <a:r>
              <a:rPr b="0" spc="-4"/>
              <a:t> </a:t>
            </a:r>
            <a:r>
              <a:rPr b="0" spc="-9"/>
              <a:t>utilization </a:t>
            </a:r>
            <a:r>
              <a:rPr b="0" spc="0">
                <a:latin typeface="Lucida Sans Unicode"/>
                <a:ea typeface="Lucida Sans Unicode"/>
                <a:cs typeface="Lucida Sans Unicode"/>
                <a:sym typeface="Lucida Sans Unicode"/>
              </a:rPr>
              <a:t>≤</a:t>
            </a:r>
            <a:r>
              <a:rPr b="0" spc="-75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i="1" spc="0"/>
              <a:t>a</a:t>
            </a:r>
            <a:r>
              <a:rPr b="0" baseline="-11902" i="1" spc="0"/>
              <a:t>k</a:t>
            </a:r>
            <a:r>
              <a:rPr b="0" baseline="-11902" i="1" spc="254"/>
              <a:t> </a:t>
            </a:r>
            <a:r>
              <a:rPr b="0" spc="-9"/>
              <a:t>per cycle.</a:t>
            </a:r>
          </a:p>
          <a:p>
            <a:pPr indent="381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0"/>
              <a:t> </a:t>
            </a:r>
            <a:r>
              <a:rPr spc="-19"/>
              <a:t>optimization:</a:t>
            </a:r>
            <a:r>
              <a:rPr spc="100"/>
              <a:t> </a:t>
            </a:r>
            <a:r>
              <a:rPr b="0" spc="-35"/>
              <a:t>minimize</a:t>
            </a:r>
            <a:r>
              <a:rPr b="0" spc="4"/>
              <a:t> </a:t>
            </a:r>
            <a:r>
              <a:rPr b="0" spc="-35"/>
              <a:t>overall</a:t>
            </a:r>
            <a:r>
              <a:rPr b="0" spc="0"/>
              <a:t> </a:t>
            </a:r>
            <a:r>
              <a:rPr b="0" spc="-30"/>
              <a:t>completion</a:t>
            </a:r>
            <a:r>
              <a:rPr b="0" spc="4"/>
              <a:t> </a:t>
            </a:r>
            <a:r>
              <a:rPr b="0" spc="-9"/>
              <a:t>time.</a:t>
            </a:r>
          </a:p>
        </p:txBody>
      </p:sp>
      <p:pic>
        <p:nvPicPr>
          <p:cNvPr id="115" name="object 10" descr="object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15821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16" name="object 11"/>
          <p:cNvSpPr txBox="1"/>
          <p:nvPr/>
        </p:nvSpPr>
        <p:spPr>
          <a:xfrm>
            <a:off x="402932" y="1081745"/>
            <a:ext cx="5221605" cy="9298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356233" indent="12700">
              <a:lnSpc>
                <a:spcPct val="102600"/>
              </a:lnSpc>
              <a:defRPr spc="-30" sz="1100">
                <a:latin typeface="Tahoma"/>
                <a:ea typeface="Tahoma"/>
                <a:cs typeface="Tahoma"/>
                <a:sym typeface="Tahoma"/>
              </a:defRPr>
            </a:pPr>
            <a:r>
              <a:t>Classical</a:t>
            </a:r>
            <a:r>
              <a:rPr spc="-19"/>
              <a:t> </a:t>
            </a:r>
            <a:r>
              <a:rPr spc="-50"/>
              <a:t>Force-</a:t>
            </a:r>
            <a:r>
              <a:rPr spc="-39"/>
              <a:t>Directed</a:t>
            </a:r>
            <a:r>
              <a:rPr spc="-19"/>
              <a:t> </a:t>
            </a:r>
            <a:r>
              <a:rPr spc="-45"/>
              <a:t>Scheduling</a:t>
            </a:r>
            <a:r>
              <a:rPr spc="-15"/>
              <a:t> </a:t>
            </a:r>
            <a:r>
              <a:rPr spc="0"/>
              <a:t>(FDS)</a:t>
            </a:r>
            <a:r>
              <a:rPr spc="-19"/>
              <a:t> </a:t>
            </a:r>
            <a:r>
              <a:rPr spc="-55"/>
              <a:t>considers</a:t>
            </a:r>
            <a:r>
              <a:rPr spc="-15"/>
              <a:t> </a:t>
            </a:r>
            <a:r>
              <a:rPr spc="-19"/>
              <a:t>only</a:t>
            </a:r>
            <a:r>
              <a:rPr spc="-4"/>
              <a:t> </a:t>
            </a:r>
            <a:r>
              <a:rPr b="1" spc="-65">
                <a:latin typeface="Arial"/>
                <a:ea typeface="Arial"/>
                <a:cs typeface="Arial"/>
                <a:sym typeface="Arial"/>
              </a:rPr>
              <a:t>resource</a:t>
            </a:r>
            <a:r>
              <a:rPr b="1" spc="5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60">
                <a:latin typeface="Arial"/>
                <a:ea typeface="Arial"/>
                <a:cs typeface="Arial"/>
                <a:sym typeface="Arial"/>
              </a:rPr>
              <a:t>forces</a:t>
            </a:r>
            <a:r>
              <a:rPr b="1" spc="2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0"/>
              <a:t>to</a:t>
            </a:r>
            <a:r>
              <a:rPr spc="-19"/>
              <a:t> </a:t>
            </a:r>
            <a:r>
              <a:rPr spc="-9"/>
              <a:t>spread </a:t>
            </a:r>
            <a:r>
              <a:rPr spc="-45"/>
              <a:t>operations</a:t>
            </a:r>
            <a:r>
              <a:rPr spc="-19"/>
              <a:t> </a:t>
            </a:r>
            <a:r>
              <a:rPr spc="-55"/>
              <a:t>over</a:t>
            </a:r>
            <a:r>
              <a:rPr spc="-15"/>
              <a:t> </a:t>
            </a:r>
            <a:r>
              <a:rPr spc="-9"/>
              <a:t>time.</a:t>
            </a:r>
          </a:p>
          <a:p>
            <a:pPr marR="5080" indent="12700">
              <a:lnSpc>
                <a:spcPct val="102697"/>
              </a:lnSpc>
              <a:spcBef>
                <a:spcPts val="3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This</a:t>
            </a:r>
            <a:r>
              <a:rPr spc="-15"/>
              <a:t> </a:t>
            </a:r>
            <a:r>
              <a:rPr spc="-55"/>
              <a:t>scheduling</a:t>
            </a:r>
            <a:r>
              <a:rPr spc="-9"/>
              <a:t> </a:t>
            </a:r>
            <a:r>
              <a:rPr spc="-39"/>
              <a:t>algorithm</a:t>
            </a:r>
            <a:r>
              <a:rPr spc="-9"/>
              <a:t> </a:t>
            </a:r>
            <a:r>
              <a:rPr spc="-35"/>
              <a:t>for</a:t>
            </a:r>
            <a:r>
              <a:rPr spc="-9"/>
              <a:t> </a:t>
            </a:r>
            <a:r>
              <a:t>ML-RCS</a:t>
            </a:r>
            <a:r>
              <a:rPr spc="-9"/>
              <a:t> </a:t>
            </a:r>
            <a:r>
              <a:rPr spc="-39"/>
              <a:t>introduces</a:t>
            </a:r>
            <a:r>
              <a:rPr spc="-9"/>
              <a:t> </a:t>
            </a:r>
            <a:r>
              <a:rPr spc="-30"/>
              <a:t>an</a:t>
            </a:r>
            <a:r>
              <a:rPr spc="-9"/>
              <a:t> </a:t>
            </a:r>
            <a:r>
              <a:rPr spc="-35"/>
              <a:t>additional</a:t>
            </a:r>
            <a:r>
              <a:rPr spc="-9"/>
              <a:t> </a:t>
            </a:r>
            <a:r>
              <a:rPr b="1" spc="-30">
                <a:latin typeface="Arial"/>
                <a:ea typeface="Arial"/>
                <a:cs typeface="Arial"/>
                <a:sym typeface="Arial"/>
              </a:rPr>
              <a:t>latency</a:t>
            </a:r>
            <a:r>
              <a:rPr b="1" spc="6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50">
                <a:latin typeface="Arial"/>
                <a:ea typeface="Arial"/>
                <a:cs typeface="Arial"/>
                <a:sym typeface="Arial"/>
              </a:rPr>
              <a:t>force</a:t>
            </a:r>
            <a:r>
              <a:rPr b="1" spc="25">
                <a:latin typeface="Arial"/>
                <a:ea typeface="Arial"/>
                <a:cs typeface="Arial"/>
                <a:sym typeface="Arial"/>
              </a:rPr>
              <a:t> </a:t>
            </a:r>
            <a:r>
              <a:t>to</a:t>
            </a:r>
            <a:r>
              <a:rPr spc="-9"/>
              <a:t> prioritize </a:t>
            </a:r>
            <a:r>
              <a:rPr spc="-45"/>
              <a:t>operations </a:t>
            </a:r>
            <a:r>
              <a:rPr spc="-30"/>
              <a:t>on</a:t>
            </a:r>
            <a:r>
              <a:rPr spc="-50"/>
              <a:t> </a:t>
            </a:r>
            <a:r>
              <a:rPr spc="-19"/>
              <a:t>the</a:t>
            </a:r>
            <a:r>
              <a:rPr spc="-50"/>
              <a:t> </a:t>
            </a:r>
            <a:r>
              <a:rPr spc="-9"/>
              <a:t>critical</a:t>
            </a:r>
            <a:r>
              <a:rPr spc="-45"/>
              <a:t> </a:t>
            </a:r>
            <a:r>
              <a:rPr spc="-9"/>
              <a:t>path.</a:t>
            </a:r>
          </a:p>
          <a:p>
            <a:pPr indent="12700">
              <a:spcBef>
                <a:spcPts val="300"/>
              </a:spcBef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t>Combined,</a:t>
            </a:r>
            <a:r>
              <a:rPr spc="-30"/>
              <a:t> </a:t>
            </a:r>
            <a:r>
              <a:rPr spc="-60"/>
              <a:t>these</a:t>
            </a:r>
            <a:r>
              <a:rPr spc="-25"/>
              <a:t> </a:t>
            </a:r>
            <a:r>
              <a:t>two</a:t>
            </a:r>
            <a:r>
              <a:rPr spc="-25"/>
              <a:t> </a:t>
            </a:r>
            <a:r>
              <a:rPr spc="-55"/>
              <a:t>forces</a:t>
            </a:r>
            <a:r>
              <a:rPr spc="-25"/>
              <a:t> </a:t>
            </a:r>
            <a:r>
              <a:rPr spc="-60"/>
              <a:t>guide</a:t>
            </a:r>
            <a:r>
              <a:rPr spc="-25"/>
              <a:t> </a:t>
            </a:r>
            <a:r>
              <a:rPr spc="-19"/>
              <a:t>the</a:t>
            </a:r>
            <a:r>
              <a:rPr spc="-25"/>
              <a:t> </a:t>
            </a:r>
            <a:r>
              <a:rPr spc="-55"/>
              <a:t>scheduler</a:t>
            </a:r>
            <a:r>
              <a:rPr spc="-25"/>
              <a:t> </a:t>
            </a:r>
            <a:r>
              <a:rPr spc="0"/>
              <a:t>to</a:t>
            </a:r>
            <a:r>
              <a:rPr spc="-25"/>
              <a:t> </a:t>
            </a:r>
            <a:r>
              <a:rPr spc="-55"/>
              <a:t>produce</a:t>
            </a:r>
            <a:r>
              <a:rPr spc="-25"/>
              <a:t> </a:t>
            </a:r>
            <a:r>
              <a:rPr spc="-50"/>
              <a:t>feasible</a:t>
            </a:r>
            <a:r>
              <a:rPr spc="-30"/>
              <a:t> </a:t>
            </a:r>
            <a:r>
              <a:rPr spc="-35"/>
              <a:t>yet</a:t>
            </a:r>
            <a:r>
              <a:rPr spc="-25"/>
              <a:t> </a:t>
            </a:r>
            <a:r>
              <a:rPr spc="-19"/>
              <a:t>fast</a:t>
            </a:r>
            <a:r>
              <a:rPr spc="-25"/>
              <a:t> </a:t>
            </a:r>
            <a:r>
              <a:rPr spc="-9"/>
              <a:t>schedules.</a:t>
            </a:r>
          </a:p>
        </p:txBody>
      </p:sp>
      <p:pic>
        <p:nvPicPr>
          <p:cNvPr id="117" name="object 12" descr="object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1540317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18" name="object 13" descr="object 13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1922421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19" name="object 14"/>
          <p:cNvSpPr/>
          <p:nvPr/>
        </p:nvSpPr>
        <p:spPr>
          <a:xfrm>
            <a:off x="87741" y="2264384"/>
            <a:ext cx="5584584" cy="2036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25"/>
                </a:lnTo>
                <a:lnTo>
                  <a:pt x="58" y="1583"/>
                </a:lnTo>
                <a:lnTo>
                  <a:pt x="16" y="3297"/>
                </a:lnTo>
                <a:lnTo>
                  <a:pt x="0" y="5389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389"/>
                </a:lnTo>
                <a:lnTo>
                  <a:pt x="21584" y="3297"/>
                </a:lnTo>
                <a:lnTo>
                  <a:pt x="21542" y="1583"/>
                </a:lnTo>
                <a:lnTo>
                  <a:pt x="21480" y="425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20" name="object 15"/>
          <p:cNvSpPr txBox="1"/>
          <p:nvPr/>
        </p:nvSpPr>
        <p:spPr>
          <a:xfrm>
            <a:off x="138542" y="2277273"/>
            <a:ext cx="539755" cy="1643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lnSpc>
                <a:spcPts val="1300"/>
              </a:lnSpc>
              <a:defRPr spc="-4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pPr>
            <a:r>
              <a:t>Key</a:t>
            </a:r>
            <a:r>
              <a:rPr spc="-30"/>
              <a:t> </a:t>
            </a:r>
            <a:r>
              <a:rPr spc="-100"/>
              <a:t>Idea</a:t>
            </a:r>
          </a:p>
        </p:txBody>
      </p:sp>
      <p:grpSp>
        <p:nvGrpSpPr>
          <p:cNvPr id="123" name="object 16"/>
          <p:cNvGrpSpPr/>
          <p:nvPr/>
        </p:nvGrpSpPr>
        <p:grpSpPr>
          <a:xfrm>
            <a:off x="87739" y="2455328"/>
            <a:ext cx="5584588" cy="414140"/>
            <a:chOff x="-1" y="0"/>
            <a:chExt cx="5584586" cy="414138"/>
          </a:xfrm>
        </p:grpSpPr>
        <p:pic>
          <p:nvPicPr>
            <p:cNvPr id="121" name="object 17" descr="object 1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22" name="object 19"/>
            <p:cNvSpPr/>
            <p:nvPr/>
          </p:nvSpPr>
          <p:spPr>
            <a:xfrm>
              <a:off x="-2" y="44281"/>
              <a:ext cx="5584586" cy="36985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24" name="object 20"/>
          <p:cNvSpPr txBox="1"/>
          <p:nvPr/>
        </p:nvSpPr>
        <p:spPr>
          <a:xfrm>
            <a:off x="138542" y="2481769"/>
            <a:ext cx="5584830" cy="3398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139064">
              <a:lnSpc>
                <a:spcPct val="102600"/>
              </a:lnSpc>
              <a:defRPr b="1" spc="-65" sz="11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25"/>
              <a:t> </a:t>
            </a:r>
            <a:r>
              <a:rPr spc="-39"/>
              <a:t>force</a:t>
            </a:r>
            <a:r>
              <a:rPr spc="15"/>
              <a:t> </a:t>
            </a:r>
            <a:r>
              <a:rPr b="0" spc="-60">
                <a:latin typeface="Tahoma"/>
                <a:ea typeface="Tahoma"/>
                <a:cs typeface="Tahoma"/>
                <a:sym typeface="Tahoma"/>
              </a:rPr>
              <a:t>prevents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70">
                <a:latin typeface="Tahoma"/>
                <a:ea typeface="Tahoma"/>
                <a:cs typeface="Tahoma"/>
                <a:sym typeface="Tahoma"/>
              </a:rPr>
              <a:t>overuse</a:t>
            </a:r>
            <a:r>
              <a:rPr b="0" spc="-1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of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5">
                <a:latin typeface="Tahoma"/>
                <a:ea typeface="Tahoma"/>
                <a:cs typeface="Tahoma"/>
                <a:sym typeface="Tahoma"/>
              </a:rPr>
              <a:t>functional</a:t>
            </a:r>
            <a:r>
              <a:rPr b="0" spc="-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19">
                <a:latin typeface="Tahoma"/>
                <a:ea typeface="Tahoma"/>
                <a:cs typeface="Tahoma"/>
                <a:sym typeface="Tahoma"/>
              </a:rPr>
              <a:t>units,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45">
                <a:latin typeface="Tahoma"/>
                <a:ea typeface="Tahoma"/>
                <a:cs typeface="Tahoma"/>
                <a:sym typeface="Tahoma"/>
              </a:rPr>
              <a:t>while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30"/>
              <a:t>latency</a:t>
            </a:r>
            <a:r>
              <a:rPr spc="45"/>
              <a:t> </a:t>
            </a:r>
            <a:r>
              <a:rPr spc="-50"/>
              <a:t>force</a:t>
            </a:r>
            <a:r>
              <a:rPr spc="9"/>
              <a:t> </a:t>
            </a:r>
            <a:r>
              <a:rPr b="0" spc="-70">
                <a:latin typeface="Tahoma"/>
                <a:ea typeface="Tahoma"/>
                <a:cs typeface="Tahoma"/>
                <a:sym typeface="Tahoma"/>
              </a:rPr>
              <a:t>reduces</a:t>
            </a:r>
            <a:r>
              <a:rPr b="0" spc="-1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0">
                <a:latin typeface="Tahoma"/>
                <a:ea typeface="Tahoma"/>
                <a:cs typeface="Tahoma"/>
                <a:sym typeface="Tahoma"/>
              </a:rPr>
              <a:t>critical-</a:t>
            </a:r>
            <a:r>
              <a:rPr b="0" spc="-19">
                <a:latin typeface="Tahoma"/>
                <a:ea typeface="Tahoma"/>
                <a:cs typeface="Tahoma"/>
                <a:sym typeface="Tahoma"/>
              </a:rPr>
              <a:t>path </a:t>
            </a:r>
            <a:r>
              <a:rPr b="0" spc="-50">
                <a:latin typeface="Tahoma"/>
                <a:ea typeface="Tahoma"/>
                <a:cs typeface="Tahoma"/>
                <a:sym typeface="Tahoma"/>
              </a:rPr>
              <a:t>delay.</a:t>
            </a:r>
            <a:r>
              <a:rPr b="0" spc="7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Their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35">
                <a:latin typeface="Tahoma"/>
                <a:ea typeface="Tahoma"/>
                <a:cs typeface="Tahoma"/>
                <a:sym typeface="Tahoma"/>
              </a:rPr>
              <a:t>interaction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>
                <a:latin typeface="Tahoma"/>
                <a:ea typeface="Tahoma"/>
                <a:cs typeface="Tahoma"/>
                <a:sym typeface="Tahoma"/>
              </a:rPr>
              <a:t>defines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0">
                <a:latin typeface="Tahoma"/>
                <a:ea typeface="Tahoma"/>
                <a:cs typeface="Tahoma"/>
                <a:sym typeface="Tahoma"/>
              </a:rPr>
              <a:t>a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55">
                <a:latin typeface="Tahoma"/>
                <a:ea typeface="Tahoma"/>
                <a:cs typeface="Tahoma"/>
                <a:sym typeface="Tahoma"/>
              </a:rPr>
              <a:t>balanced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55">
                <a:latin typeface="Tahoma"/>
                <a:ea typeface="Tahoma"/>
                <a:cs typeface="Tahoma"/>
                <a:sym typeface="Tahoma"/>
              </a:rPr>
              <a:t>scheduling</a:t>
            </a:r>
            <a:r>
              <a:rPr b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9">
                <a:latin typeface="Tahoma"/>
                <a:ea typeface="Tahoma"/>
                <a:cs typeface="Tahoma"/>
                <a:sym typeface="Tahoma"/>
              </a:rPr>
              <a:t>priority.</a:t>
            </a:r>
          </a:p>
        </p:txBody>
      </p:sp>
      <p:sp>
        <p:nvSpPr>
          <p:cNvPr id="125" name="object 21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5715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spc="-100"/>
            </a:pPr>
            <a:r>
              <a:t>Iterative </a:t>
            </a:r>
            <a:r>
              <a:rPr spc="0"/>
              <a:t>List</a:t>
            </a:r>
            <a:r>
              <a:t> Scheduling Framework</a:t>
            </a:r>
          </a:p>
        </p:txBody>
      </p:sp>
      <p:pic>
        <p:nvPicPr>
          <p:cNvPr id="12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77254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29" name="object 4"/>
          <p:cNvSpPr txBox="1"/>
          <p:nvPr/>
        </p:nvSpPr>
        <p:spPr>
          <a:xfrm>
            <a:off x="402929" y="712441"/>
            <a:ext cx="4765046" cy="3519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3199"/>
              </a:lnSpc>
              <a:spcBef>
                <a:spcPts val="100"/>
              </a:spcBef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This</a:t>
            </a:r>
            <a:r>
              <a:rPr spc="-19"/>
              <a:t> </a:t>
            </a:r>
            <a:r>
              <a:rPr spc="-55"/>
              <a:t>scheduling</a:t>
            </a:r>
            <a:r>
              <a:rPr spc="-15"/>
              <a:t> </a:t>
            </a:r>
            <a:r>
              <a:rPr spc="-39"/>
              <a:t>algorithm</a:t>
            </a:r>
            <a:r>
              <a:rPr spc="-15"/>
              <a:t> </a:t>
            </a:r>
            <a:r>
              <a:rPr spc="-65"/>
              <a:t>extends</a:t>
            </a:r>
            <a:r>
              <a:rPr spc="-15"/>
              <a:t> </a:t>
            </a:r>
            <a:r>
              <a:t>list</a:t>
            </a:r>
            <a:r>
              <a:rPr spc="-15"/>
              <a:t> </a:t>
            </a:r>
            <a:r>
              <a:rPr spc="-55"/>
              <a:t>scheduling</a:t>
            </a:r>
            <a:r>
              <a:rPr spc="-15"/>
              <a:t> </a:t>
            </a:r>
            <a:r>
              <a:rPr spc="-9"/>
              <a:t>into</a:t>
            </a:r>
            <a:r>
              <a:rPr spc="-15"/>
              <a:t> </a:t>
            </a:r>
            <a:r>
              <a:rPr spc="-30"/>
              <a:t>an</a:t>
            </a:r>
            <a:r>
              <a:rPr spc="-15"/>
              <a:t> </a:t>
            </a:r>
            <a:r>
              <a:rPr spc="-30"/>
              <a:t>iterative</a:t>
            </a:r>
            <a:r>
              <a:rPr spc="-19"/>
              <a:t> </a:t>
            </a:r>
            <a:r>
              <a:rPr spc="-55"/>
              <a:t>refinement</a:t>
            </a:r>
            <a:r>
              <a:rPr spc="-15"/>
              <a:t> </a:t>
            </a:r>
            <a:r>
              <a:rPr spc="-9"/>
              <a:t>loop. Each</a:t>
            </a:r>
            <a:r>
              <a:rPr spc="-35"/>
              <a:t> </a:t>
            </a:r>
            <a:r>
              <a:rPr spc="-25"/>
              <a:t>iteration</a:t>
            </a:r>
            <a:r>
              <a:rPr spc="-30"/>
              <a:t> </a:t>
            </a:r>
            <a:r>
              <a:rPr spc="-45"/>
              <a:t>includes</a:t>
            </a:r>
            <a:r>
              <a:rPr spc="-35"/>
              <a:t> </a:t>
            </a:r>
            <a:r>
              <a:rPr spc="-50"/>
              <a:t>three</a:t>
            </a:r>
            <a:r>
              <a:rPr spc="-30"/>
              <a:t> </a:t>
            </a:r>
            <a:r>
              <a:rPr spc="-55"/>
              <a:t>core</a:t>
            </a:r>
            <a:r>
              <a:rPr spc="-35"/>
              <a:t> </a:t>
            </a:r>
            <a:r>
              <a:rPr spc="-9"/>
              <a:t>phases:</a:t>
            </a:r>
          </a:p>
        </p:txBody>
      </p:sp>
      <p:pic>
        <p:nvPicPr>
          <p:cNvPr id="13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952103"/>
            <a:ext cx="65268" cy="65268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34" name="object 6"/>
          <p:cNvGrpSpPr/>
          <p:nvPr/>
        </p:nvGrpSpPr>
        <p:grpSpPr>
          <a:xfrm>
            <a:off x="510118" y="1147796"/>
            <a:ext cx="114220" cy="417877"/>
            <a:chOff x="0" y="0"/>
            <a:chExt cx="114218" cy="417875"/>
          </a:xfrm>
        </p:grpSpPr>
        <p:pic>
          <p:nvPicPr>
            <p:cNvPr id="13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1" y="0"/>
              <a:ext cx="114219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2" name="object 8" descr="object 8"/>
            <p:cNvPicPr>
              <a:picLocks noChangeAspect="1"/>
            </p:cNvPicPr>
            <p:nvPr/>
          </p:nvPicPr>
          <p:blipFill>
            <a:blip r:embed="rId5">
              <a:extLst/>
            </a:blip>
            <a:stretch>
              <a:fillRect/>
            </a:stretch>
          </p:blipFill>
          <p:spPr>
            <a:xfrm>
              <a:off x="-1" y="151828"/>
              <a:ext cx="114219" cy="11421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33" name="object 9" descr="object 9"/>
            <p:cNvPicPr>
              <a:picLocks noChangeAspect="1"/>
            </p:cNvPicPr>
            <p:nvPr/>
          </p:nvPicPr>
          <p:blipFill>
            <a:blip r:embed="rId6">
              <a:extLst/>
            </a:blip>
            <a:stretch>
              <a:fillRect/>
            </a:stretch>
          </p:blipFill>
          <p:spPr>
            <a:xfrm>
              <a:off x="-1" y="303659"/>
              <a:ext cx="114219" cy="11421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35" name="object 10"/>
          <p:cNvSpPr txBox="1"/>
          <p:nvPr/>
        </p:nvSpPr>
        <p:spPr>
          <a:xfrm>
            <a:off x="532255" y="1146748"/>
            <a:ext cx="70488" cy="4032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3</a:t>
            </a:r>
          </a:p>
        </p:txBody>
      </p:sp>
      <p:sp>
        <p:nvSpPr>
          <p:cNvPr id="136" name="object 11"/>
          <p:cNvSpPr txBox="1"/>
          <p:nvPr/>
        </p:nvSpPr>
        <p:spPr>
          <a:xfrm>
            <a:off x="654632" y="1114275"/>
            <a:ext cx="3887475" cy="44774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200"/>
              </a:lnSpc>
              <a:defRPr b="1" spc="-9" sz="1000">
                <a:latin typeface="Arial"/>
                <a:ea typeface="Arial"/>
                <a:cs typeface="Arial"/>
                <a:sym typeface="Arial"/>
              </a:defRPr>
            </a:pPr>
            <a:r>
              <a:t>Priority</a:t>
            </a:r>
            <a:r>
              <a:rPr spc="4"/>
              <a:t> </a:t>
            </a:r>
            <a:r>
              <a:rPr spc="-25"/>
              <a:t>Computation</a:t>
            </a:r>
            <a:r>
              <a:rPr spc="-19"/>
              <a:t> </a:t>
            </a:r>
            <a:r>
              <a:rPr b="0" spc="0"/>
              <a:t>—</a:t>
            </a:r>
            <a:r>
              <a:rPr b="0" spc="-15"/>
              <a:t> </a:t>
            </a:r>
            <a:r>
              <a:rPr b="0" spc="-39"/>
              <a:t>derive</a:t>
            </a:r>
            <a:r>
              <a:rPr b="0" spc="-19"/>
              <a:t> </a:t>
            </a:r>
            <a:r>
              <a:rPr b="0" spc="-39"/>
              <a:t>urgency</a:t>
            </a:r>
            <a:r>
              <a:rPr b="0" spc="-19"/>
              <a:t> </a:t>
            </a:r>
            <a:r>
              <a:rPr b="0" spc="0"/>
              <a:t>from</a:t>
            </a:r>
            <a:r>
              <a:rPr b="0" spc="-15"/>
              <a:t> </a:t>
            </a:r>
            <a:r>
              <a:rPr b="0" spc="0"/>
              <a:t>mobility</a:t>
            </a:r>
            <a:r>
              <a:rPr b="0" spc="-19"/>
              <a:t> and </a:t>
            </a:r>
            <a:r>
              <a:rPr b="0"/>
              <a:t>congestion.</a:t>
            </a:r>
          </a:p>
          <a:p>
            <a:pPr indent="38100">
              <a:lnSpc>
                <a:spcPts val="1100"/>
              </a:lnSpc>
              <a:defRPr b="1" spc="-35" sz="1000">
                <a:latin typeface="Arial"/>
                <a:ea typeface="Arial"/>
                <a:cs typeface="Arial"/>
                <a:sym typeface="Arial"/>
              </a:defRPr>
            </a:pPr>
            <a:r>
              <a:t>List-</a:t>
            </a:r>
            <a:r>
              <a:rPr spc="-25"/>
              <a:t>Based</a:t>
            </a:r>
            <a:r>
              <a:rPr spc="39"/>
              <a:t> </a:t>
            </a:r>
            <a:r>
              <a:rPr spc="-50"/>
              <a:t>Scheduling</a:t>
            </a:r>
            <a:r>
              <a:rPr spc="25"/>
              <a:t> </a:t>
            </a:r>
            <a:r>
              <a:rPr b="0" spc="0"/>
              <a:t>—</a:t>
            </a:r>
            <a:r>
              <a:rPr b="0" spc="15"/>
              <a:t> </a:t>
            </a:r>
            <a:r>
              <a:rPr b="0" spc="-70"/>
              <a:t>assign</a:t>
            </a:r>
            <a:r>
              <a:rPr b="0" spc="9"/>
              <a:t> </a:t>
            </a:r>
            <a:r>
              <a:rPr b="0"/>
              <a:t>operations</a:t>
            </a:r>
            <a:r>
              <a:rPr b="0" spc="15"/>
              <a:t> </a:t>
            </a:r>
            <a:r>
              <a:rPr b="0" spc="-39"/>
              <a:t>respecting</a:t>
            </a:r>
            <a:r>
              <a:rPr b="0" spc="15"/>
              <a:t> </a:t>
            </a:r>
            <a:r>
              <a:rPr b="0" spc="0"/>
              <a:t>FU</a:t>
            </a:r>
            <a:r>
              <a:rPr b="0" spc="9"/>
              <a:t> </a:t>
            </a:r>
            <a:r>
              <a:rPr b="0" spc="-9"/>
              <a:t>limits.</a:t>
            </a:r>
          </a:p>
          <a:p>
            <a:pPr indent="381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5"/>
              <a:t> </a:t>
            </a:r>
            <a:r>
              <a:rPr spc="0"/>
              <a:t>Update</a:t>
            </a:r>
            <a:r>
              <a:rPr spc="4"/>
              <a:t> </a:t>
            </a:r>
            <a:r>
              <a:rPr b="0" spc="0"/>
              <a:t>—</a:t>
            </a:r>
            <a:r>
              <a:rPr b="0" spc="4"/>
              <a:t> </a:t>
            </a:r>
            <a:r>
              <a:rPr b="0" spc="-50"/>
              <a:t>compare</a:t>
            </a:r>
            <a:r>
              <a:rPr b="0" spc="4"/>
              <a:t> </a:t>
            </a:r>
            <a:r>
              <a:rPr b="0" i="1" spc="0"/>
              <a:t>L</a:t>
            </a:r>
            <a:r>
              <a:rPr b="0" baseline="-11902" spc="0">
                <a:latin typeface="Tahoma"/>
                <a:ea typeface="Tahoma"/>
                <a:cs typeface="Tahoma"/>
                <a:sym typeface="Tahoma"/>
              </a:rPr>
              <a:t>final</a:t>
            </a:r>
            <a:r>
              <a:rPr b="0" baseline="-11902" spc="16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b="0" spc="-19"/>
              <a:t>and</a:t>
            </a:r>
            <a:r>
              <a:rPr b="0" spc="9"/>
              <a:t> </a:t>
            </a:r>
            <a:r>
              <a:rPr b="0" i="1" spc="-9"/>
              <a:t>L</a:t>
            </a:r>
            <a:r>
              <a:rPr b="0" baseline="-11902" spc="-15">
                <a:latin typeface="Tahoma"/>
                <a:ea typeface="Tahoma"/>
                <a:cs typeface="Tahoma"/>
                <a:sym typeface="Tahoma"/>
              </a:rPr>
              <a:t>target</a:t>
            </a:r>
            <a:r>
              <a:rPr b="0" spc="-9"/>
              <a:t>.</a:t>
            </a:r>
          </a:p>
        </p:txBody>
      </p:sp>
      <p:pic>
        <p:nvPicPr>
          <p:cNvPr id="137" name="object 12" descr="object 12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81088" y="168733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object 13"/>
          <p:cNvSpPr txBox="1"/>
          <p:nvPr/>
        </p:nvSpPr>
        <p:spPr>
          <a:xfrm>
            <a:off x="402929" y="1615323"/>
            <a:ext cx="438785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50"/>
              <a:t> </a:t>
            </a:r>
            <a:r>
              <a:rPr spc="-65"/>
              <a:t>process</a:t>
            </a:r>
            <a:r>
              <a:rPr spc="-19"/>
              <a:t> </a:t>
            </a:r>
            <a:r>
              <a:rPr spc="-50"/>
              <a:t>repeats</a:t>
            </a:r>
            <a:r>
              <a:rPr spc="-30"/>
              <a:t> </a:t>
            </a:r>
            <a:r>
              <a:rPr spc="-9"/>
              <a:t>until</a:t>
            </a:r>
            <a:r>
              <a:rPr spc="-25"/>
              <a:t> </a:t>
            </a:r>
            <a:r>
              <a:rPr spc="-30"/>
              <a:t>latency </a:t>
            </a:r>
            <a:r>
              <a:rPr spc="-75"/>
              <a:t>converges</a:t>
            </a:r>
            <a:r>
              <a:rPr spc="-9"/>
              <a:t> </a:t>
            </a:r>
            <a:r>
              <a:rPr spc="-30"/>
              <a:t>or </a:t>
            </a:r>
            <a:r>
              <a:rPr spc="-19"/>
              <a:t>the</a:t>
            </a:r>
            <a:r>
              <a:rPr spc="-25"/>
              <a:t> iteration</a:t>
            </a:r>
            <a:r>
              <a:rPr spc="-30"/>
              <a:t> </a:t>
            </a:r>
            <a:r>
              <a:t>limit</a:t>
            </a:r>
            <a:r>
              <a:rPr spc="-25"/>
              <a:t> </a:t>
            </a:r>
            <a:r>
              <a:t>is</a:t>
            </a:r>
            <a:r>
              <a:rPr spc="-25"/>
              <a:t> </a:t>
            </a:r>
            <a:r>
              <a:rPr spc="-19"/>
              <a:t>reached.</a:t>
            </a:r>
          </a:p>
        </p:txBody>
      </p:sp>
      <p:sp>
        <p:nvSpPr>
          <p:cNvPr id="139" name="object 14"/>
          <p:cNvSpPr/>
          <p:nvPr/>
        </p:nvSpPr>
        <p:spPr>
          <a:xfrm>
            <a:off x="87741" y="2029292"/>
            <a:ext cx="5584584" cy="187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61"/>
                </a:lnTo>
                <a:lnTo>
                  <a:pt x="58" y="1716"/>
                </a:lnTo>
                <a:lnTo>
                  <a:pt x="16" y="3574"/>
                </a:lnTo>
                <a:lnTo>
                  <a:pt x="0" y="584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843"/>
                </a:lnTo>
                <a:lnTo>
                  <a:pt x="21584" y="3574"/>
                </a:lnTo>
                <a:lnTo>
                  <a:pt x="21542" y="1716"/>
                </a:lnTo>
                <a:lnTo>
                  <a:pt x="21480" y="461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40" name="object 15"/>
          <p:cNvSpPr txBox="1"/>
          <p:nvPr/>
        </p:nvSpPr>
        <p:spPr>
          <a:xfrm>
            <a:off x="138542" y="2036915"/>
            <a:ext cx="47688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grpSp>
        <p:nvGrpSpPr>
          <p:cNvPr id="143" name="object 16"/>
          <p:cNvGrpSpPr/>
          <p:nvPr/>
        </p:nvGrpSpPr>
        <p:grpSpPr>
          <a:xfrm>
            <a:off x="87739" y="2204439"/>
            <a:ext cx="5584588" cy="414140"/>
            <a:chOff x="-1" y="0"/>
            <a:chExt cx="5584586" cy="414138"/>
          </a:xfrm>
        </p:grpSpPr>
        <p:pic>
          <p:nvPicPr>
            <p:cNvPr id="141" name="object 17" descr="object 17"/>
            <p:cNvPicPr>
              <a:picLocks noChangeAspect="1"/>
            </p:cNvPicPr>
            <p:nvPr/>
          </p:nvPicPr>
          <p:blipFill>
            <a:blip r:embed="rId8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42" name="object 19"/>
            <p:cNvSpPr/>
            <p:nvPr/>
          </p:nvSpPr>
          <p:spPr>
            <a:xfrm>
              <a:off x="-2" y="44281"/>
              <a:ext cx="5584586" cy="369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44" name="object 20"/>
          <p:cNvSpPr txBox="1"/>
          <p:nvPr/>
        </p:nvSpPr>
        <p:spPr>
          <a:xfrm>
            <a:off x="138542" y="2230878"/>
            <a:ext cx="5584830" cy="339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26415">
              <a:lnSpc>
                <a:spcPct val="102600"/>
              </a:lnSpc>
              <a:defRPr i="1" spc="-9" sz="1100">
                <a:latin typeface="Arial"/>
                <a:ea typeface="Arial"/>
                <a:cs typeface="Arial"/>
                <a:sym typeface="Arial"/>
              </a:defRPr>
            </a:pPr>
            <a:r>
              <a:t>Priority</a:t>
            </a:r>
            <a:r>
              <a:rPr spc="30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85"/>
              <a:t>Schedule</a:t>
            </a:r>
            <a:r>
              <a:rPr spc="30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39"/>
              <a:t>Update</a:t>
            </a:r>
            <a:r>
              <a:rPr spc="35"/>
              <a:t> </a:t>
            </a:r>
            <a:r>
              <a:rPr spc="0"/>
              <a:t>→</a:t>
            </a:r>
            <a:r>
              <a:rPr spc="30"/>
              <a:t> </a:t>
            </a:r>
            <a:r>
              <a:rPr spc="-55"/>
              <a:t>Repeat</a:t>
            </a:r>
            <a:r>
              <a:rPr spc="100"/>
              <a:t> </a:t>
            </a:r>
            <a:r>
              <a:rPr i="0" spc="-75">
                <a:latin typeface="Tahoma"/>
                <a:ea typeface="Tahoma"/>
                <a:cs typeface="Tahoma"/>
                <a:sym typeface="Tahoma"/>
              </a:rPr>
              <a:t>ensures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55">
                <a:latin typeface="Tahoma"/>
                <a:ea typeface="Tahoma"/>
                <a:cs typeface="Tahoma"/>
                <a:sym typeface="Tahoma"/>
              </a:rPr>
              <a:t>progressively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65">
                <a:latin typeface="Tahoma"/>
                <a:ea typeface="Tahoma"/>
                <a:cs typeface="Tahoma"/>
                <a:sym typeface="Tahoma"/>
              </a:rPr>
              <a:t>improved</a:t>
            </a:r>
            <a:r>
              <a:rPr i="0" spc="-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45">
                <a:latin typeface="Tahoma"/>
                <a:ea typeface="Tahoma"/>
                <a:cs typeface="Tahoma"/>
                <a:sym typeface="Tahoma"/>
              </a:rPr>
              <a:t>latency-</a:t>
            </a:r>
            <a:r>
              <a:rPr i="0" spc="-19">
                <a:latin typeface="Tahoma"/>
                <a:ea typeface="Tahoma"/>
                <a:cs typeface="Tahoma"/>
                <a:sym typeface="Tahoma"/>
              </a:rPr>
              <a:t>aware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scheduling.</a:t>
            </a:r>
          </a:p>
        </p:txBody>
      </p:sp>
      <p:sp>
        <p:nvSpPr>
          <p:cNvPr id="14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object 2"/>
          <p:cNvSpPr txBox="1"/>
          <p:nvPr>
            <p:ph type="title"/>
          </p:nvPr>
        </p:nvSpPr>
        <p:spPr>
          <a:xfrm>
            <a:off x="95299" y="61883"/>
            <a:ext cx="1256032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Algorithm Forces</a:t>
            </a:r>
          </a:p>
        </p:txBody>
      </p:sp>
      <p:pic>
        <p:nvPicPr>
          <p:cNvPr id="14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652821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49" name="object 4"/>
          <p:cNvSpPr txBox="1"/>
          <p:nvPr/>
        </p:nvSpPr>
        <p:spPr>
          <a:xfrm>
            <a:off x="402930" y="602902"/>
            <a:ext cx="3684275" cy="1651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19"/>
              <a:t> </a:t>
            </a:r>
            <a:r>
              <a:rPr spc="-39"/>
              <a:t>algorithm</a:t>
            </a:r>
            <a:r>
              <a:rPr spc="-19"/>
              <a:t> </a:t>
            </a:r>
            <a:r>
              <a:rPr spc="-65"/>
              <a:t>defines</a:t>
            </a:r>
            <a:r>
              <a:rPr spc="-19"/>
              <a:t> </a:t>
            </a:r>
            <a:r>
              <a:rPr spc="-39"/>
              <a:t>two</a:t>
            </a:r>
            <a:r>
              <a:rPr spc="-19"/>
              <a:t> </a:t>
            </a:r>
            <a:r>
              <a:rPr spc="-35"/>
              <a:t>interacting</a:t>
            </a:r>
            <a:r>
              <a:rPr spc="-19"/>
              <a:t> </a:t>
            </a:r>
            <a:r>
              <a:rPr spc="-55"/>
              <a:t>forces</a:t>
            </a:r>
            <a:r>
              <a:rPr spc="-15"/>
              <a:t> </a:t>
            </a:r>
            <a:r>
              <a:rPr spc="-35"/>
              <a:t>for</a:t>
            </a:r>
            <a:r>
              <a:rPr spc="-19"/>
              <a:t> </a:t>
            </a:r>
            <a:r>
              <a:rPr spc="-60"/>
              <a:t>each</a:t>
            </a:r>
            <a:r>
              <a:rPr spc="-19"/>
              <a:t> </a:t>
            </a:r>
            <a:r>
              <a:rPr spc="-9"/>
              <a:t>operation:</a:t>
            </a:r>
          </a:p>
        </p:txBody>
      </p:sp>
      <p:grpSp>
        <p:nvGrpSpPr>
          <p:cNvPr id="152" name="object 5"/>
          <p:cNvGrpSpPr/>
          <p:nvPr/>
        </p:nvGrpSpPr>
        <p:grpSpPr>
          <a:xfrm>
            <a:off x="510116" y="826206"/>
            <a:ext cx="114220" cy="266049"/>
            <a:chOff x="-1" y="0"/>
            <a:chExt cx="114219" cy="266047"/>
          </a:xfrm>
        </p:grpSpPr>
        <p:pic>
          <p:nvPicPr>
            <p:cNvPr id="150" name="object 6" descr="object 6"/>
            <p:cNvPicPr>
              <a:picLocks noChangeAspect="1"/>
            </p:cNvPicPr>
            <p:nvPr/>
          </p:nvPicPr>
          <p:blipFill>
            <a:blip r:embed="rId3">
              <a:extLst/>
            </a:blip>
            <a:stretch>
              <a:fillRect/>
            </a:stretch>
          </p:blipFill>
          <p:spPr>
            <a:xfrm>
              <a:off x="-2" y="-1"/>
              <a:ext cx="114221" cy="1142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51" name="object 7" descr="object 7"/>
            <p:cNvPicPr>
              <a:picLocks noChangeAspect="1"/>
            </p:cNvPicPr>
            <p:nvPr/>
          </p:nvPicPr>
          <p:blipFill>
            <a:blip r:embed="rId4">
              <a:extLst/>
            </a:blip>
            <a:stretch>
              <a:fillRect/>
            </a:stretch>
          </p:blipFill>
          <p:spPr>
            <a:xfrm>
              <a:off x="-2" y="151829"/>
              <a:ext cx="114221" cy="11421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53" name="object 8"/>
          <p:cNvSpPr txBox="1"/>
          <p:nvPr/>
        </p:nvSpPr>
        <p:spPr>
          <a:xfrm>
            <a:off x="532255" y="825160"/>
            <a:ext cx="70488" cy="250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1</a:t>
            </a:r>
          </a:p>
          <a:p>
            <a:pPr indent="12700">
              <a:spcBef>
                <a:spcPts val="400"/>
              </a:spcBef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2</a:t>
            </a:r>
          </a:p>
        </p:txBody>
      </p:sp>
      <p:sp>
        <p:nvSpPr>
          <p:cNvPr id="154" name="object 9"/>
          <p:cNvSpPr txBox="1"/>
          <p:nvPr/>
        </p:nvSpPr>
        <p:spPr>
          <a:xfrm>
            <a:off x="680034" y="792700"/>
            <a:ext cx="4274185" cy="4536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lnSpc>
                <a:spcPts val="1200"/>
              </a:lnSpc>
              <a:defRPr b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30"/>
              <a:t> </a:t>
            </a:r>
            <a:r>
              <a:rPr spc="-35"/>
              <a:t>Force</a:t>
            </a:r>
            <a:r>
              <a:rPr spc="35"/>
              <a:t> </a:t>
            </a:r>
            <a:r>
              <a:rPr spc="0"/>
              <a:t>(S) </a:t>
            </a:r>
            <a:r>
              <a:rPr b="0" spc="0"/>
              <a:t>—</a:t>
            </a:r>
            <a:r>
              <a:rPr b="0" spc="4"/>
              <a:t> </a:t>
            </a:r>
            <a:r>
              <a:rPr b="0" spc="-70"/>
              <a:t>measures</a:t>
            </a:r>
            <a:r>
              <a:rPr b="0" spc="9"/>
              <a:t> </a:t>
            </a:r>
            <a:r>
              <a:rPr b="0" spc="0"/>
              <a:t>timing </a:t>
            </a:r>
            <a:r>
              <a:rPr b="0" spc="-39"/>
              <a:t>urgency</a:t>
            </a:r>
            <a:r>
              <a:rPr b="0" spc="4"/>
              <a:t> </a:t>
            </a:r>
            <a:r>
              <a:rPr b="0" spc="0"/>
              <a:t>(low</a:t>
            </a:r>
            <a:r>
              <a:rPr b="0" spc="4"/>
              <a:t> </a:t>
            </a:r>
            <a:r>
              <a:rPr b="0" spc="0"/>
              <a:t>mobility </a:t>
            </a:r>
            <a:r>
              <a:rPr b="0" spc="55">
                <a:latin typeface="Lucida Sans Unicode"/>
                <a:ea typeface="Lucida Sans Unicode"/>
                <a:cs typeface="Lucida Sans Unicode"/>
                <a:sym typeface="Lucida Sans Unicode"/>
              </a:rPr>
              <a:t>⇒</a:t>
            </a:r>
            <a:r>
              <a:rPr b="0" spc="-3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spc="-9"/>
              <a:t>high</a:t>
            </a:r>
            <a:r>
              <a:rPr b="0" spc="0"/>
              <a:t> </a:t>
            </a:r>
            <a:r>
              <a:rPr b="0" spc="-9"/>
              <a:t>priority).</a:t>
            </a:r>
          </a:p>
          <a:p>
            <a:pPr indent="12700">
              <a:lnSpc>
                <a:spcPts val="1200"/>
              </a:lnSpc>
              <a:defRPr b="1" spc="-5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50"/>
              <a:t> </a:t>
            </a:r>
            <a:r>
              <a:rPr spc="-35"/>
              <a:t>Force</a:t>
            </a:r>
            <a:r>
              <a:rPr spc="55"/>
              <a:t> </a:t>
            </a:r>
            <a:r>
              <a:rPr spc="0"/>
              <a:t>(C)</a:t>
            </a:r>
            <a:r>
              <a:rPr spc="25"/>
              <a:t> </a:t>
            </a:r>
            <a:r>
              <a:rPr b="0" spc="0"/>
              <a:t>—</a:t>
            </a:r>
            <a:r>
              <a:rPr b="0" spc="19"/>
              <a:t> </a:t>
            </a:r>
            <a:r>
              <a:rPr b="0" spc="-70"/>
              <a:t>measures</a:t>
            </a:r>
            <a:r>
              <a:rPr b="0" spc="30"/>
              <a:t> </a:t>
            </a:r>
            <a:r>
              <a:rPr b="0" spc="-45"/>
              <a:t>congestion</a:t>
            </a:r>
            <a:r>
              <a:rPr b="0" spc="19"/>
              <a:t> </a:t>
            </a:r>
            <a:r>
              <a:rPr b="0" spc="-9"/>
              <a:t>impact</a:t>
            </a:r>
            <a:r>
              <a:rPr b="0" spc="25"/>
              <a:t> </a:t>
            </a:r>
            <a:r>
              <a:rPr b="0" spc="0"/>
              <a:t>(high</a:t>
            </a:r>
            <a:r>
              <a:rPr b="0" spc="19"/>
              <a:t> </a:t>
            </a:r>
            <a:r>
              <a:rPr b="0" spc="-75"/>
              <a:t>usage</a:t>
            </a:r>
            <a:r>
              <a:rPr b="0" spc="19"/>
              <a:t> </a:t>
            </a:r>
            <a:r>
              <a:rPr b="0" spc="55">
                <a:latin typeface="Lucida Sans Unicode"/>
                <a:ea typeface="Lucida Sans Unicode"/>
                <a:cs typeface="Lucida Sans Unicode"/>
                <a:sym typeface="Lucida Sans Unicode"/>
              </a:rPr>
              <a:t>⇒</a:t>
            </a:r>
            <a:r>
              <a:rPr b="0" spc="-9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b="0" spc="-9"/>
              <a:t>penalized).</a:t>
            </a:r>
          </a:p>
        </p:txBody>
      </p:sp>
      <p:pic>
        <p:nvPicPr>
          <p:cNvPr id="155" name="object 10" descr="object 10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29090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56" name="object 11"/>
          <p:cNvSpPr txBox="1"/>
          <p:nvPr/>
        </p:nvSpPr>
        <p:spPr>
          <a:xfrm>
            <a:off x="377314" y="1236505"/>
            <a:ext cx="3735506" cy="9170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Both</a:t>
            </a:r>
            <a:r>
              <a:rPr spc="-39"/>
              <a:t> </a:t>
            </a:r>
            <a:r>
              <a:rPr spc="-55"/>
              <a:t>forces</a:t>
            </a:r>
            <a:r>
              <a:rPr spc="-30"/>
              <a:t> </a:t>
            </a:r>
            <a:r>
              <a:rPr spc="-50"/>
              <a:t>combine</a:t>
            </a:r>
            <a:r>
              <a:rPr spc="-35"/>
              <a:t> </a:t>
            </a:r>
            <a:r>
              <a:rPr spc="-9"/>
              <a:t>into</a:t>
            </a:r>
            <a:r>
              <a:rPr spc="-35"/>
              <a:t> </a:t>
            </a:r>
            <a:r>
              <a:t>a</a:t>
            </a:r>
            <a:r>
              <a:rPr spc="-35"/>
              <a:t> </a:t>
            </a:r>
            <a:r>
              <a:rPr spc="-39"/>
              <a:t>unified</a:t>
            </a:r>
            <a:r>
              <a:rPr spc="-30"/>
              <a:t> </a:t>
            </a:r>
            <a:r>
              <a:rPr spc="-9"/>
              <a:t>priority:</a:t>
            </a:r>
          </a:p>
          <a:p>
            <a:pPr indent="1673860">
              <a:spcBef>
                <a:spcPts val="1100"/>
              </a:spcBef>
              <a:defRPr i="1" spc="-70" sz="1100">
                <a:latin typeface="Arial"/>
                <a:ea typeface="Arial"/>
                <a:cs typeface="Arial"/>
                <a:sym typeface="Arial"/>
              </a:defRPr>
            </a:pPr>
            <a:r>
              <a:t>F</a:t>
            </a:r>
            <a:r>
              <a:rPr spc="-155"/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0"/>
              <a:t>u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19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25"/>
              <a:t>S</a:t>
            </a:r>
            <a:r>
              <a:rPr baseline="-10416" i="0" spc="-37" sz="1200"/>
              <a:t>norm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25"/>
              <a:t>u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-400">
                <a:latin typeface="Lucida Sans Unicode"/>
                <a:ea typeface="Lucida Sans Unicode"/>
                <a:cs typeface="Lucida Sans Unicode"/>
                <a:sym typeface="Lucida Sans Unicode"/>
              </a:rPr>
              <a:t>·</a:t>
            </a:r>
            <a:r>
              <a:rPr baseline="45454" i="0" spc="644" sz="160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spc="-15"/>
              <a:t>( C</a:t>
            </a:r>
            <a:r>
              <a:rPr baseline="-10416" i="0" spc="-22" sz="1200"/>
              <a:t>norm</a:t>
            </a:r>
            <a:r>
              <a:rPr i="0" spc="-15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15"/>
              <a:t>u</a:t>
            </a:r>
            <a:r>
              <a:rPr i="0" spc="-15">
                <a:latin typeface="Tahoma"/>
                <a:ea typeface="Tahoma"/>
                <a:cs typeface="Tahoma"/>
                <a:sym typeface="Tahoma"/>
              </a:rPr>
              <a:t>)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 spc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50"/>
              <a:t>ε )</a:t>
            </a:r>
            <a:r>
              <a:rPr baseline="45454" i="0" spc="-75" sz="1600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endParaRPr baseline="45454" spc="-101" sz="1600">
              <a:latin typeface="Lucida Sans Unicode"/>
              <a:ea typeface="Lucida Sans Unicode"/>
              <a:cs typeface="Lucida Sans Unicode"/>
              <a:sym typeface="Lucida Sans Unicode"/>
            </a:endParaRPr>
          </a:p>
          <a:p>
            <a:pPr indent="38100">
              <a:spcBef>
                <a:spcPts val="1100"/>
              </a:spcBef>
              <a:defRPr spc="-55" sz="1100">
                <a:latin typeface="Tahoma"/>
                <a:ea typeface="Tahoma"/>
                <a:cs typeface="Tahoma"/>
                <a:sym typeface="Tahoma"/>
              </a:defRPr>
            </a:pPr>
            <a:r>
              <a:t>Lower</a:t>
            </a:r>
            <a:r>
              <a:rPr spc="-4"/>
              <a:t> </a:t>
            </a:r>
            <a:r>
              <a:rPr i="1" spc="-70">
                <a:latin typeface="Arial"/>
                <a:ea typeface="Arial"/>
                <a:cs typeface="Arial"/>
                <a:sym typeface="Arial"/>
              </a:rPr>
              <a:t>F</a:t>
            </a:r>
            <a:r>
              <a:rPr i="1" spc="-158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0"/>
              <a:t>(</a:t>
            </a:r>
            <a:r>
              <a:rPr i="1" spc="0">
                <a:latin typeface="Arial"/>
                <a:ea typeface="Arial"/>
                <a:cs typeface="Arial"/>
                <a:sym typeface="Arial"/>
              </a:rPr>
              <a:t>u</a:t>
            </a:r>
            <a:r>
              <a:rPr spc="0"/>
              <a:t>) </a:t>
            </a:r>
            <a:r>
              <a:rPr spc="-70"/>
              <a:t>means</a:t>
            </a:r>
            <a:r>
              <a:rPr spc="4"/>
              <a:t> </a:t>
            </a:r>
            <a:r>
              <a:rPr spc="-50"/>
              <a:t>higher</a:t>
            </a:r>
            <a:r>
              <a:rPr spc="0"/>
              <a:t> </a:t>
            </a:r>
            <a:r>
              <a:t>scheduling</a:t>
            </a:r>
            <a:r>
              <a:rPr spc="4"/>
              <a:t> </a:t>
            </a:r>
            <a:r>
              <a:rPr spc="-9"/>
              <a:t>urgency.</a:t>
            </a:r>
          </a:p>
        </p:txBody>
      </p:sp>
      <p:pic>
        <p:nvPicPr>
          <p:cNvPr id="157" name="object 12" descr="object 12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203392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58" name="object 13"/>
          <p:cNvSpPr/>
          <p:nvPr/>
        </p:nvSpPr>
        <p:spPr>
          <a:xfrm>
            <a:off x="87741" y="2186088"/>
            <a:ext cx="5584584" cy="1983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36"/>
                </a:lnTo>
                <a:lnTo>
                  <a:pt x="58" y="1625"/>
                </a:lnTo>
                <a:lnTo>
                  <a:pt x="16" y="3384"/>
                </a:lnTo>
                <a:lnTo>
                  <a:pt x="0" y="5532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532"/>
                </a:lnTo>
                <a:lnTo>
                  <a:pt x="21584" y="3384"/>
                </a:lnTo>
                <a:lnTo>
                  <a:pt x="21542" y="1625"/>
                </a:lnTo>
                <a:lnTo>
                  <a:pt x="21480" y="436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159" name="object 14"/>
          <p:cNvSpPr txBox="1"/>
          <p:nvPr/>
        </p:nvSpPr>
        <p:spPr>
          <a:xfrm>
            <a:off x="138542" y="2193710"/>
            <a:ext cx="57975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9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Summary</a:t>
            </a:r>
          </a:p>
        </p:txBody>
      </p:sp>
      <p:grpSp>
        <p:nvGrpSpPr>
          <p:cNvPr id="162" name="object 15"/>
          <p:cNvGrpSpPr/>
          <p:nvPr/>
        </p:nvGrpSpPr>
        <p:grpSpPr>
          <a:xfrm>
            <a:off x="87739" y="2371761"/>
            <a:ext cx="5584588" cy="414139"/>
            <a:chOff x="-1" y="0"/>
            <a:chExt cx="5584586" cy="414138"/>
          </a:xfrm>
        </p:grpSpPr>
        <p:pic>
          <p:nvPicPr>
            <p:cNvPr id="160" name="object 16" descr="object 16"/>
            <p:cNvPicPr>
              <a:picLocks noChangeAspect="1"/>
            </p:cNvPicPr>
            <p:nvPr/>
          </p:nvPicPr>
          <p:blipFill>
            <a:blip r:embed="rId7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161" name="object 18"/>
            <p:cNvSpPr/>
            <p:nvPr/>
          </p:nvSpPr>
          <p:spPr>
            <a:xfrm>
              <a:off x="-2" y="44281"/>
              <a:ext cx="5584586" cy="36985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8633"/>
                  </a:lnTo>
                  <a:lnTo>
                    <a:pt x="16" y="19785"/>
                  </a:lnTo>
                  <a:lnTo>
                    <a:pt x="58" y="20728"/>
                  </a:lnTo>
                  <a:lnTo>
                    <a:pt x="120" y="21366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366"/>
                  </a:lnTo>
                  <a:lnTo>
                    <a:pt x="21542" y="20728"/>
                  </a:lnTo>
                  <a:lnTo>
                    <a:pt x="21584" y="19785"/>
                  </a:lnTo>
                  <a:lnTo>
                    <a:pt x="21600" y="18633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163" name="object 19"/>
          <p:cNvSpPr txBox="1"/>
          <p:nvPr/>
        </p:nvSpPr>
        <p:spPr>
          <a:xfrm>
            <a:off x="138542" y="2398202"/>
            <a:ext cx="5584830" cy="3344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27329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</a:t>
            </a:r>
            <a:r>
              <a:rPr spc="-9"/>
              <a:t> </a:t>
            </a:r>
            <a:r>
              <a:rPr spc="-55"/>
              <a:t>dual-force</a:t>
            </a:r>
            <a:r>
              <a:rPr spc="-4"/>
              <a:t> </a:t>
            </a:r>
            <a:r>
              <a:rPr spc="-35"/>
              <a:t>interaction</a:t>
            </a:r>
            <a:r>
              <a:rPr spc="-4"/>
              <a:t> </a:t>
            </a:r>
            <a:r>
              <a:rPr spc="-60"/>
              <a:t>balances</a:t>
            </a:r>
            <a:r>
              <a:rPr spc="-4"/>
              <a:t> </a:t>
            </a:r>
            <a:r>
              <a:rPr spc="-55"/>
              <a:t>delay</a:t>
            </a:r>
            <a:r>
              <a:rPr spc="-4"/>
              <a:t> </a:t>
            </a:r>
            <a:r>
              <a:rPr spc="-35"/>
              <a:t>minimization</a:t>
            </a:r>
            <a:r>
              <a:rPr spc="-4"/>
              <a:t> </a:t>
            </a:r>
            <a:r>
              <a:rPr spc="-45"/>
              <a:t>and</a:t>
            </a:r>
            <a:r>
              <a:rPr spc="-4"/>
              <a:t> </a:t>
            </a:r>
            <a:r>
              <a:rPr spc="-70"/>
              <a:t>resource</a:t>
            </a:r>
            <a:r>
              <a:rPr spc="-4"/>
              <a:t> </a:t>
            </a:r>
            <a:r>
              <a:rPr spc="-35"/>
              <a:t>feasibility</a:t>
            </a:r>
            <a:r>
              <a:rPr spc="-4"/>
              <a:t> </a:t>
            </a:r>
            <a:r>
              <a:rPr spc="-19"/>
              <a:t>within</a:t>
            </a:r>
            <a:r>
              <a:rPr spc="-4"/>
              <a:t> </a:t>
            </a:r>
            <a:r>
              <a:t>a</a:t>
            </a:r>
            <a:r>
              <a:rPr spc="-4"/>
              <a:t> </a:t>
            </a:r>
            <a:r>
              <a:rPr spc="-9"/>
              <a:t>single </a:t>
            </a:r>
            <a:r>
              <a:rPr spc="-35"/>
              <a:t>priority</a:t>
            </a:r>
            <a:r>
              <a:rPr spc="-25"/>
              <a:t> </a:t>
            </a:r>
            <a:r>
              <a:rPr spc="-9"/>
              <a:t>metric.</a:t>
            </a:r>
          </a:p>
        </p:txBody>
      </p:sp>
      <p:sp>
        <p:nvSpPr>
          <p:cNvPr id="164" name="object 2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spc="-100"/>
            </a:lvl1pPr>
          </a:lstStyle>
          <a:p>
            <a:pPr/>
            <a:r>
              <a:t>Summary</a:t>
            </a:r>
          </a:p>
        </p:txBody>
      </p:sp>
      <p:pic>
        <p:nvPicPr>
          <p:cNvPr id="1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51301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8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81088" y="68145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69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0865" y="857034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570865" y="1008860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281088" y="118487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172" name="object 8"/>
          <p:cNvSpPr txBox="1"/>
          <p:nvPr/>
        </p:nvSpPr>
        <p:spPr>
          <a:xfrm>
            <a:off x="100442" y="440991"/>
            <a:ext cx="5459099" cy="111238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3" marR="30480" indent="314958">
              <a:defRPr spc="-39" sz="1100">
                <a:latin typeface="Tahoma"/>
                <a:ea typeface="Tahoma"/>
                <a:cs typeface="Tahoma"/>
                <a:sym typeface="Tahoma"/>
              </a:defRPr>
            </a:pPr>
            <a:r>
              <a:t>Proposed </a:t>
            </a:r>
            <a:r>
              <a:rPr spc="0"/>
              <a:t>a</a:t>
            </a:r>
            <a:r>
              <a:rPr spc="-35"/>
              <a:t> </a:t>
            </a:r>
            <a:r>
              <a:t>suboptimal</a:t>
            </a:r>
            <a:r>
              <a:rPr spc="-35"/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Iterative</a:t>
            </a:r>
            <a:r>
              <a:rPr b="1" spc="39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List</a:t>
            </a:r>
            <a:r>
              <a:rPr b="1" spc="3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60">
                <a:latin typeface="Arial"/>
                <a:ea typeface="Arial"/>
                <a:cs typeface="Arial"/>
                <a:sym typeface="Arial"/>
              </a:rPr>
              <a:t>Scheduling</a:t>
            </a:r>
            <a:r>
              <a:rPr b="1" spc="19">
                <a:latin typeface="Arial"/>
                <a:ea typeface="Arial"/>
                <a:cs typeface="Arial"/>
                <a:sym typeface="Arial"/>
              </a:rPr>
              <a:t> </a:t>
            </a:r>
            <a:r>
              <a:t>algorithm</a:t>
            </a:r>
            <a:r>
              <a:rPr spc="-35"/>
              <a:t> </a:t>
            </a:r>
            <a:r>
              <a:rPr spc="-25"/>
              <a:t>for</a:t>
            </a:r>
            <a:r>
              <a:rPr spc="-35"/>
              <a:t> </a:t>
            </a:r>
            <a:r>
              <a:rPr spc="-19"/>
              <a:t>the</a:t>
            </a:r>
            <a:r>
              <a:rPr spc="-35"/>
              <a:t> </a:t>
            </a:r>
            <a:r>
              <a:rPr b="1" spc="0">
                <a:latin typeface="Arial"/>
                <a:ea typeface="Arial"/>
                <a:cs typeface="Arial"/>
                <a:sym typeface="Arial"/>
              </a:rPr>
              <a:t>ML-RCS</a:t>
            </a:r>
            <a:r>
              <a:rPr b="1" spc="35"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spc="-9">
                <a:latin typeface="Arial"/>
                <a:ea typeface="Arial"/>
                <a:cs typeface="Arial"/>
                <a:sym typeface="Arial"/>
              </a:rPr>
              <a:t>problem</a:t>
            </a:r>
            <a:r>
              <a:rPr spc="-9"/>
              <a:t>. </a:t>
            </a:r>
          </a:p>
          <a:p>
            <a:pPr lvl="3" marR="30480" indent="314958"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Combines</a:t>
            </a:r>
            <a:r>
              <a:rPr spc="-4"/>
              <a:t> </a:t>
            </a:r>
            <a:r>
              <a:rPr spc="-50"/>
              <a:t>Force-</a:t>
            </a:r>
            <a:r>
              <a:rPr spc="-39"/>
              <a:t>Directed</a:t>
            </a:r>
            <a:r>
              <a:rPr spc="-4"/>
              <a:t> </a:t>
            </a:r>
            <a:r>
              <a:t>Scheduling</a:t>
            </a:r>
            <a:r>
              <a:rPr spc="-4"/>
              <a:t> </a:t>
            </a:r>
            <a:r>
              <a:rPr spc="0"/>
              <a:t>(FDS)</a:t>
            </a:r>
            <a:r>
              <a:rPr spc="-4"/>
              <a:t> </a:t>
            </a:r>
            <a:r>
              <a:rPr spc="-55"/>
              <a:t>concepts</a:t>
            </a:r>
            <a:r>
              <a:rPr spc="-4"/>
              <a:t> </a:t>
            </a:r>
            <a:r>
              <a:rPr spc="-9"/>
              <a:t>with</a:t>
            </a:r>
            <a:r>
              <a:rPr spc="-4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spc="-55"/>
              <a:t>dual-force</a:t>
            </a:r>
            <a:r>
              <a:rPr spc="0"/>
              <a:t> </a:t>
            </a:r>
            <a:r>
              <a:rPr spc="-35"/>
              <a:t>priority</a:t>
            </a:r>
            <a:r>
              <a:rPr spc="-4"/>
              <a:t> </a:t>
            </a:r>
            <a:r>
              <a:rPr spc="-9"/>
              <a:t>model:</a:t>
            </a:r>
            <a:endParaRPr spc="-39"/>
          </a:p>
          <a:p>
            <a:pPr indent="591819">
              <a:lnSpc>
                <a:spcPts val="1200"/>
              </a:lnSpc>
              <a:defRPr i="1" spc="-25" sz="1000">
                <a:latin typeface="Arial"/>
                <a:ea typeface="Arial"/>
                <a:cs typeface="Arial"/>
                <a:sym typeface="Arial"/>
              </a:defRPr>
            </a:pPr>
            <a:r>
              <a:t>Latency</a:t>
            </a:r>
            <a:r>
              <a:rPr spc="-9"/>
              <a:t> </a:t>
            </a:r>
            <a:r>
              <a:t>force</a:t>
            </a:r>
            <a:r>
              <a:rPr spc="55"/>
              <a:t> </a:t>
            </a:r>
            <a:r>
              <a:rPr i="0" spc="0"/>
              <a:t>—</a:t>
            </a:r>
            <a:r>
              <a:rPr i="0" spc="-9"/>
              <a:t> </a:t>
            </a:r>
            <a:r>
              <a:rPr i="0" spc="-39"/>
              <a:t>urgency</a:t>
            </a:r>
            <a:r>
              <a:rPr i="0" spc="-4"/>
              <a:t> </a:t>
            </a:r>
            <a:r>
              <a:rPr i="0" spc="0"/>
              <a:t>from</a:t>
            </a:r>
            <a:r>
              <a:rPr i="0" spc="-4"/>
              <a:t> </a:t>
            </a:r>
            <a:r>
              <a:rPr i="0" spc="-50"/>
              <a:t>scheduling</a:t>
            </a:r>
            <a:r>
              <a:rPr i="0" spc="-4"/>
              <a:t> </a:t>
            </a:r>
            <a:r>
              <a:rPr i="0" spc="-9"/>
              <a:t>mobility.</a:t>
            </a:r>
          </a:p>
          <a:p>
            <a:pPr indent="591819">
              <a:lnSpc>
                <a:spcPts val="1200"/>
              </a:lnSpc>
              <a:defRPr i="1" spc="-70" sz="1000">
                <a:latin typeface="Arial"/>
                <a:ea typeface="Arial"/>
                <a:cs typeface="Arial"/>
                <a:sym typeface="Arial"/>
              </a:defRPr>
            </a:pPr>
            <a:r>
              <a:t>Resource</a:t>
            </a:r>
            <a:r>
              <a:rPr spc="0"/>
              <a:t> </a:t>
            </a:r>
            <a:r>
              <a:rPr spc="-25"/>
              <a:t>force</a:t>
            </a:r>
            <a:r>
              <a:rPr spc="60"/>
              <a:t> </a:t>
            </a:r>
            <a:r>
              <a:rPr i="0" spc="0"/>
              <a:t>— </a:t>
            </a:r>
            <a:r>
              <a:rPr i="0" spc="-25"/>
              <a:t>probabilistic,</a:t>
            </a:r>
            <a:r>
              <a:rPr i="0" spc="0"/>
              <a:t> </a:t>
            </a:r>
            <a:r>
              <a:rPr i="0" spc="-39"/>
              <a:t>non-</a:t>
            </a:r>
            <a:r>
              <a:rPr i="0" spc="-35"/>
              <a:t>myopic</a:t>
            </a:r>
            <a:r>
              <a:rPr i="0" spc="0"/>
              <a:t> FU</a:t>
            </a:r>
            <a:r>
              <a:rPr i="0" spc="4"/>
              <a:t> </a:t>
            </a:r>
            <a:r>
              <a:rPr i="0" spc="-9"/>
              <a:t>congestion.</a:t>
            </a:r>
          </a:p>
          <a:p>
            <a:pPr indent="314958">
              <a:spcBef>
                <a:spcPts val="100"/>
              </a:spcBef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Iterative</a:t>
            </a:r>
            <a:r>
              <a:rPr spc="-9"/>
              <a:t> </a:t>
            </a:r>
            <a:r>
              <a:rPr spc="-55"/>
              <a:t>refinement</a:t>
            </a:r>
            <a:r>
              <a:rPr spc="-9"/>
              <a:t> </a:t>
            </a:r>
            <a:r>
              <a:rPr spc="0"/>
              <a:t>of</a:t>
            </a:r>
            <a:r>
              <a:rPr spc="-9"/>
              <a:t> </a:t>
            </a:r>
            <a:r>
              <a:rPr i="1" spc="0">
                <a:latin typeface="Arial"/>
                <a:ea typeface="Arial"/>
                <a:cs typeface="Arial"/>
                <a:sym typeface="Arial"/>
              </a:rPr>
              <a:t>L</a:t>
            </a:r>
            <a:r>
              <a:rPr baseline="-10416" spc="0" sz="1200">
                <a:latin typeface="Arial"/>
                <a:ea typeface="Arial"/>
                <a:cs typeface="Arial"/>
                <a:sym typeface="Arial"/>
              </a:rPr>
              <a:t>target</a:t>
            </a:r>
            <a:r>
              <a:rPr baseline="-10416" spc="240" sz="12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spc="-60"/>
              <a:t>balances</a:t>
            </a:r>
            <a:r>
              <a:rPr spc="-4"/>
              <a:t> </a:t>
            </a:r>
            <a:r>
              <a:rPr spc="-55"/>
              <a:t>delay</a:t>
            </a:r>
            <a:r>
              <a:rPr spc="-9"/>
              <a:t> </a:t>
            </a:r>
            <a:r>
              <a:t>and</a:t>
            </a:r>
            <a:r>
              <a:rPr spc="-9"/>
              <a:t> </a:t>
            </a:r>
            <a:r>
              <a:rPr spc="-70"/>
              <a:t>resource</a:t>
            </a:r>
            <a:r>
              <a:rPr spc="-9"/>
              <a:t> </a:t>
            </a:r>
            <a:r>
              <a:rPr spc="-19"/>
              <a:t>use.</a:t>
            </a:r>
          </a:p>
          <a:p>
            <a:pPr indent="38100">
              <a:spcBef>
                <a:spcPts val="10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Proven</a:t>
            </a:r>
            <a:r>
              <a:rPr spc="4"/>
              <a:t> </a:t>
            </a:r>
            <a:r>
              <a:rPr spc="-9"/>
              <a:t>properties:</a:t>
            </a:r>
          </a:p>
        </p:txBody>
      </p:sp>
      <p:pic>
        <p:nvPicPr>
          <p:cNvPr id="173" name="object 9" descr="object 9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227672" y="1648024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74" name="object 10"/>
          <p:cNvSpPr txBox="1"/>
          <p:nvPr/>
        </p:nvSpPr>
        <p:spPr>
          <a:xfrm>
            <a:off x="249809" y="1646964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175" name="object 11"/>
          <p:cNvSpPr txBox="1"/>
          <p:nvPr/>
        </p:nvSpPr>
        <p:spPr>
          <a:xfrm>
            <a:off x="402931" y="1609821"/>
            <a:ext cx="2496823" cy="7228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5080" indent="12700">
              <a:lnSpc>
                <a:spcPct val="112599"/>
              </a:lnSpc>
              <a:spcBef>
                <a:spcPts val="100"/>
              </a:spcBef>
              <a:defRPr spc="-35" sz="1100">
                <a:latin typeface="Tahoma"/>
                <a:ea typeface="Tahoma"/>
                <a:cs typeface="Tahoma"/>
                <a:sym typeface="Tahoma"/>
              </a:defRPr>
            </a:pPr>
            <a:r>
              <a:t>Produces</a:t>
            </a:r>
            <a:r>
              <a:rPr spc="-4"/>
              <a:t> </a:t>
            </a:r>
            <a:r>
              <a:rPr spc="-25"/>
              <a:t>valid,</a:t>
            </a:r>
            <a:r>
              <a:rPr spc="-4"/>
              <a:t> </a:t>
            </a:r>
            <a:r>
              <a:rPr spc="-70"/>
              <a:t>resource-</a:t>
            </a:r>
            <a:r>
              <a:rPr spc="-50"/>
              <a:t>feasible</a:t>
            </a:r>
            <a:r>
              <a:rPr spc="-4"/>
              <a:t> </a:t>
            </a:r>
            <a:r>
              <a:rPr spc="-50"/>
              <a:t>schedules. </a:t>
            </a:r>
            <a:r>
              <a:rPr spc="-55"/>
              <a:t>Guaranteed</a:t>
            </a:r>
            <a:r>
              <a:rPr spc="-9"/>
              <a:t> termination.</a:t>
            </a:r>
          </a:p>
          <a:p>
            <a:pPr marR="10160" indent="12700">
              <a:lnSpc>
                <a:spcPct val="112599"/>
              </a:lnSpc>
              <a:defRPr spc="-45" sz="1100">
                <a:latin typeface="Tahoma"/>
                <a:ea typeface="Tahoma"/>
                <a:cs typeface="Tahoma"/>
                <a:sym typeface="Tahoma"/>
              </a:defRPr>
            </a:pPr>
            <a:r>
              <a:t>Respects</a:t>
            </a:r>
            <a:r>
              <a:rPr spc="-25"/>
              <a:t> </a:t>
            </a:r>
            <a:r>
              <a:rPr spc="-19"/>
              <a:t>the </a:t>
            </a:r>
            <a:r>
              <a:rPr spc="-30"/>
              <a:t>critical-</a:t>
            </a:r>
            <a:r>
              <a:rPr spc="-9"/>
              <a:t>path</a:t>
            </a:r>
            <a:r>
              <a:rPr spc="-25"/>
              <a:t> </a:t>
            </a:r>
            <a:r>
              <a:rPr spc="-65"/>
              <a:t>lower</a:t>
            </a:r>
            <a:r>
              <a:rPr spc="-19"/>
              <a:t> </a:t>
            </a:r>
            <a:r>
              <a:rPr spc="-9"/>
              <a:t>bound. Optimal</a:t>
            </a:r>
            <a:r>
              <a:rPr spc="-19"/>
              <a:t> </a:t>
            </a:r>
            <a:r>
              <a:rPr spc="-70"/>
              <a:t>when</a:t>
            </a:r>
            <a:r>
              <a:rPr spc="-15"/>
              <a:t> </a:t>
            </a:r>
            <a:r>
              <a:rPr spc="-65"/>
              <a:t>resources</a:t>
            </a:r>
            <a:r>
              <a:rPr spc="-15"/>
              <a:t> </a:t>
            </a:r>
            <a:r>
              <a:rPr spc="-70"/>
              <a:t>are</a:t>
            </a:r>
            <a:r>
              <a:rPr spc="-15"/>
              <a:t> </a:t>
            </a:r>
            <a:r>
              <a:t>unconstrained.</a:t>
            </a:r>
          </a:p>
        </p:txBody>
      </p:sp>
      <p:pic>
        <p:nvPicPr>
          <p:cNvPr id="176" name="object 12" descr="object 12"/>
          <p:cNvPicPr>
            <a:picLocks noChangeAspect="1"/>
          </p:cNvPicPr>
          <p:nvPr/>
        </p:nvPicPr>
        <p:blipFill>
          <a:blip r:embed="rId8">
            <a:extLst/>
          </a:blip>
          <a:stretch>
            <a:fillRect/>
          </a:stretch>
        </p:blipFill>
        <p:spPr>
          <a:xfrm>
            <a:off x="227672" y="1836708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object 13"/>
          <p:cNvSpPr txBox="1"/>
          <p:nvPr/>
        </p:nvSpPr>
        <p:spPr>
          <a:xfrm>
            <a:off x="249809" y="1835648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2</a:t>
            </a:r>
          </a:p>
        </p:txBody>
      </p:sp>
      <p:pic>
        <p:nvPicPr>
          <p:cNvPr id="178" name="object 14" descr="object 14"/>
          <p:cNvPicPr>
            <a:picLocks noChangeAspect="1"/>
          </p:cNvPicPr>
          <p:nvPr/>
        </p:nvPicPr>
        <p:blipFill>
          <a:blip r:embed="rId9">
            <a:extLst/>
          </a:blip>
          <a:stretch>
            <a:fillRect/>
          </a:stretch>
        </p:blipFill>
        <p:spPr>
          <a:xfrm>
            <a:off x="227672" y="2025392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object 15"/>
          <p:cNvSpPr txBox="1"/>
          <p:nvPr/>
        </p:nvSpPr>
        <p:spPr>
          <a:xfrm>
            <a:off x="249809" y="2024333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80" name="object 16" descr="object 16"/>
          <p:cNvPicPr>
            <a:picLocks noChangeAspect="1"/>
          </p:cNvPicPr>
          <p:nvPr/>
        </p:nvPicPr>
        <p:blipFill>
          <a:blip r:embed="rId10">
            <a:extLst/>
          </a:blip>
          <a:stretch>
            <a:fillRect/>
          </a:stretch>
        </p:blipFill>
        <p:spPr>
          <a:xfrm>
            <a:off x="227672" y="2214060"/>
            <a:ext cx="114214" cy="114217"/>
          </a:xfrm>
          <a:prstGeom prst="rect">
            <a:avLst/>
          </a:prstGeom>
          <a:ln w="12700">
            <a:miter lim="400000"/>
          </a:ln>
        </p:spPr>
      </p:pic>
      <p:sp>
        <p:nvSpPr>
          <p:cNvPr id="181" name="object 17"/>
          <p:cNvSpPr txBox="1"/>
          <p:nvPr/>
        </p:nvSpPr>
        <p:spPr>
          <a:xfrm>
            <a:off x="249809" y="2213018"/>
            <a:ext cx="70488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defRPr spc="-50" sz="600">
                <a:solidFill>
                  <a:srgbClr val="FFFFFF"/>
                </a:solidFill>
                <a:latin typeface="Lucida Sans Unicode"/>
                <a:ea typeface="Lucida Sans Unicode"/>
                <a:cs typeface="Lucida Sans Unicode"/>
                <a:sym typeface="Lucida Sans Unicode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82" name="object 18"/>
          <p:cNvSpPr txBox="1"/>
          <p:nvPr/>
        </p:nvSpPr>
        <p:spPr>
          <a:xfrm>
            <a:off x="113141" y="2471620"/>
            <a:ext cx="4663446" cy="4319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25400">
              <a:defRPr b="1" spc="-9" sz="1100">
                <a:latin typeface="Arial"/>
                <a:ea typeface="Arial"/>
                <a:cs typeface="Arial"/>
                <a:sym typeface="Arial"/>
              </a:defRPr>
            </a:pPr>
            <a:r>
              <a:t>Complexity:</a:t>
            </a:r>
          </a:p>
          <a:p>
            <a:pPr indent="921385">
              <a:spcBef>
                <a:spcPts val="700"/>
              </a:spcBef>
              <a:tabLst>
                <a:tab pos="3048000" algn="l"/>
              </a:tabLst>
              <a:defRPr i="1" sz="1100">
                <a:latin typeface="Arial"/>
                <a:ea typeface="Arial"/>
                <a:cs typeface="Arial"/>
                <a:sym typeface="Arial"/>
              </a:defRPr>
            </a:pPr>
            <a:r>
              <a:t>T</a:t>
            </a:r>
            <a:r>
              <a:rPr baseline="-13887" i="0" sz="1200"/>
              <a:t>Total</a:t>
            </a:r>
            <a:r>
              <a:rPr baseline="-13887" i="0" spc="247" sz="1200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4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O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t>K</a:t>
            </a:r>
            <a:r>
              <a:rPr spc="-158"/>
              <a:t> </a:t>
            </a:r>
            <a:r>
              <a:rPr i="0" spc="-9">
                <a:latin typeface="Tahoma"/>
                <a:ea typeface="Tahoma"/>
                <a:cs typeface="Tahoma"/>
                <a:sym typeface="Tahoma"/>
              </a:rPr>
              <a:t>(</a:t>
            </a:r>
            <a:r>
              <a:rPr spc="-9"/>
              <a:t>L</a:t>
            </a:r>
            <a:r>
              <a:rPr baseline="-10416" i="0" spc="-15" sz="1200"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spc="-9"/>
              <a:t>N</a:t>
            </a:r>
            <a:r>
              <a:rPr spc="-4"/>
              <a:t> </a:t>
            </a:r>
            <a:r>
              <a:rPr i="0" spc="-45">
                <a:latin typeface="Tahoma"/>
                <a:ea typeface="Tahoma"/>
                <a:cs typeface="Tahoma"/>
                <a:sym typeface="Tahoma"/>
              </a:rPr>
              <a:t>log</a:t>
            </a:r>
            <a:r>
              <a:rPr i="0" spc="-1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N</a:t>
            </a:r>
            <a:r>
              <a:rPr spc="60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7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95"/>
              <a:t>E</a:t>
            </a:r>
            <a:r>
              <a:rPr spc="-162"/>
              <a:t> </a:t>
            </a:r>
            <a:r>
              <a:rPr i="0" spc="-25">
                <a:latin typeface="Tahoma"/>
                <a:ea typeface="Tahoma"/>
                <a:cs typeface="Tahoma"/>
                <a:sym typeface="Tahoma"/>
              </a:rPr>
              <a:t>))</a:t>
            </a:r>
            <a:r>
              <a:rPr spc="-25"/>
              <a:t>,</a:t>
            </a:r>
            <a:r>
              <a:t>	</a:t>
            </a:r>
            <a:r>
              <a:rPr i="0" spc="-65">
                <a:latin typeface="Tahoma"/>
                <a:ea typeface="Tahoma"/>
                <a:cs typeface="Tahoma"/>
                <a:sym typeface="Tahoma"/>
              </a:rPr>
              <a:t>Space</a:t>
            </a:r>
            <a:r>
              <a:rPr i="0" spc="-3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i="0" spc="-3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O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(</a:t>
            </a:r>
            <a:r>
              <a:t>N</a:t>
            </a:r>
            <a:r>
              <a:rPr spc="39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t>E</a:t>
            </a:r>
            <a:r>
              <a:rPr spc="75"/>
              <a:t> </a:t>
            </a:r>
            <a:r>
              <a:rPr i="0">
                <a:latin typeface="Tahoma"/>
                <a:ea typeface="Tahoma"/>
                <a:cs typeface="Tahoma"/>
                <a:sym typeface="Tahoma"/>
              </a:rPr>
              <a:t>+</a:t>
            </a:r>
            <a:r>
              <a:rPr i="0" spc="-95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spc="-9"/>
              <a:t>L</a:t>
            </a:r>
            <a:r>
              <a:rPr baseline="-10416" i="0" spc="-15" sz="1200">
                <a:latin typeface="Tahoma"/>
                <a:ea typeface="Tahoma"/>
                <a:cs typeface="Tahoma"/>
                <a:sym typeface="Tahoma"/>
              </a:rPr>
              <a:t>max</a:t>
            </a:r>
            <a:r>
              <a:rPr i="0" spc="-9">
                <a:latin typeface="Tahoma"/>
                <a:ea typeface="Tahoma"/>
                <a:cs typeface="Tahoma"/>
                <a:sym typeface="Tahoma"/>
              </a:rPr>
              <a:t>)</a:t>
            </a:r>
          </a:p>
        </p:txBody>
      </p:sp>
      <p:sp>
        <p:nvSpPr>
          <p:cNvPr id="183" name="object 19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Where we left off:</a:t>
            </a:r>
            <a:r>
              <a:rPr b="0"/>
              <a:t> Algorithm Limitations</a:t>
            </a:r>
          </a:p>
        </p:txBody>
      </p:sp>
      <p:pic>
        <p:nvPicPr>
          <p:cNvPr id="18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0865" y="1173212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70865" y="1325041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object 6" descr="object 6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81088" y="1889809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object 7" descr="object 7"/>
          <p:cNvPicPr>
            <a:picLocks noChangeAspect="1"/>
          </p:cNvPicPr>
          <p:nvPr/>
        </p:nvPicPr>
        <p:blipFill>
          <a:blip r:embed="rId6">
            <a:extLst/>
          </a:blip>
          <a:stretch>
            <a:fillRect/>
          </a:stretch>
        </p:blipFill>
        <p:spPr>
          <a:xfrm>
            <a:off x="570865" y="2067255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" name="object 8" descr="object 8"/>
          <p:cNvPicPr>
            <a:picLocks noChangeAspect="1"/>
          </p:cNvPicPr>
          <p:nvPr/>
        </p:nvPicPr>
        <p:blipFill>
          <a:blip r:embed="rId7">
            <a:extLst/>
          </a:blip>
          <a:stretch>
            <a:fillRect/>
          </a:stretch>
        </p:blipFill>
        <p:spPr>
          <a:xfrm>
            <a:off x="570865" y="2219098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192" name="object 9"/>
          <p:cNvSpPr txBox="1"/>
          <p:nvPr/>
        </p:nvSpPr>
        <p:spPr>
          <a:xfrm>
            <a:off x="402930" y="973567"/>
            <a:ext cx="5122550" cy="1495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Suboptimal</a:t>
            </a:r>
            <a:r>
              <a:rPr spc="4"/>
              <a:t> </a:t>
            </a:r>
            <a:r>
              <a:rPr spc="-19"/>
              <a:t>by</a:t>
            </a:r>
            <a:r>
              <a:rPr spc="4"/>
              <a:t> </a:t>
            </a:r>
            <a:r>
              <a:rPr spc="-39"/>
              <a:t>Design</a:t>
            </a:r>
            <a:r>
              <a:rPr spc="9"/>
              <a:t> </a:t>
            </a:r>
            <a:r>
              <a:t>(Greedy</a:t>
            </a:r>
            <a:r>
              <a:rPr spc="4"/>
              <a:t> </a:t>
            </a:r>
            <a:r>
              <a:rPr spc="-9"/>
              <a:t>Heuristic):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Scheduling</a:t>
            </a:r>
            <a:r>
              <a:rPr spc="-19"/>
              <a:t> </a:t>
            </a:r>
            <a:r>
              <a:rPr spc="0"/>
              <a:t>is</a:t>
            </a:r>
            <a:r>
              <a:rPr spc="-4"/>
              <a:t> </a:t>
            </a:r>
            <a:r>
              <a:t>NP-</a:t>
            </a:r>
            <a:r>
              <a:rPr spc="-30"/>
              <a:t>complete;</a:t>
            </a:r>
            <a:r>
              <a:rPr spc="-9"/>
              <a:t> </a:t>
            </a:r>
            <a:r>
              <a:rPr spc="-75"/>
              <a:t>we</a:t>
            </a:r>
            <a:r>
              <a:rPr spc="4"/>
              <a:t> </a:t>
            </a:r>
            <a:r>
              <a:rPr spc="0"/>
              <a:t>aim</a:t>
            </a:r>
            <a:r>
              <a:rPr spc="-4"/>
              <a:t> </a:t>
            </a:r>
            <a:r>
              <a:rPr spc="0"/>
              <a:t>for</a:t>
            </a:r>
            <a:r>
              <a:rPr spc="-4"/>
              <a:t> </a:t>
            </a:r>
            <a:r>
              <a:rPr spc="0"/>
              <a:t>a</a:t>
            </a:r>
            <a:r>
              <a:rPr spc="-4"/>
              <a:t> </a:t>
            </a:r>
            <a:r>
              <a:rPr spc="-19"/>
              <a:t>good</a:t>
            </a:r>
            <a:r>
              <a:rPr spc="-9"/>
              <a:t> </a:t>
            </a:r>
            <a:r>
              <a:rPr spc="-19"/>
              <a:t>solution,</a:t>
            </a:r>
            <a:r>
              <a:rPr spc="-4"/>
              <a:t> </a:t>
            </a:r>
            <a:r>
              <a:rPr spc="0"/>
              <a:t>not</a:t>
            </a:r>
            <a:r>
              <a:rPr spc="-4"/>
              <a:t> </a:t>
            </a:r>
            <a:r>
              <a:rPr spc="0"/>
              <a:t>a</a:t>
            </a:r>
            <a:r>
              <a:rPr spc="-9"/>
              <a:t> </a:t>
            </a:r>
            <a:r>
              <a:rPr spc="-50"/>
              <a:t>guaranteed</a:t>
            </a:r>
            <a:r>
              <a:rPr spc="-4"/>
              <a:t> </a:t>
            </a:r>
            <a:r>
              <a:rPr spc="-9"/>
              <a:t>optimal </a:t>
            </a:r>
            <a:r>
              <a:rPr spc="-19"/>
              <a:t>one. </a:t>
            </a:r>
          </a:p>
          <a:p>
            <a:pPr marR="215265" indent="289558" algn="just">
              <a:spcBef>
                <a:spcPts val="100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Our</a:t>
            </a:r>
            <a:r>
              <a:rPr spc="-19"/>
              <a:t> algorithm</a:t>
            </a:r>
            <a:r>
              <a:rPr spc="-4"/>
              <a:t> </a:t>
            </a:r>
            <a:r>
              <a:t>is</a:t>
            </a:r>
            <a:r>
              <a:rPr spc="-9"/>
              <a:t> </a:t>
            </a:r>
            <a:r>
              <a:t>a</a:t>
            </a:r>
            <a:r>
              <a:rPr spc="-4"/>
              <a:t> </a:t>
            </a:r>
            <a:r>
              <a:rPr b="1" spc="-39"/>
              <a:t>greedy</a:t>
            </a:r>
            <a:r>
              <a:rPr b="1" spc="4"/>
              <a:t> </a:t>
            </a:r>
            <a:r>
              <a:t>List</a:t>
            </a:r>
            <a:r>
              <a:rPr spc="-4"/>
              <a:t> </a:t>
            </a:r>
            <a:r>
              <a:rPr spc="-39"/>
              <a:t>Scheduler:</a:t>
            </a:r>
            <a:r>
              <a:rPr spc="79"/>
              <a:t> </a:t>
            </a:r>
            <a:r>
              <a:t>it</a:t>
            </a:r>
            <a:r>
              <a:rPr spc="-4"/>
              <a:t> </a:t>
            </a:r>
            <a:r>
              <a:rPr spc="-75"/>
              <a:t>makes</a:t>
            </a:r>
            <a:r>
              <a:rPr spc="4"/>
              <a:t> </a:t>
            </a:r>
            <a:r>
              <a:t>the</a:t>
            </a:r>
            <a:r>
              <a:rPr spc="-4"/>
              <a:t> </a:t>
            </a:r>
            <a:r>
              <a:rPr spc="-19"/>
              <a:t>best</a:t>
            </a:r>
            <a:r>
              <a:rPr spc="-4"/>
              <a:t> </a:t>
            </a:r>
            <a:r>
              <a:rPr spc="-19"/>
              <a:t>greedy</a:t>
            </a:r>
            <a:r>
              <a:rPr spc="-9"/>
              <a:t> </a:t>
            </a:r>
            <a:r>
              <a:rPr spc="-50"/>
              <a:t>choice</a:t>
            </a:r>
            <a:r>
              <a:rPr spc="-4"/>
              <a:t> </a:t>
            </a:r>
            <a:r>
              <a:rPr spc="-50"/>
              <a:t>(based</a:t>
            </a:r>
            <a:r>
              <a:rPr spc="-9"/>
              <a:t> </a:t>
            </a:r>
            <a:r>
              <a:t>on</a:t>
            </a:r>
            <a:r>
              <a:rPr spc="-4"/>
              <a:t> </a:t>
            </a:r>
            <a:r>
              <a:rPr spc="-25"/>
              <a:t>our </a:t>
            </a:r>
            <a:r>
              <a:rPr spc="-19"/>
              <a:t>heuristic mixing local urgency and global cost)</a:t>
            </a:r>
            <a:r>
              <a:rPr spc="4"/>
              <a:t> </a:t>
            </a:r>
            <a:r>
              <a:rPr spc="-25"/>
              <a:t>and</a:t>
            </a:r>
            <a:r>
              <a:rPr spc="4"/>
              <a:t> </a:t>
            </a:r>
            <a:r>
              <a:rPr b="1" spc="-25"/>
              <a:t>never</a:t>
            </a:r>
            <a:r>
              <a:rPr b="1" spc="35"/>
              <a:t> </a:t>
            </a:r>
            <a:r>
              <a:rPr b="1" spc="-35"/>
              <a:t>backtracks</a:t>
            </a:r>
            <a:r>
              <a:rPr b="1" spc="4"/>
              <a:t> </a:t>
            </a:r>
            <a:r>
              <a:t>to</a:t>
            </a:r>
            <a:r>
              <a:rPr spc="9"/>
              <a:t> </a:t>
            </a:r>
            <a:r>
              <a:t>fix</a:t>
            </a:r>
            <a:r>
              <a:rPr spc="4"/>
              <a:t> </a:t>
            </a:r>
            <a:r>
              <a:rPr spc="-19"/>
              <a:t>strategic</a:t>
            </a:r>
            <a:r>
              <a:rPr spc="4"/>
              <a:t> </a:t>
            </a:r>
            <a:r>
              <a:rPr spc="-9"/>
              <a:t>mistakes.</a:t>
            </a:r>
            <a:endParaRPr spc="-45"/>
          </a:p>
          <a:p>
            <a:pPr>
              <a:defRPr spc="-9" sz="1000">
                <a:latin typeface="Arial"/>
                <a:ea typeface="Arial"/>
                <a:cs typeface="Arial"/>
                <a:sym typeface="Arial"/>
              </a:defRPr>
            </a:pPr>
          </a:p>
          <a:p>
            <a:pPr indent="12700">
              <a:defRPr b="1" spc="-35" sz="1100">
                <a:latin typeface="Arial"/>
                <a:ea typeface="Arial"/>
                <a:cs typeface="Arial"/>
                <a:sym typeface="Arial"/>
              </a:defRPr>
            </a:pPr>
            <a:r>
              <a:t>Heuristic</a:t>
            </a:r>
            <a:r>
              <a:rPr spc="45"/>
              <a:t> </a:t>
            </a:r>
            <a:r>
              <a:rPr spc="-19"/>
              <a:t>Limitations</a:t>
            </a:r>
            <a:r>
              <a:rPr spc="50"/>
              <a:t> </a:t>
            </a:r>
            <a:r>
              <a:rPr spc="0"/>
              <a:t>(e.g.,</a:t>
            </a:r>
            <a:r>
              <a:rPr spc="50"/>
              <a:t> </a:t>
            </a:r>
            <a:r>
              <a:rPr spc="-45"/>
              <a:t>False</a:t>
            </a:r>
            <a:r>
              <a:rPr spc="45"/>
              <a:t> </a:t>
            </a:r>
            <a:r>
              <a:rPr spc="-9"/>
              <a:t>Ties):</a:t>
            </a:r>
          </a:p>
          <a:p>
            <a:pPr indent="289558" algn="just">
              <a:lnSpc>
                <a:spcPts val="1200"/>
              </a:lnSpc>
              <a:spcBef>
                <a:spcPts val="100"/>
              </a:spcBef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The</a:t>
            </a:r>
            <a:r>
              <a:rPr spc="-60"/>
              <a:t> </a:t>
            </a:r>
            <a:r>
              <a:rPr spc="-9"/>
              <a:t>priority</a:t>
            </a:r>
            <a:r>
              <a:rPr spc="9"/>
              <a:t> </a:t>
            </a:r>
            <a:r>
              <a:rPr spc="-25"/>
              <a:t>formula</a:t>
            </a:r>
            <a:r>
              <a:rPr spc="15"/>
              <a:t> </a:t>
            </a:r>
            <a:r>
              <a:t>(</a:t>
            </a:r>
            <a:r>
              <a:rPr i="1"/>
              <a:t>F</a:t>
            </a:r>
            <a:r>
              <a:rPr i="1" spc="85"/>
              <a:t> </a:t>
            </a:r>
            <a:r>
              <a:rPr>
                <a:latin typeface="Tahoma"/>
                <a:ea typeface="Tahoma"/>
                <a:cs typeface="Tahoma"/>
                <a:sym typeface="Tahoma"/>
              </a:rPr>
              <a:t>=</a:t>
            </a:r>
            <a:r>
              <a:rPr spc="-70">
                <a:latin typeface="Tahoma"/>
                <a:ea typeface="Tahoma"/>
                <a:cs typeface="Tahoma"/>
                <a:sym typeface="Tahoma"/>
              </a:rPr>
              <a:t> </a:t>
            </a:r>
            <a:r>
              <a:rPr i="1" spc="-120"/>
              <a:t>S</a:t>
            </a:r>
            <a:r>
              <a:rPr i="1" spc="35"/>
              <a:t> </a:t>
            </a:r>
            <a:r>
              <a:rPr spc="-365">
                <a:latin typeface="Lucida Sans Unicode"/>
                <a:ea typeface="Lucida Sans Unicode"/>
                <a:cs typeface="Lucida Sans Unicode"/>
                <a:sym typeface="Lucida Sans Unicode"/>
              </a:rPr>
              <a:t>·</a:t>
            </a:r>
            <a:r>
              <a:rPr spc="-95">
                <a:latin typeface="Lucida Sans Unicode"/>
                <a:ea typeface="Lucida Sans Unicode"/>
                <a:cs typeface="Lucida Sans Unicode"/>
                <a:sym typeface="Lucida Sans Unicode"/>
              </a:rPr>
              <a:t> </a:t>
            </a:r>
            <a:r>
              <a:rPr i="1" spc="-100"/>
              <a:t>C</a:t>
            </a:r>
            <a:r>
              <a:rPr i="1" spc="-159"/>
              <a:t> </a:t>
            </a:r>
            <a:r>
              <a:t>)</a:t>
            </a:r>
            <a:r>
              <a:rPr spc="15"/>
              <a:t> </a:t>
            </a:r>
            <a:r>
              <a:t>is</a:t>
            </a:r>
            <a:r>
              <a:rPr spc="15"/>
              <a:t> </a:t>
            </a:r>
            <a:r>
              <a:rPr spc="-9"/>
              <a:t>an</a:t>
            </a:r>
            <a:r>
              <a:rPr spc="9"/>
              <a:t> </a:t>
            </a:r>
            <a:r>
              <a:rPr spc="-30"/>
              <a:t>estimate,</a:t>
            </a:r>
            <a:r>
              <a:rPr spc="15"/>
              <a:t> </a:t>
            </a:r>
            <a:r>
              <a:t>not</a:t>
            </a:r>
            <a:r>
              <a:rPr spc="15"/>
              <a:t> </a:t>
            </a:r>
            <a:r>
              <a:t>a</a:t>
            </a:r>
            <a:r>
              <a:rPr spc="9"/>
              <a:t> </a:t>
            </a:r>
            <a:r>
              <a:rPr spc="-19"/>
              <a:t>perfect</a:t>
            </a:r>
            <a:r>
              <a:rPr spc="15"/>
              <a:t> </a:t>
            </a:r>
            <a:r>
              <a:rPr spc="-30"/>
              <a:t>model</a:t>
            </a:r>
            <a:r>
              <a:rPr spc="15"/>
              <a:t> </a:t>
            </a:r>
            <a:r>
              <a:t>of</a:t>
            </a:r>
            <a:r>
              <a:rPr spc="15"/>
              <a:t> </a:t>
            </a:r>
            <a:r>
              <a:rPr spc="-9"/>
              <a:t>cost.</a:t>
            </a:r>
          </a:p>
          <a:p>
            <a:pPr marR="5080" indent="289558">
              <a:lnSpc>
                <a:spcPts val="1200"/>
              </a:lnSpc>
              <a:defRPr sz="1000">
                <a:latin typeface="Arial"/>
                <a:ea typeface="Arial"/>
                <a:cs typeface="Arial"/>
                <a:sym typeface="Arial"/>
              </a:defRPr>
            </a:pPr>
            <a:r>
              <a:t>It</a:t>
            </a:r>
            <a:r>
              <a:rPr spc="-9"/>
              <a:t> </a:t>
            </a:r>
            <a:r>
              <a:rPr spc="-39"/>
              <a:t>can</a:t>
            </a:r>
            <a:r>
              <a:rPr spc="-9"/>
              <a:t> </a:t>
            </a:r>
            <a:r>
              <a:rPr spc="-35"/>
              <a:t>create</a:t>
            </a:r>
            <a:r>
              <a:rPr spc="-9"/>
              <a:t> </a:t>
            </a:r>
            <a:r>
              <a:rPr i="1" spc="-39"/>
              <a:t>false</a:t>
            </a:r>
            <a:r>
              <a:rPr i="1" spc="-9"/>
              <a:t> </a:t>
            </a:r>
            <a:r>
              <a:rPr i="1"/>
              <a:t>ties</a:t>
            </a:r>
            <a:r>
              <a:rPr i="1" spc="60"/>
              <a:t> </a:t>
            </a:r>
            <a:r>
              <a:t>(like</a:t>
            </a:r>
            <a:r>
              <a:rPr spc="-9"/>
              <a:t> </a:t>
            </a:r>
            <a:r>
              <a:rPr i="1"/>
              <a:t>a </a:t>
            </a:r>
            <a:r>
              <a:rPr spc="-9"/>
              <a:t>vs.</a:t>
            </a:r>
            <a:r>
              <a:rPr spc="79"/>
              <a:t> </a:t>
            </a:r>
            <a:r>
              <a:rPr i="1"/>
              <a:t>d</a:t>
            </a:r>
            <a:r>
              <a:rPr i="1" spc="70"/>
              <a:t> </a:t>
            </a:r>
            <a:r>
              <a:t>in</a:t>
            </a:r>
            <a:r>
              <a:rPr spc="-9"/>
              <a:t> </a:t>
            </a:r>
            <a:r>
              <a:rPr spc="-39"/>
              <a:t>Example.</a:t>
            </a:r>
            <a:r>
              <a:rPr spc="79"/>
              <a:t> </a:t>
            </a:r>
            <a:r>
              <a:t>2),</a:t>
            </a:r>
            <a:r>
              <a:rPr spc="-9"/>
              <a:t> </a:t>
            </a:r>
            <a:r>
              <a:rPr spc="-19"/>
              <a:t>forcing</a:t>
            </a:r>
            <a:r>
              <a:rPr spc="-9"/>
              <a:t> an</a:t>
            </a:r>
            <a:r>
              <a:rPr spc="-4"/>
              <a:t> </a:t>
            </a:r>
            <a:r>
              <a:rPr spc="-19"/>
              <a:t>arbitrary</a:t>
            </a:r>
            <a:r>
              <a:rPr spc="-9"/>
              <a:t> (e.g., alphabetical) </a:t>
            </a:r>
            <a:r>
              <a:rPr spc="-25"/>
              <a:t>tie-</a:t>
            </a:r>
            <a:r>
              <a:rPr spc="-9"/>
              <a:t>break.</a:t>
            </a:r>
          </a:p>
        </p:txBody>
      </p:sp>
      <p:sp>
        <p:nvSpPr>
          <p:cNvPr id="193" name="object 1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19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197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567554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98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2" y="1222200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199" name="object 9"/>
          <p:cNvSpPr txBox="1"/>
          <p:nvPr/>
        </p:nvSpPr>
        <p:spPr>
          <a:xfrm>
            <a:off x="402930" y="973567"/>
            <a:ext cx="5122550" cy="10053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Non-Myopic Congestion Cost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Modified the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calculation to use the </a:t>
            </a:r>
            <a:r>
              <a:rPr b="1"/>
              <a:t>average expected usage</a:t>
            </a:r>
            <a:r>
              <a:t> </a:t>
            </a:r>
            <a14:m>
              <m:oMath>
                <m:sSup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p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𝑔</m:t>
                    </m:r>
                  </m:sup>
                </m:sSup>
              </m:oMath>
            </a14:m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instead of the peak usage </a:t>
            </a:r>
            <a14:m>
              <m:oMath>
                <m:sSup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p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𝑥</m:t>
                    </m:r>
                  </m:sup>
                </m:sSup>
              </m:oMath>
            </a14:m>
            <a:r>
              <a:t> over the critical path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</a:p>
          <a:p>
            <a:pPr lvl="3"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Why?</a:t>
            </a:r>
            <a:r>
              <a:rPr b="0"/>
              <a:t> Average gives a better estimate of the expected resource usage with respect to the </a:t>
            </a:r>
          </a:p>
          <a:p>
            <a:pPr lvl="4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worst case given by taking the maximum.</a:t>
            </a:r>
          </a:p>
          <a:p>
            <a:pPr lvl="1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new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i="1"/>
              <a:t> </a:t>
            </a:r>
            <a:r>
              <a:t>formula is the following:</a:t>
            </a:r>
            <a:endParaRPr sz="1132"/>
          </a:p>
        </p:txBody>
      </p:sp>
      <p:sp>
        <p:nvSpPr>
          <p:cNvPr id="200" name="Equation"/>
          <p:cNvSpPr txBox="1"/>
          <p:nvPr/>
        </p:nvSpPr>
        <p:spPr>
          <a:xfrm>
            <a:off x="2086627" y="2042240"/>
            <a:ext cx="1604047" cy="395834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/>
          <a:p>
            <a:pPr latinLnBrk="1"/>
            <a14:m>
              <m:oMathPara>
                <m:oMathParaPr>
                  <m:jc m:val="centerGroup"/>
                </m:oMathParaPr>
                <m:oMath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𝑢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0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f>
                    <m:fPr>
                      <m:ctrlP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num>
                    <m:den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</m:den>
                  </m:f>
                  <m:limLow>
                    <m:e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f>
                    <m:fPr>
                      <m:ctrlPr>
                        <a:rPr xmlns:a="http://schemas.openxmlformats.org/drawingml/2006/main" sz="10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  <m:type m:val="bar"/>
                    </m:fPr>
                    <m:num>
                      <m:sSubSup>
                        <m:e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𝑞</m:t>
                          </m:r>
                        </m:e>
                        <m:sub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  <m:sup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𝑔</m:t>
                          </m:r>
                        </m:sup>
                      </m:sSubSup>
                    </m:num>
                    <m:den>
                      <m:sSub>
                        <m:e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𝑒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𝑣</m:t>
                          </m:r>
                          <m:r>
                            <a:rPr xmlns:a="http://schemas.openxmlformats.org/drawingml/2006/main" sz="10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b>
                      </m:sSub>
                    </m:den>
                  </m:f>
                </m:oMath>
              </m:oMathPara>
            </a14:m>
            <a:endParaRPr sz="1000"/>
          </a:p>
        </p:txBody>
      </p:sp>
      <p:pic>
        <p:nvPicPr>
          <p:cNvPr id="201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883446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02" name="object 10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0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06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567554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07" name="object 5" descr="object 5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95942" y="1222200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08" name="object 9"/>
          <p:cNvSpPr txBox="1"/>
          <p:nvPr/>
        </p:nvSpPr>
        <p:spPr>
          <a:xfrm>
            <a:off x="402930" y="973567"/>
            <a:ext cx="5122550" cy="152835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Probability Distribution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The calculation of the probabilistic FU usage 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𝑚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was corrected to accurately model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operations with </a:t>
            </a: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&gt;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.</a:t>
            </a:r>
          </a:p>
          <a:p>
            <a:pPr lvl="3"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Why?</a:t>
            </a:r>
            <a:r>
              <a:rPr b="0"/>
              <a:t> While an operation has a uniform probability of starting in any cycle within its mobility </a:t>
            </a:r>
          </a:p>
          <a:p>
            <a:pPr lvl="3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window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[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ASAP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,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ALAP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]</m:t>
                </m:r>
              </m:oMath>
            </a14:m>
            <a:r>
              <a:t>, its actual occupation time of the resource lasts for </a:t>
            </a:r>
            <a:r>
              <a:rPr i="1"/>
              <a:t>L </a:t>
            </a:r>
            <a:r>
              <a:t>cycles.</a:t>
            </a:r>
          </a:p>
          <a:p>
            <a:pPr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Impact:</a:t>
            </a:r>
            <a:r>
              <a:rPr b="0"/>
              <a:t> When we sum these individual probabilities, the effective resource utilization profile </a:t>
            </a:r>
          </a:p>
          <a:p>
            <a:pPr marR="215265" indent="289558" algn="just">
              <a:spcBef>
                <a:spcPts val="100"/>
              </a:spcBef>
              <a:defRPr spc="-45" sz="1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𝑞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𝑚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000">
                <a:latin typeface="Arial"/>
                <a:ea typeface="Arial"/>
                <a:cs typeface="Arial"/>
                <a:sym typeface="Arial"/>
              </a:rPr>
              <a:t> becomes non-uniform and peaked in the middle of the operation's time range, </a:t>
            </a:r>
            <a:endParaRPr sz="10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accurately reflecting the higher expected congestion in those central cycles. This provides a </a:t>
            </a:r>
          </a:p>
          <a:p>
            <a:pPr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realistic basis for the Congestion Cost </a:t>
            </a:r>
            <a14:m>
              <m:oMath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.</a:t>
            </a:r>
            <a:endParaRPr sz="1132"/>
          </a:p>
        </p:txBody>
      </p:sp>
      <p:pic>
        <p:nvPicPr>
          <p:cNvPr id="209" name="object 4" descr="object 4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95942" y="1883446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1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101419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1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338" y="2348415"/>
            <a:ext cx="52593" cy="52593"/>
          </a:xfrm>
          <a:prstGeom prst="rect">
            <a:avLst/>
          </a:prstGeom>
          <a:ln w="12700">
            <a:miter lim="400000"/>
          </a:ln>
        </p:spPr>
      </p:pic>
      <p:pic>
        <p:nvPicPr>
          <p:cNvPr id="215" name="object 4" descr="object 4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2338" y="1188941"/>
            <a:ext cx="52593" cy="52593"/>
          </a:xfrm>
          <a:prstGeom prst="rect">
            <a:avLst/>
          </a:prstGeom>
          <a:ln w="12700">
            <a:miter lim="400000"/>
          </a:ln>
        </p:spPr>
      </p:pic>
      <p:sp>
        <p:nvSpPr>
          <p:cNvPr id="216" name="object 9"/>
          <p:cNvSpPr txBox="1"/>
          <p:nvPr/>
        </p:nvSpPr>
        <p:spPr>
          <a:xfrm>
            <a:off x="402930" y="966764"/>
            <a:ext cx="5122550" cy="1782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pPr>
            <a:r>
              <a:t>Relaxed Latency Initialization 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The outer loop now starts from a relaxed upper bound 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(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LatencyParameter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d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S</m:t>
                    </m:r>
                  </m:sub>
                </m:sSub>
              </m:oMath>
            </a14:m>
            <a:r>
              <a:t> , where </a:t>
            </a: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LatencyParameter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1.5</m:t>
                </m:r>
              </m:oMath>
            </a14:m>
            <a:endParaRPr spc="-45"/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and iteratively decrements the target latency by (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c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-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u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n</m:t>
                    </m:r>
                  </m:sub>
                </m:sSub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-</m:t>
                </m:r>
                <m: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1</m:t>
                </m:r>
              </m:oMath>
            </a14:m>
            <a:r>
              <a:t>) to find </a:t>
            </a:r>
            <a:endParaRPr spc="-45"/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r>
              <a:t>the minimum feasible solution. If no solution is found, </a:t>
            </a:r>
            <a14:m>
              <m:oMath>
                <m:sSub>
                  <m:e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L</m:t>
                    </m:r>
                  </m:e>
                  <m:sub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a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g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e</m:t>
                    </m:r>
                    <m:r>
                      <a:rPr xmlns:a="http://schemas.openxmlformats.org/drawingml/2006/main"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t</m:t>
                    </m:r>
                  </m:sub>
                </m:sSub>
              </m:oMath>
            </a14:m>
            <a:r>
              <a:t> is multiplied again by 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14:m>
              <m:oMath>
                <m:r>
                  <m:rPr>
                    <m:nor/>
                  </m:rPr>
                  <a:rPr xmlns:a="http://schemas.openxmlformats.org/drawingml/2006/main" sz="12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LatencyParameter</m:t>
                </m:r>
              </m:oMath>
            </a14:m>
            <a:r>
              <a:t>, and the loop is run again, until a valid solution is found.</a:t>
            </a:r>
          </a:p>
          <a:p>
            <a:pPr lvl="1" marR="215265" indent="289558" algn="just">
              <a:spcBef>
                <a:spcPts val="100"/>
              </a:spcBef>
              <a:defRPr spc="-27" sz="1000">
                <a:latin typeface="Arial"/>
                <a:ea typeface="Arial"/>
                <a:cs typeface="Arial"/>
                <a:sym typeface="Arial"/>
              </a:defRPr>
            </a:pPr>
            <a:endParaRPr spc="-45"/>
          </a:p>
          <a:p>
            <a:pPr lvl="4" marR="215265" indent="289558" algn="just">
              <a:spcBef>
                <a:spcPts val="100"/>
              </a:spcBef>
              <a:defRPr b="1" spc="-45" sz="1000">
                <a:latin typeface="Arial"/>
                <a:ea typeface="Arial"/>
                <a:cs typeface="Arial"/>
                <a:sym typeface="Arial"/>
              </a:defRPr>
            </a:pPr>
            <a:r>
              <a:t>Why?</a:t>
            </a:r>
            <a:r>
              <a:rPr b="0"/>
              <a:t> Using an upper bound that can only be decreased, prevents oscillating </a:t>
            </a:r>
          </a:p>
          <a:p>
            <a:pPr lvl="4" marR="215265" indent="289558" algn="just">
              <a:spcBef>
                <a:spcPts val="100"/>
              </a:spcBef>
              <a:defRPr spc="-45" sz="1000">
                <a:latin typeface="Arial"/>
                <a:ea typeface="Arial"/>
                <a:cs typeface="Arial"/>
                <a:sym typeface="Arial"/>
              </a:defRPr>
            </a:pPr>
            <a:r>
              <a:t>behaviors and allows for a controlled convergence path </a:t>
            </a:r>
            <a:r>
              <a:rPr spc="-49" sz="1100"/>
              <a:t> </a:t>
            </a:r>
            <a:endParaRPr spc="-49" sz="1100"/>
          </a:p>
        </p:txBody>
      </p:sp>
      <p:sp>
        <p:nvSpPr>
          <p:cNvPr id="217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Requested Adjustments</a:t>
            </a:r>
          </a:p>
        </p:txBody>
      </p:sp>
      <p:pic>
        <p:nvPicPr>
          <p:cNvPr id="22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46385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21" name="object 9"/>
          <p:cNvSpPr txBox="1"/>
          <p:nvPr/>
        </p:nvSpPr>
        <p:spPr>
          <a:xfrm>
            <a:off x="402930" y="422578"/>
            <a:ext cx="5122550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indent="12700">
              <a:spcBef>
                <a:spcPts val="200"/>
              </a:spcBef>
              <a:defRPr b="1" spc="-30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Relaxed Latency Initialization: Pseudo Code of Control Structure</a:t>
            </a:r>
          </a:p>
        </p:txBody>
      </p:sp>
      <p:sp>
        <p:nvSpPr>
          <p:cNvPr id="222" name="object 4"/>
          <p:cNvSpPr txBox="1"/>
          <p:nvPr/>
        </p:nvSpPr>
        <p:spPr>
          <a:xfrm>
            <a:off x="330495" y="637615"/>
            <a:ext cx="5122551" cy="605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Calculate Upper_Bound_Latency using LS and multiply by LatencyParameter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Calculate Lower_Bound_Latency using ASAP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Repeat</a:t>
            </a:r>
            <a:r>
              <a:t> </a:t>
            </a:r>
          </a:p>
        </p:txBody>
      </p:sp>
      <p:sp>
        <p:nvSpPr>
          <p:cNvPr id="223" name="object 4"/>
          <p:cNvSpPr txBox="1"/>
          <p:nvPr/>
        </p:nvSpPr>
        <p:spPr>
          <a:xfrm>
            <a:off x="509248" y="1097551"/>
            <a:ext cx="4765045" cy="46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Success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false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Target_Latency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Upper_Bound_Latency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Repeat</a:t>
            </a:r>
          </a:p>
        </p:txBody>
      </p:sp>
      <p:sp>
        <p:nvSpPr>
          <p:cNvPr id="224" name="object 4"/>
          <p:cNvSpPr txBox="1"/>
          <p:nvPr/>
        </p:nvSpPr>
        <p:spPr>
          <a:xfrm>
            <a:off x="670260" y="1607124"/>
            <a:ext cx="4765045" cy="935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Run LS with current Target_Latency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 </a:t>
            </a:r>
            <a:r>
              <a:rPr b="0"/>
              <a:t>valid_schedule is found: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225" name="object 4"/>
          <p:cNvSpPr txBox="1"/>
          <p:nvPr/>
        </p:nvSpPr>
        <p:spPr>
          <a:xfrm>
            <a:off x="872085" y="1910282"/>
            <a:ext cx="4765045" cy="4669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Save current result as Best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Success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true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Target_Latency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Current_Run_Latency - 1</a:t>
            </a:r>
            <a:endParaRPr sz="900"/>
          </a:p>
        </p:txBody>
      </p:sp>
      <p:sp>
        <p:nvSpPr>
          <p:cNvPr id="226" name="object 4"/>
          <p:cNvSpPr txBox="1"/>
          <p:nvPr/>
        </p:nvSpPr>
        <p:spPr>
          <a:xfrm>
            <a:off x="509248" y="2416872"/>
            <a:ext cx="4765045" cy="3073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Until</a:t>
            </a:r>
            <a:r>
              <a:t> no valid_schedule or Target_Latency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≤</m:t>
                </m:r>
              </m:oMath>
            </a14:m>
            <a:r>
              <a:t> Lower_Bound_Latency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If</a:t>
            </a:r>
            <a:r>
              <a:t> no valid_schedule found: </a:t>
            </a:r>
          </a:p>
        </p:txBody>
      </p:sp>
      <p:sp>
        <p:nvSpPr>
          <p:cNvPr id="227" name="object 4"/>
          <p:cNvSpPr txBox="1"/>
          <p:nvPr/>
        </p:nvSpPr>
        <p:spPr>
          <a:xfrm>
            <a:off x="670260" y="2741505"/>
            <a:ext cx="4765045" cy="3145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spcBef>
                <a:spcPts val="200"/>
              </a:spcBef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Lower_Bound_Latency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Upper_Bound_Latency + 1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Upper_Bound_Latency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t> Upper_Bound_Latency </a:t>
            </a:r>
            <a14:m>
              <m:oMath>
                <m:r>
                  <a:rPr xmlns:a="http://schemas.openxmlformats.org/drawingml/2006/main" sz="105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</m:oMath>
            </a14:m>
            <a:r>
              <a:t> Latency_Parameter</a:t>
            </a:r>
            <a:endParaRPr sz="900"/>
          </a:p>
        </p:txBody>
      </p:sp>
      <p:sp>
        <p:nvSpPr>
          <p:cNvPr id="228" name="object 4"/>
          <p:cNvSpPr txBox="1"/>
          <p:nvPr/>
        </p:nvSpPr>
        <p:spPr>
          <a:xfrm>
            <a:off x="330495" y="3063359"/>
            <a:ext cx="5122551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Until</a:t>
            </a:r>
            <a:r>
              <a:t> Success is true</a:t>
            </a:r>
          </a:p>
        </p:txBody>
      </p:sp>
      <p:sp>
        <p:nvSpPr>
          <p:cNvPr id="229" name="object 10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Effect:</a:t>
            </a:r>
            <a:r>
              <a:rPr b="0"/>
              <a:t> Example 1</a:t>
            </a:r>
          </a:p>
        </p:txBody>
      </p:sp>
      <p:sp>
        <p:nvSpPr>
          <p:cNvPr id="232" name="object 29"/>
          <p:cNvSpPr/>
          <p:nvPr/>
        </p:nvSpPr>
        <p:spPr>
          <a:xfrm>
            <a:off x="87741" y="1988080"/>
            <a:ext cx="5584584" cy="193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48"/>
                </a:lnTo>
                <a:lnTo>
                  <a:pt x="58" y="1669"/>
                </a:lnTo>
                <a:lnTo>
                  <a:pt x="16" y="3477"/>
                </a:lnTo>
                <a:lnTo>
                  <a:pt x="0" y="568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683"/>
                </a:lnTo>
                <a:lnTo>
                  <a:pt x="21584" y="3477"/>
                </a:lnTo>
                <a:lnTo>
                  <a:pt x="21542" y="1669"/>
                </a:lnTo>
                <a:lnTo>
                  <a:pt x="21480" y="448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33" name="object 30"/>
          <p:cNvSpPr txBox="1"/>
          <p:nvPr/>
        </p:nvSpPr>
        <p:spPr>
          <a:xfrm>
            <a:off x="138541" y="2000973"/>
            <a:ext cx="383545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7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</a:t>
            </a:r>
          </a:p>
        </p:txBody>
      </p:sp>
      <p:grpSp>
        <p:nvGrpSpPr>
          <p:cNvPr id="236" name="object 31"/>
          <p:cNvGrpSpPr/>
          <p:nvPr/>
        </p:nvGrpSpPr>
        <p:grpSpPr>
          <a:xfrm>
            <a:off x="87739" y="2168499"/>
            <a:ext cx="5584588" cy="593907"/>
            <a:chOff x="-1" y="0"/>
            <a:chExt cx="5584586" cy="593906"/>
          </a:xfrm>
        </p:grpSpPr>
        <p:pic>
          <p:nvPicPr>
            <p:cNvPr id="234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35" name="object 34"/>
            <p:cNvSpPr/>
            <p:nvPr/>
          </p:nvSpPr>
          <p:spPr>
            <a:xfrm>
              <a:off x="-2" y="44277"/>
              <a:ext cx="5584586" cy="5496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604"/>
                  </a:lnTo>
                  <a:lnTo>
                    <a:pt x="16" y="20379"/>
                  </a:lnTo>
                  <a:lnTo>
                    <a:pt x="58" y="21014"/>
                  </a:lnTo>
                  <a:lnTo>
                    <a:pt x="120" y="2144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42"/>
                  </a:lnTo>
                  <a:lnTo>
                    <a:pt x="21542" y="21014"/>
                  </a:lnTo>
                  <a:lnTo>
                    <a:pt x="21584" y="20379"/>
                  </a:lnTo>
                  <a:lnTo>
                    <a:pt x="21600" y="1960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37" name="object 35"/>
          <p:cNvSpPr txBox="1"/>
          <p:nvPr/>
        </p:nvSpPr>
        <p:spPr>
          <a:xfrm>
            <a:off x="138542" y="2194939"/>
            <a:ext cx="5584830" cy="5061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3980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 new changes still succeed to identify </a:t>
            </a:r>
            <a:r>
              <a:rPr b="1"/>
              <a:t>d</a:t>
            </a:r>
            <a:r>
              <a:t> </a:t>
            </a:r>
            <a:r>
              <a:rPr spc="-50"/>
              <a:t>as</a:t>
            </a:r>
            <a:r>
              <a:rPr spc="-3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50"/>
              <a:t>higher</a:t>
            </a:r>
            <a:r>
              <a:rPr spc="-35"/>
              <a:t> priority</a:t>
            </a:r>
            <a:r>
              <a:rPr spc="-30"/>
              <a:t> </a:t>
            </a:r>
            <a:r>
              <a:t>task with respect to </a:t>
            </a:r>
            <a:r>
              <a:rPr b="1"/>
              <a:t>a</a:t>
            </a:r>
            <a:r>
              <a:t>.</a:t>
            </a:r>
            <a:r>
              <a:rPr spc="70"/>
              <a:t> </a:t>
            </a:r>
            <a:r>
              <a:t>This</a:t>
            </a:r>
            <a:r>
              <a:rPr spc="-30"/>
              <a:t> </a:t>
            </a:r>
            <a:r>
              <a:rPr spc="-39"/>
              <a:t>choice</a:t>
            </a:r>
            <a:r>
              <a:rPr spc="-35"/>
              <a:t> </a:t>
            </a:r>
            <a:r>
              <a:rPr spc="-9"/>
              <a:t>allows </a:t>
            </a:r>
            <a:r>
              <a:rPr spc="-35"/>
              <a:t>the </a:t>
            </a:r>
            <a:r>
              <a:t>MUL</a:t>
            </a:r>
            <a:r>
              <a:rPr spc="-25"/>
              <a:t> </a:t>
            </a:r>
            <a:r>
              <a:rPr spc="-39"/>
              <a:t>operation</a:t>
            </a:r>
            <a:r>
              <a:rPr spc="-30"/>
              <a:t> </a:t>
            </a:r>
            <a:r>
              <a:rPr spc="225">
                <a:latin typeface="Cambria"/>
                <a:ea typeface="Cambria"/>
                <a:cs typeface="Cambria"/>
                <a:sym typeface="Cambria"/>
              </a:rPr>
              <a:t>f</a:t>
            </a:r>
            <a:r>
              <a:rPr spc="79">
                <a:latin typeface="Cambria"/>
                <a:ea typeface="Cambria"/>
                <a:cs typeface="Cambria"/>
                <a:sym typeface="Cambria"/>
              </a:rPr>
              <a:t> </a:t>
            </a:r>
            <a:r>
              <a:t>to</a:t>
            </a:r>
            <a:r>
              <a:rPr spc="-25"/>
              <a:t> </a:t>
            </a:r>
            <a:r>
              <a:rPr spc="-50"/>
              <a:t>be</a:t>
            </a:r>
            <a:r>
              <a:rPr spc="-25"/>
              <a:t> </a:t>
            </a:r>
            <a:r>
              <a:rPr spc="-70"/>
              <a:t>scheduled</a:t>
            </a:r>
            <a:r>
              <a:rPr spc="-19"/>
              <a:t> </a:t>
            </a:r>
            <a:r>
              <a:t>in</a:t>
            </a:r>
            <a:r>
              <a:rPr spc="-25"/>
              <a:t> </a:t>
            </a:r>
            <a:r>
              <a:rPr spc="-39"/>
              <a:t>parallel</a:t>
            </a:r>
            <a:r>
              <a:rPr spc="-25"/>
              <a:t> </a:t>
            </a:r>
            <a:r>
              <a:rPr spc="-9"/>
              <a:t>("hidden"),</a:t>
            </a:r>
            <a:r>
              <a:rPr spc="-19"/>
              <a:t> </a:t>
            </a:r>
            <a:r>
              <a:rPr spc="-45"/>
              <a:t>resulting</a:t>
            </a:r>
            <a:r>
              <a:rPr spc="-25"/>
              <a:t> </a:t>
            </a:r>
            <a:r>
              <a:t>in</a:t>
            </a:r>
            <a:r>
              <a:rPr spc="-25"/>
              <a:t> an optimal latency of 6.</a:t>
            </a:r>
          </a:p>
        </p:txBody>
      </p:sp>
      <p:pic>
        <p:nvPicPr>
          <p:cNvPr id="238" name="Screenshot 2025-12-11 at 11.47.33 AM.png" descr="Screenshot 2025-12-11 at 11.47.33 AM.png"/>
          <p:cNvPicPr>
            <a:picLocks noChangeAspect="1"/>
          </p:cNvPicPr>
          <p:nvPr/>
        </p:nvPicPr>
        <p:blipFill>
          <a:blip r:embed="rId3">
            <a:extLst/>
          </a:blip>
          <a:srcRect l="0" t="0" r="50483" b="0"/>
          <a:stretch>
            <a:fillRect/>
          </a:stretch>
        </p:blipFill>
        <p:spPr>
          <a:xfrm>
            <a:off x="392887" y="365904"/>
            <a:ext cx="1861099" cy="9022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9" name="Screenshot 2025-12-11 at 11.48.01 AM.png" descr="Screenshot 2025-12-11 at 11.48.01 AM.png"/>
          <p:cNvPicPr>
            <a:picLocks noChangeAspect="1"/>
          </p:cNvPicPr>
          <p:nvPr/>
        </p:nvPicPr>
        <p:blipFill>
          <a:blip r:embed="rId4">
            <a:extLst/>
          </a:blip>
          <a:srcRect l="0" t="20568" r="0" b="0"/>
          <a:stretch>
            <a:fillRect/>
          </a:stretch>
        </p:blipFill>
        <p:spPr>
          <a:xfrm>
            <a:off x="2379003" y="778210"/>
            <a:ext cx="3227311" cy="785939"/>
          </a:xfrm>
          <a:prstGeom prst="rect">
            <a:avLst/>
          </a:prstGeom>
          <a:ln w="12700">
            <a:miter lim="400000"/>
          </a:ln>
        </p:spPr>
      </p:pic>
      <p:pic>
        <p:nvPicPr>
          <p:cNvPr id="240" name="Screenshot 2025-12-11 at 11.47.33 AM.png" descr="Screenshot 2025-12-11 at 11.47.33 AM.png"/>
          <p:cNvPicPr>
            <a:picLocks noChangeAspect="1"/>
          </p:cNvPicPr>
          <p:nvPr/>
        </p:nvPicPr>
        <p:blipFill>
          <a:blip r:embed="rId3">
            <a:extLst/>
          </a:blip>
          <a:srcRect l="49668" t="17293" r="0" b="17293"/>
          <a:stretch>
            <a:fillRect/>
          </a:stretch>
        </p:blipFill>
        <p:spPr>
          <a:xfrm>
            <a:off x="333355" y="1312294"/>
            <a:ext cx="1861077" cy="580596"/>
          </a:xfrm>
          <a:prstGeom prst="rect">
            <a:avLst/>
          </a:prstGeom>
          <a:ln w="12700">
            <a:miter lim="400000"/>
          </a:ln>
        </p:spPr>
      </p:pic>
      <p:sp>
        <p:nvSpPr>
          <p:cNvPr id="241" name="object 36"/>
          <p:cNvSpPr txBox="1"/>
          <p:nvPr>
            <p:ph type="sldNum" sz="quarter" idx="4294967295"/>
          </p:nvPr>
        </p:nvSpPr>
        <p:spPr>
          <a:xfrm>
            <a:off x="5405628" y="3111880"/>
            <a:ext cx="127001" cy="1270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Effect:</a:t>
            </a:r>
            <a:r>
              <a:rPr b="0"/>
              <a:t> Example 2</a:t>
            </a:r>
          </a:p>
        </p:txBody>
      </p:sp>
      <p:sp>
        <p:nvSpPr>
          <p:cNvPr id="244" name="object 29"/>
          <p:cNvSpPr/>
          <p:nvPr/>
        </p:nvSpPr>
        <p:spPr>
          <a:xfrm>
            <a:off x="87741" y="1988080"/>
            <a:ext cx="5584584" cy="1930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fill="norm" stroke="1" extrusionOk="0">
                <a:moveTo>
                  <a:pt x="21404" y="0"/>
                </a:moveTo>
                <a:lnTo>
                  <a:pt x="196" y="0"/>
                </a:lnTo>
                <a:lnTo>
                  <a:pt x="120" y="448"/>
                </a:lnTo>
                <a:lnTo>
                  <a:pt x="58" y="1669"/>
                </a:lnTo>
                <a:lnTo>
                  <a:pt x="16" y="3477"/>
                </a:lnTo>
                <a:lnTo>
                  <a:pt x="0" y="5683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5683"/>
                </a:lnTo>
                <a:lnTo>
                  <a:pt x="21584" y="3477"/>
                </a:lnTo>
                <a:lnTo>
                  <a:pt x="21542" y="1669"/>
                </a:lnTo>
                <a:lnTo>
                  <a:pt x="21480" y="448"/>
                </a:lnTo>
                <a:lnTo>
                  <a:pt x="21404" y="0"/>
                </a:lnTo>
                <a:close/>
              </a:path>
            </a:pathLst>
          </a:custGeom>
          <a:solidFill>
            <a:srgbClr val="003469"/>
          </a:solidFill>
          <a:ln w="12700">
            <a:miter lim="400000"/>
          </a:ln>
        </p:spPr>
        <p:txBody>
          <a:bodyPr lIns="45718" tIns="45718" rIns="45718" bIns="45718"/>
          <a:lstStyle/>
          <a:p>
            <a:pPr>
              <a:defRPr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245" name="object 30"/>
          <p:cNvSpPr txBox="1"/>
          <p:nvPr/>
        </p:nvSpPr>
        <p:spPr>
          <a:xfrm>
            <a:off x="138541" y="2000973"/>
            <a:ext cx="383545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7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Result</a:t>
            </a:r>
          </a:p>
        </p:txBody>
      </p:sp>
      <p:grpSp>
        <p:nvGrpSpPr>
          <p:cNvPr id="248" name="object 31"/>
          <p:cNvGrpSpPr/>
          <p:nvPr/>
        </p:nvGrpSpPr>
        <p:grpSpPr>
          <a:xfrm>
            <a:off x="87739" y="2168499"/>
            <a:ext cx="5584588" cy="593907"/>
            <a:chOff x="-1" y="0"/>
            <a:chExt cx="5584586" cy="593906"/>
          </a:xfrm>
        </p:grpSpPr>
        <p:pic>
          <p:nvPicPr>
            <p:cNvPr id="246" name="object 32" descr="object 32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-2" y="-1"/>
              <a:ext cx="5584588" cy="5061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247" name="object 34"/>
            <p:cNvSpPr/>
            <p:nvPr/>
          </p:nvSpPr>
          <p:spPr>
            <a:xfrm>
              <a:off x="-2" y="44277"/>
              <a:ext cx="5584586" cy="54963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fill="norm" stroke="1" extrusionOk="0">
                  <a:moveTo>
                    <a:pt x="21600" y="0"/>
                  </a:moveTo>
                  <a:lnTo>
                    <a:pt x="0" y="0"/>
                  </a:lnTo>
                  <a:lnTo>
                    <a:pt x="0" y="19604"/>
                  </a:lnTo>
                  <a:lnTo>
                    <a:pt x="16" y="20379"/>
                  </a:lnTo>
                  <a:lnTo>
                    <a:pt x="58" y="21014"/>
                  </a:lnTo>
                  <a:lnTo>
                    <a:pt x="120" y="21442"/>
                  </a:lnTo>
                  <a:lnTo>
                    <a:pt x="196" y="21600"/>
                  </a:lnTo>
                  <a:lnTo>
                    <a:pt x="21404" y="21600"/>
                  </a:lnTo>
                  <a:lnTo>
                    <a:pt x="21480" y="21442"/>
                  </a:lnTo>
                  <a:lnTo>
                    <a:pt x="21542" y="21014"/>
                  </a:lnTo>
                  <a:lnTo>
                    <a:pt x="21584" y="20379"/>
                  </a:lnTo>
                  <a:lnTo>
                    <a:pt x="21600" y="19604"/>
                  </a:lnTo>
                  <a:lnTo>
                    <a:pt x="21600" y="0"/>
                  </a:lnTo>
                  <a:close/>
                </a:path>
              </a:pathLst>
            </a:custGeom>
            <a:solidFill>
              <a:srgbClr val="E5EAF0"/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t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</p:grpSp>
      <p:sp>
        <p:nvSpPr>
          <p:cNvPr id="249" name="object 35"/>
          <p:cNvSpPr txBox="1"/>
          <p:nvPr/>
        </p:nvSpPr>
        <p:spPr>
          <a:xfrm>
            <a:off x="138542" y="2194939"/>
            <a:ext cx="5584830" cy="50388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93980">
              <a:lnSpc>
                <a:spcPct val="102600"/>
              </a:lnSpc>
              <a:defRPr sz="1100">
                <a:latin typeface="Tahoma"/>
                <a:ea typeface="Tahoma"/>
                <a:cs typeface="Tahoma"/>
                <a:sym typeface="Tahoma"/>
              </a:defRPr>
            </a:pPr>
            <a:r>
              <a:t>The new changes succeed also to identify </a:t>
            </a:r>
            <a:r>
              <a:rPr b="1"/>
              <a:t>b</a:t>
            </a:r>
            <a:r>
              <a:t> </a:t>
            </a:r>
            <a:r>
              <a:rPr spc="-50"/>
              <a:t>as</a:t>
            </a:r>
            <a:r>
              <a:rPr spc="-35"/>
              <a:t> </a:t>
            </a:r>
            <a:r>
              <a:rPr spc="-19"/>
              <a:t>the</a:t>
            </a:r>
            <a:r>
              <a:rPr spc="-30"/>
              <a:t> </a:t>
            </a:r>
            <a:r>
              <a:rPr spc="-50"/>
              <a:t>higher</a:t>
            </a:r>
            <a:r>
              <a:rPr spc="-35"/>
              <a:t> priority</a:t>
            </a:r>
            <a:r>
              <a:rPr spc="-30"/>
              <a:t> </a:t>
            </a:r>
            <a:r>
              <a:t>task with respect to a. This</a:t>
            </a:r>
            <a:r>
              <a:rPr spc="-30"/>
              <a:t> </a:t>
            </a:r>
            <a:r>
              <a:rPr spc="-39"/>
              <a:t>choice</a:t>
            </a:r>
            <a:r>
              <a:rPr spc="-35"/>
              <a:t> </a:t>
            </a:r>
            <a:r>
              <a:rPr spc="-9"/>
              <a:t>allows </a:t>
            </a:r>
            <a:r>
              <a:rPr spc="-35"/>
              <a:t>the </a:t>
            </a:r>
            <a:r>
              <a:t>DIV operations to be executed as soon as possible, resulting in an optimal latency of 7</a:t>
            </a:r>
            <a:r>
              <a:rPr spc="-25"/>
              <a:t>.</a:t>
            </a:r>
          </a:p>
        </p:txBody>
      </p:sp>
      <p:pic>
        <p:nvPicPr>
          <p:cNvPr id="250" name="Screenshot 2025-12-11 at 11.56.43 AM.png" descr="Screenshot 2025-12-11 at 11.56.43 AM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8082" y="345749"/>
            <a:ext cx="1651495" cy="9271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Screenshot 2025-12-11 at 11.57.10 AM.png" descr="Screenshot 2025-12-11 at 11.57.10 AM.png"/>
          <p:cNvPicPr>
            <a:picLocks noChangeAspect="1"/>
          </p:cNvPicPr>
          <p:nvPr/>
        </p:nvPicPr>
        <p:blipFill>
          <a:blip r:embed="rId4">
            <a:extLst/>
          </a:blip>
          <a:srcRect l="0" t="6057" r="0" b="6056"/>
          <a:stretch>
            <a:fillRect/>
          </a:stretch>
        </p:blipFill>
        <p:spPr>
          <a:xfrm>
            <a:off x="405983" y="1266932"/>
            <a:ext cx="1715574" cy="704274"/>
          </a:xfrm>
          <a:prstGeom prst="rect">
            <a:avLst/>
          </a:prstGeom>
          <a:ln w="12700">
            <a:miter lim="400000"/>
          </a:ln>
        </p:spPr>
      </p:pic>
      <p:pic>
        <p:nvPicPr>
          <p:cNvPr id="252" name="Screenshot 2025-12-11 at 12.08.32 PM.png" descr="Screenshot 2025-12-11 at 12.08.32 PM.png"/>
          <p:cNvPicPr>
            <a:picLocks noChangeAspect="1"/>
          </p:cNvPicPr>
          <p:nvPr/>
        </p:nvPicPr>
        <p:blipFill>
          <a:blip r:embed="rId5">
            <a:extLst/>
          </a:blip>
          <a:stretch>
            <a:fillRect/>
          </a:stretch>
        </p:blipFill>
        <p:spPr>
          <a:xfrm>
            <a:off x="2398661" y="783490"/>
            <a:ext cx="3221468" cy="955673"/>
          </a:xfrm>
          <a:prstGeom prst="rect">
            <a:avLst/>
          </a:prstGeom>
          <a:ln w="12700">
            <a:miter lim="400000"/>
          </a:ln>
        </p:spPr>
      </p:pic>
      <p:sp>
        <p:nvSpPr>
          <p:cNvPr id="253" name="object 36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>
            <a:lvl1pPr indent="12700">
              <a:defRPr spc="-35"/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New Features</a:t>
            </a:r>
          </a:p>
        </p:txBody>
      </p:sp>
      <p:pic>
        <p:nvPicPr>
          <p:cNvPr id="25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81088" y="77254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57" name="object 4"/>
          <p:cNvSpPr txBox="1"/>
          <p:nvPr/>
        </p:nvSpPr>
        <p:spPr>
          <a:xfrm>
            <a:off x="402929" y="712441"/>
            <a:ext cx="4765046" cy="2032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5080" indent="12700">
              <a:lnSpc>
                <a:spcPct val="113199"/>
              </a:lnSpc>
              <a:spcBef>
                <a:spcPts val="100"/>
              </a:spcBef>
              <a:defRPr sz="1300">
                <a:latin typeface="Tahoma"/>
                <a:ea typeface="Tahoma"/>
                <a:cs typeface="Tahoma"/>
                <a:sym typeface="Tahoma"/>
              </a:defRPr>
            </a:lvl1pPr>
          </a:lstStyle>
          <a:p>
            <a:pPr/>
            <a:r>
              <a:t>Two new features are presented:</a:t>
            </a:r>
          </a:p>
        </p:txBody>
      </p:sp>
      <p:pic>
        <p:nvPicPr>
          <p:cNvPr id="25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3425" y="116896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object 11"/>
          <p:cNvSpPr txBox="1"/>
          <p:nvPr/>
        </p:nvSpPr>
        <p:spPr>
          <a:xfrm>
            <a:off x="727474" y="1141281"/>
            <a:ext cx="3887475" cy="4261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38100">
              <a:lnSpc>
                <a:spcPts val="1100"/>
              </a:lnSpc>
              <a:defRPr b="1" spc="-45" sz="1300">
                <a:latin typeface="Arial"/>
                <a:ea typeface="Arial"/>
                <a:cs typeface="Arial"/>
                <a:sym typeface="Arial"/>
              </a:defRPr>
            </a:pPr>
            <a:r>
              <a:t>Silvia’s Idea</a:t>
            </a:r>
          </a:p>
          <a:p>
            <a:pPr indent="38100">
              <a:lnSpc>
                <a:spcPts val="1100"/>
              </a:lnSpc>
              <a:defRPr b="1" spc="-45" sz="1300">
                <a:latin typeface="Arial"/>
                <a:ea typeface="Arial"/>
                <a:cs typeface="Arial"/>
                <a:sym typeface="Arial"/>
              </a:defRPr>
            </a:pPr>
          </a:p>
          <a:p>
            <a:pPr indent="38100">
              <a:lnSpc>
                <a:spcPts val="1100"/>
              </a:lnSpc>
              <a:defRPr b="1" spc="-45" sz="1300">
                <a:latin typeface="Arial"/>
                <a:ea typeface="Arial"/>
                <a:cs typeface="Arial"/>
                <a:sym typeface="Arial"/>
              </a:defRPr>
            </a:pPr>
            <a:r>
              <a:t>Please’s Idea</a:t>
            </a:r>
          </a:p>
        </p:txBody>
      </p:sp>
      <p:pic>
        <p:nvPicPr>
          <p:cNvPr id="26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643425" y="144908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6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Motivation: The false tie problem</a:t>
            </a:r>
          </a:p>
        </p:txBody>
      </p:sp>
      <p:pic>
        <p:nvPicPr>
          <p:cNvPr id="26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74757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66" name="object 4"/>
          <p:cNvSpPr txBox="1"/>
          <p:nvPr/>
        </p:nvSpPr>
        <p:spPr>
          <a:xfrm>
            <a:off x="402929" y="712441"/>
            <a:ext cx="4765046" cy="1584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Context: </a:t>
            </a:r>
            <a:r>
              <a:rPr b="0"/>
              <a:t>In the original ML-RCS scheduler, the priority function </a:t>
            </a: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𝜖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defines the main scheduling force.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Problem:</a:t>
            </a:r>
            <a:r>
              <a:rPr b="0"/>
              <a:t> When two nodes have similar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b="0"/>
              <a:t>, the scheduler breaks ties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arbitrarily (e.g., by node ID).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This leads to unstable or suboptimal schedules, since some nodes are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structurally harder to fit than others.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Goal:</a:t>
            </a:r>
            <a:r>
              <a:rPr b="0"/>
              <a:t> Introduce a tie-breaking which makes more consistent scheduling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decisions, thanks to structural awareness and path rigidity awareness.</a:t>
            </a:r>
          </a:p>
        </p:txBody>
      </p:sp>
      <p:pic>
        <p:nvPicPr>
          <p:cNvPr id="26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277077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68" name="object 12" descr="object 12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583375" y="204836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6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Motivation for a Rigidity Metric</a:t>
            </a:r>
          </a:p>
        </p:txBody>
      </p:sp>
      <p:pic>
        <p:nvPicPr>
          <p:cNvPr id="272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74757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73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274" name="object 4"/>
          <p:cNvSpPr txBox="1"/>
          <p:nvPr/>
        </p:nvSpPr>
        <p:spPr>
          <a:xfrm>
            <a:off x="402929" y="712441"/>
            <a:ext cx="4765046" cy="6696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standard ML-RCS force function accounts for temporal urgency and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resource congestion, but it ignores the structural rigidity of the DFG.</a:t>
            </a: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𝜖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defines the main scheduling force.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fact, Two nodes with similar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>
                <a:latin typeface="STIX Two Math Regular"/>
                <a:ea typeface="STIX Two Math Regular"/>
                <a:cs typeface="STIX Two Math Regular"/>
                <a:sym typeface="STIX Two Math Regular"/>
              </a:rPr>
              <a:t> </a:t>
            </a:r>
            <a:r>
              <a:t>values can differ significantly:</a:t>
            </a:r>
            <a:endParaRPr sz="1226"/>
          </a:p>
        </p:txBody>
      </p:sp>
      <p:pic>
        <p:nvPicPr>
          <p:cNvPr id="27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277077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76" name="object 4"/>
          <p:cNvSpPr txBox="1"/>
          <p:nvPr/>
        </p:nvSpPr>
        <p:spPr>
          <a:xfrm>
            <a:off x="619973" y="1444014"/>
            <a:ext cx="4765045" cy="909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One may lead to a long, sequential downstream chain that is difficult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place later.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Another may lead to short or parallel branches that are easier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accommodate.</a:t>
            </a:r>
          </a:p>
        </p:txBody>
      </p:sp>
      <p:sp>
        <p:nvSpPr>
          <p:cNvPr id="277" name="object 4"/>
          <p:cNvSpPr txBox="1"/>
          <p:nvPr/>
        </p:nvSpPr>
        <p:spPr>
          <a:xfrm>
            <a:off x="402929" y="2093610"/>
            <a:ext cx="4765046" cy="452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To capture this structural aspect, a rigidity metric called </a:t>
            </a:r>
            <a:r>
              <a:rPr b="1" i="1"/>
              <a:t>stiffness </a:t>
            </a:r>
            <a:r>
              <a:t>is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introduced, quantifying how rigid or inflexible the paths following a node are,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based on the squared latency of its successors.</a:t>
            </a:r>
          </a:p>
        </p:txBody>
      </p:sp>
      <p:pic>
        <p:nvPicPr>
          <p:cNvPr id="278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350" y="1489802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9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64350" y="179170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137503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8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Mathematical Definition of Stiffness</a:t>
            </a:r>
          </a:p>
        </p:txBody>
      </p:sp>
      <p:pic>
        <p:nvPicPr>
          <p:cNvPr id="28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85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28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191248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71157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88" name="object 4"/>
          <p:cNvSpPr txBox="1"/>
          <p:nvPr/>
        </p:nvSpPr>
        <p:spPr>
          <a:xfrm>
            <a:off x="402929" y="712441"/>
            <a:ext cx="4765046" cy="7540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m:rPr>
                    <m:sty m:val="p"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Π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= all the paths starting from a child of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 and ending at sink, each 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containing operations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𝑣</m:t>
                </m:r>
              </m:oMath>
            </a14:m>
            <a:r>
              <a:t> with latency </a:t>
            </a:r>
            <a14:m>
              <m:oMath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latency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𝑣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</a:t>
            </a:r>
          </a:p>
          <a:p>
            <a:pPr lvl="1"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𝑃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𝑢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limLow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𝑎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𝑥</m:t>
                      </m:r>
                    </m:e>
                    <m:lim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m:rPr>
                          <m:sty m:val="p"/>
                        </m:rP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Π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lim>
                  </m:limLow>
                  <m:limLow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∑</m:t>
                      </m:r>
                    </m:e>
                    <m:lim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𝑣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∈</m:t>
                      </m:r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</m:lim>
                  </m:limLow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[</m:t>
                  </m:r>
                  <m:r>
                    <m:rPr>
                      <m:nor/>
                    </m:rP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latency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(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𝑣</m:t>
                  </m:r>
                  <m:r>
                    <a:rPr xmlns:a="http://schemas.openxmlformats.org/drawingml/2006/main" sz="13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)</m:t>
                  </m:r>
                  <m:sSup>
                    <m:e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]</m:t>
                      </m:r>
                    </m:e>
                    <m:sup>
                      <m:r>
                        <a:rPr xmlns:a="http://schemas.openxmlformats.org/drawingml/2006/main" sz="13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sup>
                  </m:sSup>
                </m:oMath>
              </m:oMathPara>
            </a14:m>
            <a:endParaRPr sz="1226"/>
          </a:p>
        </p:txBody>
      </p:sp>
      <p:sp>
        <p:nvSpPr>
          <p:cNvPr id="289" name="object 4"/>
          <p:cNvSpPr txBox="1"/>
          <p:nvPr/>
        </p:nvSpPr>
        <p:spPr>
          <a:xfrm>
            <a:off x="402929" y="1654887"/>
            <a:ext cx="4765046" cy="15853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this way, the squared term penalizes long-latency operations more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strongly, while the maximum selects the most rigid successor path.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Interpretation: if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higher, it means that the path is more rigid and less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flexible, so it should be scheduled earlier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Normalization: </a:t>
            </a: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𝑜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is obtained by normalizing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to have a value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between 0 and 1, and then performing </a:t>
            </a:r>
            <a:r>
              <a:rPr i="1"/>
              <a:t>( 1 - normalized version )</a:t>
            </a:r>
            <a:r>
              <a:t> in order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get higher priority (lower value) for higher stiffness</a:t>
            </a:r>
            <a:r>
              <a:rPr i="1"/>
              <a:t>  </a:t>
            </a:r>
          </a:p>
        </p:txBody>
      </p:sp>
      <p:pic>
        <p:nvPicPr>
          <p:cNvPr id="29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192203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6855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Implementation</a:t>
            </a:r>
          </a:p>
        </p:txBody>
      </p:sp>
      <p:pic>
        <p:nvPicPr>
          <p:cNvPr id="29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8575" y="77188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96" name="object 15"/>
          <p:cNvSpPr txBox="1"/>
          <p:nvPr/>
        </p:nvSpPr>
        <p:spPr>
          <a:xfrm>
            <a:off x="-102758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29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78575" y="196619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298" name="object 4"/>
          <p:cNvSpPr txBox="1"/>
          <p:nvPr/>
        </p:nvSpPr>
        <p:spPr>
          <a:xfrm>
            <a:off x="402929" y="712441"/>
            <a:ext cx="4765046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calculate_stiffness_term(available_ops)</a:t>
            </a:r>
          </a:p>
        </p:txBody>
      </p:sp>
      <p:sp>
        <p:nvSpPr>
          <p:cNvPr id="299" name="object 4"/>
          <p:cNvSpPr txBox="1"/>
          <p:nvPr/>
        </p:nvSpPr>
        <p:spPr>
          <a:xfrm>
            <a:off x="606436" y="895469"/>
            <a:ext cx="4765045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For</a:t>
            </a:r>
            <a:r>
              <a:rPr b="0"/>
              <a:t> each node in available_ops</a:t>
            </a:r>
          </a:p>
        </p:txBody>
      </p:sp>
      <p:sp>
        <p:nvSpPr>
          <p:cNvPr id="300" name="object 4"/>
          <p:cNvSpPr txBox="1"/>
          <p:nvPr/>
        </p:nvSpPr>
        <p:spPr>
          <a:xfrm>
            <a:off x="402929" y="1907350"/>
            <a:ext cx="4765046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get_stiffness(node)</a:t>
            </a:r>
          </a:p>
        </p:txBody>
      </p:sp>
      <p:sp>
        <p:nvSpPr>
          <p:cNvPr id="301" name="object 4"/>
          <p:cNvSpPr txBox="1"/>
          <p:nvPr/>
        </p:nvSpPr>
        <p:spPr>
          <a:xfrm>
            <a:off x="733436" y="1075888"/>
            <a:ext cx="4765045" cy="3325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</a:t>
            </a:r>
            <a:r>
              <a:rPr b="0"/>
              <a:t> node has no children, stiffness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←</m:t>
                </m:r>
              </m:oMath>
            </a14:m>
            <a:r>
              <a:rPr b="0"/>
              <a:t> 0</a:t>
            </a: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  <a:r>
              <a:rPr b="0"/>
              <a:t> find max stiffness across children. </a:t>
            </a:r>
          </a:p>
        </p:txBody>
      </p:sp>
      <p:sp>
        <p:nvSpPr>
          <p:cNvPr id="302" name="object 4"/>
          <p:cNvSpPr txBox="1"/>
          <p:nvPr/>
        </p:nvSpPr>
        <p:spPr>
          <a:xfrm>
            <a:off x="606436" y="1490828"/>
            <a:ext cx="4765045" cy="1478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Return</a:t>
            </a:r>
            <a:r>
              <a:rPr b="0"/>
              <a:t> </a:t>
            </a:r>
            <a:r>
              <a:t> </a:t>
            </a:r>
            <a:r>
              <a:rPr b="0"/>
              <a:t>1 -  normalized(stiffness) </a:t>
            </a:r>
            <a:r>
              <a:rPr b="0" i="1"/>
              <a:t>// List</a:t>
            </a:r>
          </a:p>
        </p:txBody>
      </p:sp>
      <p:sp>
        <p:nvSpPr>
          <p:cNvPr id="303" name="object 4"/>
          <p:cNvSpPr txBox="1"/>
          <p:nvPr/>
        </p:nvSpPr>
        <p:spPr>
          <a:xfrm>
            <a:off x="606436" y="2123409"/>
            <a:ext cx="4765045" cy="3002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 </a:t>
            </a:r>
            <a:r>
              <a:rPr b="0"/>
              <a:t>already computed for this node, return it</a:t>
            </a: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</a:p>
        </p:txBody>
      </p:sp>
      <p:sp>
        <p:nvSpPr>
          <p:cNvPr id="304" name="Compute latency squared for this node…"/>
          <p:cNvSpPr txBox="1"/>
          <p:nvPr/>
        </p:nvSpPr>
        <p:spPr>
          <a:xfrm>
            <a:off x="689999" y="2419829"/>
            <a:ext cx="2831056" cy="5440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Compute latency squared for this node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If</a:t>
            </a:r>
            <a:r>
              <a:rPr b="0"/>
              <a:t> node has no children, return it</a:t>
            </a:r>
          </a:p>
          <a:p>
            <a:pPr lvl="1"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Else</a:t>
            </a:r>
            <a:r>
              <a:rPr b="0"/>
              <a:t> recursively find max across its children</a:t>
            </a:r>
          </a:p>
        </p:txBody>
      </p:sp>
      <p:sp>
        <p:nvSpPr>
          <p:cNvPr id="30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Integration into the Force Function</a:t>
            </a:r>
          </a:p>
        </p:txBody>
      </p:sp>
      <p:pic>
        <p:nvPicPr>
          <p:cNvPr id="30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09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1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83710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11" name="object 4"/>
          <p:cNvSpPr txBox="1"/>
          <p:nvPr/>
        </p:nvSpPr>
        <p:spPr>
          <a:xfrm>
            <a:off x="402929" y="712441"/>
            <a:ext cx="4765046" cy="3325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Rather than using stiffness only as a tie-breaker, it is directly embedded into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main force: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+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𝜖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×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endParaRPr sz="1226"/>
          </a:p>
        </p:txBody>
      </p:sp>
      <p:sp>
        <p:nvSpPr>
          <p:cNvPr id="312" name="object 4"/>
          <p:cNvSpPr txBox="1"/>
          <p:nvPr/>
        </p:nvSpPr>
        <p:spPr>
          <a:xfrm>
            <a:off x="402929" y="1790980"/>
            <a:ext cx="4765046" cy="452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Effect:</a:t>
            </a:r>
            <a:r>
              <a:rPr b="0"/>
              <a:t> Nodes with more rigid successors slightly decrease their total force,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causing them to be scheduled earlier.</a:t>
            </a:r>
          </a:p>
        </p:txBody>
      </p:sp>
      <p:sp>
        <p:nvSpPr>
          <p:cNvPr id="313" name="object 4"/>
          <p:cNvSpPr txBox="1"/>
          <p:nvPr/>
        </p:nvSpPr>
        <p:spPr>
          <a:xfrm>
            <a:off x="660502" y="1134248"/>
            <a:ext cx="4765045" cy="54953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𝑆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: temporal urgency (slack)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𝐶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: resource congestion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𝑃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: normalized stiffness term</a:t>
            </a:r>
            <a:endParaRPr sz="1226"/>
          </a:p>
        </p:txBody>
      </p:sp>
      <p:pic>
        <p:nvPicPr>
          <p:cNvPr id="31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69" y="1402523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15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69" y="1586616"/>
            <a:ext cx="65268" cy="6526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46169" y="119559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Descendant-Based Tie-Breaker (Priority 3)</a:t>
            </a:r>
          </a:p>
        </p:txBody>
      </p:sp>
      <p:pic>
        <p:nvPicPr>
          <p:cNvPr id="32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21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2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183710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23" name="object 4"/>
          <p:cNvSpPr txBox="1"/>
          <p:nvPr/>
        </p:nvSpPr>
        <p:spPr>
          <a:xfrm>
            <a:off x="402929" y="1790980"/>
            <a:ext cx="4765046" cy="757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Effect:</a:t>
            </a:r>
            <a:r>
              <a:rPr b="0"/>
              <a:t> Having more children gives a higher potential to unlock parallelism.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negative sign ensures that the scheduler, which sorts ascending,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assigns higher priority to nodes with more descendants.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24" name="object 4"/>
          <p:cNvSpPr txBox="1"/>
          <p:nvPr/>
        </p:nvSpPr>
        <p:spPr>
          <a:xfrm>
            <a:off x="402929" y="712441"/>
            <a:ext cx="4765046" cy="10081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When two nodes still have still equal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t> and thus the tie-breaking is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arbitrary, we apply an additional criterion based on unlock potential:</a:t>
            </a:r>
          </a:p>
          <a:p>
            <a:pPr marR="215265" indent="289558" algn="just">
              <a:defRPr spc="-49" sz="13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−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𝑁</m:t>
                </m:r>
              </m:oMath>
            </a14:m>
            <a:r>
              <a:rPr sz="1100">
                <a:latin typeface="Arial"/>
                <a:ea typeface="Arial"/>
                <a:cs typeface="Arial"/>
                <a:sym typeface="Arial"/>
              </a:rPr>
              <a:t>,</a:t>
            </a:r>
            <a:endParaRPr sz="1100">
              <a:latin typeface="Arial"/>
              <a:ea typeface="Arial"/>
              <a:cs typeface="Arial"/>
              <a:sym typeface="Arial"/>
            </a:endParaR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Where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𝑁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𝑁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𝑐</m:t>
                    </m:r>
                  </m:sub>
                </m:sSub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=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{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𝑣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∈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𝑉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is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an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anchestor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of</m:t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/>
                </m:r>
                <m:r>
                  <m:rPr>
                    <m:nor/>
                  </m:rP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v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}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|</m:t>
                </m:r>
              </m:oMath>
            </a14:m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 other words, it is the number of immediate children.</a:t>
            </a:r>
          </a:p>
        </p:txBody>
      </p:sp>
      <p:sp>
        <p:nvSpPr>
          <p:cNvPr id="32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Final sorting hierarchy</a:t>
            </a:r>
          </a:p>
        </p:txBody>
      </p:sp>
      <p:pic>
        <p:nvPicPr>
          <p:cNvPr id="32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80503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3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3375" y="2040300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31" name="object 4"/>
          <p:cNvSpPr txBox="1"/>
          <p:nvPr/>
        </p:nvSpPr>
        <p:spPr>
          <a:xfrm>
            <a:off x="402929" y="1998815"/>
            <a:ext cx="4765046" cy="605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Effect:</a:t>
            </a:r>
            <a:r>
              <a:rPr b="0"/>
              <a:t> This hierarchy resolves ties consistently while incorporating structural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information and parallelism potential.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</p:txBody>
      </p:sp>
      <p:sp>
        <p:nvSpPr>
          <p:cNvPr id="332" name="object 4"/>
          <p:cNvSpPr txBox="1"/>
          <p:nvPr/>
        </p:nvSpPr>
        <p:spPr>
          <a:xfrm>
            <a:off x="402930" y="712441"/>
            <a:ext cx="5388774" cy="8220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Level 1:</a:t>
            </a:r>
            <a:r>
              <a:rPr b="0"/>
              <a:t> </a:t>
            </a:r>
            <a14:m>
              <m:oMath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𝐹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(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𝑢</m:t>
                </m:r>
                <m:r>
                  <a:rPr xmlns:a="http://schemas.openxmlformats.org/drawingml/2006/main" sz="1300" i="1">
                    <a:solidFill>
                      <a:srgbClr val="000000"/>
                    </a:solidFill>
                    <a:latin typeface="Cambria Math" panose="02040503050406030204" pitchFamily="18" charset="0"/>
                  </a:rPr>
                  <m:t>)</m:t>
                </m:r>
              </m:oMath>
            </a14:m>
            <a:r>
              <a:rPr b="0"/>
              <a:t> - Original force enhanced with rigidity awareness. It is minimized.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Level 2: </a:t>
            </a:r>
            <a14:m>
              <m:oMath>
                <m:sSub>
                  <m:e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𝑃</m:t>
                    </m:r>
                  </m:e>
                  <m:sub>
                    <m:r>
                      <a:rPr xmlns:a="http://schemas.openxmlformats.org/drawingml/2006/main" sz="13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2</m:t>
                    </m:r>
                  </m:sub>
                </m:sSub>
              </m:oMath>
            </a14:m>
            <a:r>
              <a:rPr b="0"/>
              <a:t> - Prefer nodes that unlock more successors.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Level 3:</a:t>
            </a:r>
            <a:r>
              <a:rPr b="0"/>
              <a:t> </a:t>
            </a:r>
            <a:r>
              <a:rPr b="0" i="1"/>
              <a:t>Node ID - </a:t>
            </a:r>
            <a:r>
              <a:rPr b="0"/>
              <a:t>Stable ordering in case of full tie.</a:t>
            </a:r>
          </a:p>
        </p:txBody>
      </p:sp>
      <p:pic>
        <p:nvPicPr>
          <p:cNvPr id="33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113750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3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3375" y="1464239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Silvia’s idea - Outcome</a:t>
            </a:r>
          </a:p>
        </p:txBody>
      </p:sp>
      <p:sp>
        <p:nvSpPr>
          <p:cNvPr id="338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3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40" name="object 15"/>
          <p:cNvSpPr txBox="1"/>
          <p:nvPr/>
        </p:nvSpPr>
        <p:spPr>
          <a:xfrm>
            <a:off x="-292648" y="2188464"/>
            <a:ext cx="476887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4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66741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2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062284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4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357265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44" name="object 4"/>
          <p:cNvSpPr txBox="1"/>
          <p:nvPr/>
        </p:nvSpPr>
        <p:spPr>
          <a:xfrm>
            <a:off x="402930" y="712441"/>
            <a:ext cx="5388774" cy="1062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Eliminates random tie behavior.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Captures rigidity of successor paths via stiffness.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Promotes parallelism using descendant-based tie-breaking.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Keeps complexity low through memoization and local computations.</a:t>
            </a:r>
          </a:p>
        </p:txBody>
      </p:sp>
      <p:sp>
        <p:nvSpPr>
          <p:cNvPr id="34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Please’s idea</a:t>
            </a:r>
          </a:p>
        </p:txBody>
      </p:sp>
      <p:sp>
        <p:nvSpPr>
          <p:cNvPr id="348" name="object 4"/>
          <p:cNvSpPr txBox="1"/>
          <p:nvPr/>
        </p:nvSpPr>
        <p:spPr>
          <a:xfrm>
            <a:off x="402929" y="712441"/>
            <a:ext cx="4765046" cy="1940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The standard ML-RCS priority uses: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𝑃</m:t>
                  </m:r>
                  <m:d>
                    <m:dPr>
                      <m:ctrlP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𝑆</m:t>
                  </m:r>
                  <m:d>
                    <m:dPr>
                      <m:ctrlP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×</m:t>
                  </m:r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d>
                    <m:dPr>
                      <m:ctrlP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</m:oMath>
              </m:oMathPara>
            </a14:m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But in practice, </a:t>
            </a:r>
            <a:r>
              <a:rPr b="1"/>
              <a:t>different DFGs behave differently</a:t>
            </a:r>
            <a:r>
              <a:t>: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Some DFGs are </a:t>
            </a:r>
            <a:r>
              <a:rPr b="1"/>
              <a:t>deep</a:t>
            </a:r>
            <a:r>
              <a:t> → slack values matter a lot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Some are </a:t>
            </a:r>
            <a:r>
              <a:rPr b="1"/>
              <a:t>wide</a:t>
            </a:r>
            <a:r>
              <a:t> → congestion matters more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Some have </a:t>
            </a:r>
            <a:r>
              <a:rPr b="1"/>
              <a:t>both</a:t>
            </a:r>
            <a:r>
              <a:t> effects at different stages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 using the </a:t>
            </a:r>
            <a:r>
              <a:rPr i="1"/>
              <a:t>same</a:t>
            </a:r>
            <a:r>
              <a:t> fixed weighting for slack and congestion is sub-optimal.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b="1" sz="1200">
                <a:latin typeface="Arial"/>
                <a:ea typeface="Arial"/>
                <a:cs typeface="Arial"/>
                <a:sym typeface="Arial"/>
              </a:defRPr>
            </a:pPr>
            <a:r>
              <a:t>Goal of my idea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Create a </a:t>
            </a:r>
            <a:r>
              <a:rPr b="1"/>
              <a:t>flexible priority formula</a:t>
            </a:r>
            <a:r>
              <a:t> that adapts to different DFG structures by adjusting the influence of slack and congestion.</a:t>
            </a:r>
          </a:p>
        </p:txBody>
      </p:sp>
      <p:sp>
        <p:nvSpPr>
          <p:cNvPr id="349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5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8762" defTabSz="630936">
              <a:defRPr b="1" spc="-69" sz="828"/>
            </a:pPr>
            <a:r>
              <a:t>New Features: </a:t>
            </a:r>
            <a:r>
              <a:t>Please’s idea - </a:t>
            </a:r>
            <a:r>
              <a:rPr b="0"/>
              <a:t>Proposed Modification</a:t>
            </a:r>
            <a:br>
              <a:rPr b="0"/>
            </a:br>
          </a:p>
        </p:txBody>
      </p:sp>
      <p:sp>
        <p:nvSpPr>
          <p:cNvPr id="353" name="object 4"/>
          <p:cNvSpPr txBox="1"/>
          <p:nvPr/>
        </p:nvSpPr>
        <p:spPr>
          <a:xfrm>
            <a:off x="500377" y="972919"/>
            <a:ext cx="4765046" cy="12396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Where: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b="1" sz="1200">
                <a:latin typeface="Arial"/>
                <a:ea typeface="Arial"/>
                <a:cs typeface="Arial"/>
                <a:sym typeface="Arial"/>
              </a:defRPr>
            </a:pPr>
            <a:r>
              <a:t>α (</a:t>
            </a:r>
            <a:r>
              <a:t>alpha)</a:t>
            </a:r>
            <a:r>
              <a:rPr b="0"/>
              <a:t> controls how strongly slack influences priority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b="1" sz="1200">
                <a:latin typeface="Arial"/>
                <a:ea typeface="Arial"/>
                <a:cs typeface="Arial"/>
                <a:sym typeface="Arial"/>
              </a:defRPr>
            </a:pPr>
            <a:r>
              <a:t>β (</a:t>
            </a:r>
            <a:r>
              <a:t>beta)</a:t>
            </a:r>
            <a:r>
              <a:rPr b="0"/>
              <a:t> controls how strongly congestion influences priority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Exponents allow us to </a:t>
            </a:r>
            <a:r>
              <a:rPr b="1"/>
              <a:t>magnify</a:t>
            </a:r>
            <a:r>
              <a:t> or </a:t>
            </a:r>
            <a:r>
              <a:rPr b="1"/>
              <a:t>compress</a:t>
            </a:r>
            <a:r>
              <a:t> the effect of slack or congestion.</a:t>
            </a:r>
          </a:p>
        </p:txBody>
      </p:sp>
      <p:sp>
        <p:nvSpPr>
          <p:cNvPr id="354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55" name="Picture 10" descr="Picture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1682431" y="625256"/>
            <a:ext cx="2238376" cy="695326"/>
          </a:xfrm>
          <a:prstGeom prst="rect">
            <a:avLst/>
          </a:prstGeom>
          <a:ln w="12700">
            <a:miter lim="400000"/>
          </a:ln>
        </p:spPr>
      </p:pic>
      <p:sp>
        <p:nvSpPr>
          <p:cNvPr id="356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object 2"/>
          <p:cNvSpPr txBox="1"/>
          <p:nvPr>
            <p:ph type="title"/>
          </p:nvPr>
        </p:nvSpPr>
        <p:spPr>
          <a:xfrm>
            <a:off x="95297" y="61883"/>
            <a:ext cx="349758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New Features: </a:t>
            </a:r>
            <a:r>
              <a:rPr b="0"/>
              <a:t>Please’s idea</a:t>
            </a:r>
          </a:p>
        </p:txBody>
      </p:sp>
      <p:sp>
        <p:nvSpPr>
          <p:cNvPr id="359" name="object 4"/>
          <p:cNvSpPr txBox="1"/>
          <p:nvPr/>
        </p:nvSpPr>
        <p:spPr>
          <a:xfrm>
            <a:off x="402929" y="712440"/>
            <a:ext cx="4765046" cy="1940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The standard ML-RCS priority uses: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Cambria Math"/>
                <a:ea typeface="Cambria Math"/>
                <a:cs typeface="Cambria Math"/>
                <a:sym typeface="Cambria Math"/>
              </a:defRPr>
            </a:pPr>
            <a14:m>
              <m:oMathPara>
                <m:oMathParaPr>
                  <m:jc m:val="left"/>
                </m:oMathParaPr>
                <m:oMath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𝑃</m:t>
                  </m:r>
                  <m:d>
                    <m:dPr>
                      <m:ctrlP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=</m:t>
                  </m:r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𝑆</m:t>
                  </m:r>
                  <m:d>
                    <m:dPr>
                      <m:ctrlP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×</m:t>
                  </m:r>
                  <m:r>
                    <a:rPr xmlns:a="http://schemas.openxmlformats.org/drawingml/2006/main" sz="1200" i="1">
                      <a:solidFill>
                        <a:srgbClr val="000000"/>
                      </a:solidFill>
                      <a:latin typeface="Cambria Math" panose="02040503050406030204" pitchFamily="18" charset="0"/>
                    </a:rPr>
                    <m:t>𝐶</m:t>
                  </m:r>
                  <m:d>
                    <m:dPr>
                      <m:ctrlP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</m:ctrlPr>
                    </m:dPr>
                    <m:e>
                      <m:r>
                        <a:rPr xmlns:a="http://schemas.openxmlformats.org/drawingml/2006/main" sz="12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𝑢</m:t>
                      </m:r>
                    </m:e>
                  </m:d>
                </m:oMath>
              </m:oMathPara>
            </a14:m>
            <a:endParaRPr>
              <a:latin typeface="Arial"/>
              <a:ea typeface="Arial"/>
              <a:cs typeface="Arial"/>
              <a:sym typeface="Arial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But in practice, </a:t>
            </a:r>
            <a:r>
              <a:rPr b="1"/>
              <a:t>different DFGs behave differently</a:t>
            </a:r>
            <a:r>
              <a:t>: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Some DFGs are </a:t>
            </a:r>
            <a:r>
              <a:rPr b="1"/>
              <a:t>deep</a:t>
            </a:r>
            <a:r>
              <a:t> → slack values matter a lot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Some are </a:t>
            </a:r>
            <a:r>
              <a:rPr b="1"/>
              <a:t>wide</a:t>
            </a:r>
            <a:r>
              <a:t> → congestion matters more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 marL="171450" indent="-171450">
              <a:buSzPct val="100000"/>
              <a:buFont typeface="Arial"/>
              <a:buChar char="•"/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Some have </a:t>
            </a:r>
            <a:r>
              <a:rPr b="1"/>
              <a:t>both</a:t>
            </a:r>
            <a:r>
              <a:t> effects at different stages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So using the </a:t>
            </a:r>
            <a:r>
              <a:rPr i="1"/>
              <a:t>same</a:t>
            </a:r>
            <a:r>
              <a:t> fixed weighting for slack and congestion is sub-optimal.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b="1" sz="1200">
                <a:latin typeface="Arial"/>
                <a:ea typeface="Arial"/>
                <a:cs typeface="Arial"/>
                <a:sym typeface="Arial"/>
              </a:defRPr>
            </a:pPr>
            <a:r>
              <a:t>Goal of my idea</a:t>
            </a:r>
            <a:endParaRPr>
              <a:latin typeface="+mj-lt"/>
              <a:ea typeface="+mj-ea"/>
              <a:cs typeface="+mj-cs"/>
              <a:sym typeface="Aptos"/>
            </a:endParaRPr>
          </a:p>
          <a:p>
            <a:pPr>
              <a:defRPr sz="1200">
                <a:latin typeface="Arial"/>
                <a:ea typeface="Arial"/>
                <a:cs typeface="Arial"/>
                <a:sym typeface="Arial"/>
              </a:defRPr>
            </a:pPr>
            <a:r>
              <a:t>Create a </a:t>
            </a:r>
            <a:r>
              <a:rPr b="1"/>
              <a:t>flexible priority formula</a:t>
            </a:r>
            <a:r>
              <a:t> that adapts to different DFG structures by adjusting the influence of slack and congestion.</a:t>
            </a:r>
          </a:p>
        </p:txBody>
      </p:sp>
      <p:sp>
        <p:nvSpPr>
          <p:cNvPr id="360" name="object 15"/>
          <p:cNvSpPr txBox="1"/>
          <p:nvPr/>
        </p:nvSpPr>
        <p:spPr>
          <a:xfrm>
            <a:off x="138542" y="2036915"/>
            <a:ext cx="47688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61" name="object 21"/>
          <p:cNvSpPr txBox="1"/>
          <p:nvPr/>
        </p:nvSpPr>
        <p:spPr>
          <a:xfrm>
            <a:off x="5450192" y="3119500"/>
            <a:ext cx="23368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indent="12700">
              <a:defRPr spc="-35" sz="600">
                <a:latin typeface="Lucida Sans Unicode"/>
                <a:ea typeface="Lucida Sans Unicode"/>
                <a:cs typeface="Lucida Sans Unicode"/>
                <a:sym typeface="Lucida Sans Unicode"/>
              </a:defRPr>
            </a:pPr>
            <a:r>
              <a:t>7</a:t>
            </a:r>
            <a:r>
              <a:rPr spc="-55"/>
              <a:t> </a:t>
            </a:r>
            <a:r>
              <a:rPr spc="0"/>
              <a:t>/</a:t>
            </a:r>
            <a:r>
              <a:rPr spc="-50"/>
              <a:t> </a:t>
            </a:r>
            <a:r>
              <a:rPr spc="-25"/>
              <a:t>53</a:t>
            </a:r>
          </a:p>
        </p:txBody>
      </p:sp>
      <p:pic>
        <p:nvPicPr>
          <p:cNvPr id="362" name="Picture 2" descr="Picture 2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0" y="713"/>
            <a:ext cx="5765800" cy="3237074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object 2"/>
          <p:cNvSpPr txBox="1"/>
          <p:nvPr>
            <p:ph type="title"/>
          </p:nvPr>
        </p:nvSpPr>
        <p:spPr>
          <a:xfrm>
            <a:off x="95297" y="61883"/>
            <a:ext cx="5380310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Latency improvement vs DFGs (LS-std, LS-enhanced, FALLS, FDS)</a:t>
            </a:r>
          </a:p>
        </p:txBody>
      </p:sp>
      <p:sp>
        <p:nvSpPr>
          <p:cNvPr id="366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67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68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69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38589" y="1290400"/>
            <a:ext cx="2655014" cy="1327508"/>
          </a:xfrm>
          <a:prstGeom prst="rect">
            <a:avLst/>
          </a:prstGeom>
          <a:ln w="12700">
            <a:miter lim="400000"/>
          </a:ln>
        </p:spPr>
      </p:pic>
      <p:pic>
        <p:nvPicPr>
          <p:cNvPr id="370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44416" y="1290400"/>
            <a:ext cx="2655015" cy="1327508"/>
          </a:xfrm>
          <a:prstGeom prst="rect">
            <a:avLst/>
          </a:prstGeom>
          <a:ln w="12700">
            <a:miter lim="400000"/>
          </a:ln>
        </p:spPr>
      </p:pic>
      <p:sp>
        <p:nvSpPr>
          <p:cNvPr id="371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Latency Improvement - Benchmark comparison</a:t>
            </a:r>
          </a:p>
        </p:txBody>
      </p:sp>
      <p:sp>
        <p:nvSpPr>
          <p:cNvPr id="374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75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7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77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8178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7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210922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79" name="object 4"/>
          <p:cNvSpPr txBox="1"/>
          <p:nvPr/>
        </p:nvSpPr>
        <p:spPr>
          <a:xfrm>
            <a:off x="402930" y="712441"/>
            <a:ext cx="5388774" cy="1671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Standard LS dominance:</a:t>
            </a:r>
            <a:r>
              <a:t> the results clearly show that the standard LS algorithm, with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Slack-based priority, achieves better results in almost any DFG in the benchmark.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Silvia’s Feature Success:</a:t>
            </a:r>
            <a:r>
              <a:t> despite achieving sometimes worse latency than standard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LS, the new feature significantly improves the Midterm solution, achieving equal or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better latency in all benchmark’s DFGs.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Superiority over FALLS:</a:t>
            </a:r>
            <a:r>
              <a:t> Both Standard LS and the Final’s version consistently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outperform the FALLS algorithm: for these constrained benchmarks, greedy heuristics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are more effective than complex methods like FALLS.</a:t>
            </a:r>
          </a:p>
        </p:txBody>
      </p:sp>
      <p:sp>
        <p:nvSpPr>
          <p:cNvPr id="38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object 2"/>
          <p:cNvSpPr txBox="1"/>
          <p:nvPr>
            <p:ph type="title"/>
          </p:nvPr>
        </p:nvSpPr>
        <p:spPr>
          <a:xfrm>
            <a:off x="95297" y="61883"/>
            <a:ext cx="5684376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Runtime vs DFGs size (LS-std, LS-enhanced, </a:t>
            </a:r>
            <a:r>
              <a:rPr b="0"/>
              <a:t>LS-enhanced-feat, </a:t>
            </a:r>
            <a:r>
              <a:rPr b="0"/>
              <a:t>FDS)</a:t>
            </a:r>
          </a:p>
        </p:txBody>
      </p:sp>
      <p:sp>
        <p:nvSpPr>
          <p:cNvPr id="383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84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385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386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009559" y="1365181"/>
            <a:ext cx="2513074" cy="1507844"/>
          </a:xfrm>
          <a:prstGeom prst="rect">
            <a:avLst/>
          </a:prstGeom>
          <a:ln w="12700">
            <a:miter lim="400000"/>
          </a:ln>
        </p:spPr>
      </p:pic>
      <p:pic>
        <p:nvPicPr>
          <p:cNvPr id="387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215387" y="1365181"/>
            <a:ext cx="2513073" cy="1507844"/>
          </a:xfrm>
          <a:prstGeom prst="rect">
            <a:avLst/>
          </a:prstGeom>
          <a:ln w="12700">
            <a:miter lim="400000"/>
          </a:ln>
        </p:spPr>
      </p:pic>
      <p:sp>
        <p:nvSpPr>
          <p:cNvPr id="388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Runtime Analysis &amp; Scalability</a:t>
            </a:r>
          </a:p>
        </p:txBody>
      </p:sp>
      <p:sp>
        <p:nvSpPr>
          <p:cNvPr id="391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392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39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4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66741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20762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object 4"/>
          <p:cNvSpPr txBox="1"/>
          <p:nvPr/>
        </p:nvSpPr>
        <p:spPr>
          <a:xfrm>
            <a:off x="402930" y="712441"/>
            <a:ext cx="5388774" cy="1367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Linear Scaling:</a:t>
            </a:r>
            <a:r>
              <a:t> All three variants demonstrate linear runtime behavior relative to the 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number of operations.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Minimal Overhead:</a:t>
            </a:r>
            <a:r>
              <a:t> The curves for LS_s1_p1 (Final) and LS_s0_p0 (Midterm are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nearly indistinguishable, while the one for LS is slightly lower.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The implementation of Silvia's Stiffness metric and the Force calculations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add negligible computational cost.</a:t>
            </a:r>
          </a:p>
        </p:txBody>
      </p:sp>
      <p:sp>
        <p:nvSpPr>
          <p:cNvPr id="39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object 2"/>
          <p:cNvSpPr txBox="1"/>
          <p:nvPr>
            <p:ph type="title"/>
          </p:nvPr>
        </p:nvSpPr>
        <p:spPr>
          <a:xfrm>
            <a:off x="95297" y="61883"/>
            <a:ext cx="5380310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% Improvement of LS-enhanced and LS-enhanced-feat wrt LS-std</a:t>
            </a:r>
          </a:p>
        </p:txBody>
      </p:sp>
      <p:sp>
        <p:nvSpPr>
          <p:cNvPr id="400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01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402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pic>
        <p:nvPicPr>
          <p:cNvPr id="403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33342" y="1332441"/>
            <a:ext cx="2065507" cy="1721255"/>
          </a:xfrm>
          <a:prstGeom prst="rect">
            <a:avLst/>
          </a:prstGeom>
          <a:ln w="12700">
            <a:miter lim="400000"/>
          </a:ln>
        </p:spPr>
      </p:pic>
      <p:pic>
        <p:nvPicPr>
          <p:cNvPr id="404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439170" y="1332441"/>
            <a:ext cx="2065507" cy="1721255"/>
          </a:xfrm>
          <a:prstGeom prst="rect">
            <a:avLst/>
          </a:prstGeom>
          <a:ln w="12700">
            <a:miter lim="400000"/>
          </a:ln>
        </p:spPr>
      </p:pic>
      <p:sp>
        <p:nvSpPr>
          <p:cNvPr id="405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LS-enhanced-feat and LS-enhanced wrt LS</a:t>
            </a:r>
          </a:p>
        </p:txBody>
      </p:sp>
      <p:sp>
        <p:nvSpPr>
          <p:cNvPr id="408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09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1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523711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object 4"/>
          <p:cNvSpPr txBox="1"/>
          <p:nvPr/>
        </p:nvSpPr>
        <p:spPr>
          <a:xfrm>
            <a:off x="402930" y="712441"/>
            <a:ext cx="5388774" cy="2129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The Noise of Force-Directed Scheduling (Midterm): </a:t>
            </a:r>
            <a:r>
              <a:rPr b="0"/>
              <a:t>In the </a:t>
            </a:r>
            <a:r>
              <a:rPr b="0" i="1"/>
              <a:t>Uniform</a:t>
            </a:r>
            <a:r>
              <a:rPr b="0"/>
              <a:t> benchmark,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using Forces without structural awareness introduced significant decision noise.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The scheduler broke ties arbitrarily, leading to a massive 12.99% performance drop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compared to simple Slack Priority.</a:t>
            </a:r>
            <a:endParaRPr b="0"/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Stabilizing Role of Stiffness (Final): </a:t>
            </a:r>
            <a:r>
              <a:rPr b="0"/>
              <a:t>Adding the Stiffness metric successfully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filtered out this noise. By identifying the true structural bottlenecks, it forced the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scheduler to make smarter decisions, recovering almost all the lost performance </a:t>
            </a:r>
            <a:endParaRPr b="0"/>
          </a:p>
          <a:p>
            <a: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pPr>
            <a:r>
              <a:rPr b="0"/>
              <a:t>(from -12.99% to -0.35%).</a:t>
            </a:r>
            <a:endParaRPr b="0"/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Conclusion:</a:t>
            </a:r>
            <a:r>
              <a:t> While Standard LS remains the most robust heuristic, Silvia’s Stiffness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metric is essential for making Force-Directed approaches viable. It transforms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an unstable algorithm (Midterm) into a robust one that is comparable to standard LS.</a:t>
            </a:r>
          </a:p>
        </p:txBody>
      </p:sp>
      <p:pic>
        <p:nvPicPr>
          <p:cNvPr id="413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22801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1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Analysis: </a:t>
            </a:r>
            <a:r>
              <a:rPr b="0"/>
              <a:t>LS-enhanced-feat and LS-enhanced wrt LS</a:t>
            </a:r>
          </a:p>
        </p:txBody>
      </p:sp>
      <p:sp>
        <p:nvSpPr>
          <p:cNvPr id="417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18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19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0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582456" y="1984869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376087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22" name="object 4"/>
          <p:cNvSpPr txBox="1"/>
          <p:nvPr/>
        </p:nvSpPr>
        <p:spPr>
          <a:xfrm>
            <a:off x="402930" y="712441"/>
            <a:ext cx="5388774" cy="15194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Even though the results achieved adding the Stiffness metric are far superior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ones without it, the results are still slightly worse than the ones obtained with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standard LS.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Being the resource constraints very loose, an interesting analysis is to try to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make these constraints more tight, to see whether in this case the enhanced LS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can outperform the standard LS.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analysis is performed by scaling the available resources from 1.0 (standard case) </a:t>
            </a:r>
          </a:p>
          <a:p>
            <a:pPr lvl="1"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to 0.10, with a step of 1.0.</a:t>
            </a:r>
          </a:p>
        </p:txBody>
      </p:sp>
      <p:sp>
        <p:nvSpPr>
          <p:cNvPr id="423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Results: </a:t>
            </a:r>
            <a:r>
              <a:rPr b="0"/>
              <a:t>% Improvement of LS-enhanced wrt LS scaling the resource constraints</a:t>
            </a:r>
          </a:p>
        </p:txBody>
      </p:sp>
      <p:sp>
        <p:nvSpPr>
          <p:cNvPr id="426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27" name="Uniform"/>
          <p:cNvSpPr txBox="1"/>
          <p:nvPr/>
        </p:nvSpPr>
        <p:spPr>
          <a:xfrm>
            <a:off x="716300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</a:t>
            </a:r>
          </a:p>
        </p:txBody>
      </p:sp>
      <p:sp>
        <p:nvSpPr>
          <p:cNvPr id="428" name="InvDelay"/>
          <p:cNvSpPr txBox="1"/>
          <p:nvPr/>
        </p:nvSpPr>
        <p:spPr>
          <a:xfrm>
            <a:off x="3510472" y="816117"/>
            <a:ext cx="1511247" cy="239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>
            <a:lvl1pPr marR="215265" indent="289558" algn="ctr">
              <a:defRPr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</a:t>
            </a:r>
          </a:p>
        </p:txBody>
      </p:sp>
      <p:sp>
        <p:nvSpPr>
          <p:cNvPr id="42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pic>
        <p:nvPicPr>
          <p:cNvPr id="430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950541" y="1269365"/>
            <a:ext cx="2631110" cy="157866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1" name="pasted-movie.png" descr="pasted-movi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156369" y="1269365"/>
            <a:ext cx="2631109" cy="157866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34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3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36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443" y="1845177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3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43" y="107896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38" name="object 4"/>
          <p:cNvSpPr txBox="1"/>
          <p:nvPr/>
        </p:nvSpPr>
        <p:spPr>
          <a:xfrm>
            <a:off x="402930" y="712441"/>
            <a:ext cx="53887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Uniform Benchmark (Final version)</a:t>
            </a:r>
          </a:p>
        </p:txBody>
      </p:sp>
      <p:sp>
        <p:nvSpPr>
          <p:cNvPr id="439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Analyis: </a:t>
            </a:r>
            <a:r>
              <a:rPr b="0"/>
              <a:t>LS-enhanced wrt LS scaling the resource constraints</a:t>
            </a:r>
          </a:p>
        </p:txBody>
      </p:sp>
      <p:sp>
        <p:nvSpPr>
          <p:cNvPr id="440" name="object 4"/>
          <p:cNvSpPr txBox="1"/>
          <p:nvPr/>
        </p:nvSpPr>
        <p:spPr>
          <a:xfrm>
            <a:off x="802383" y="1388325"/>
            <a:ext cx="538877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Loose Constraints (1.0): Small penalty (- 0.47%).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High Stress (0.4 - 0.1): The gap hits 0%: LS final matches LS standard perfectly.</a:t>
            </a:r>
          </a:p>
        </p:txBody>
      </p:sp>
      <p:pic>
        <p:nvPicPr>
          <p:cNvPr id="44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58661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2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4194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43" name="object 4"/>
          <p:cNvSpPr txBox="1"/>
          <p:nvPr/>
        </p:nvSpPr>
        <p:spPr>
          <a:xfrm>
            <a:off x="577546" y="887057"/>
            <a:ext cx="5388774" cy="1367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As resources decrease, the performance gap often vanishes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completely.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Analysis:</a:t>
            </a:r>
            <a:r>
              <a:t> Under extreme pressure, the new Stifness metric aligns with the optimal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greedy choice, eliminating its own decision noise as options narrow.</a:t>
            </a:r>
          </a:p>
        </p:txBody>
      </p:sp>
      <p:sp>
        <p:nvSpPr>
          <p:cNvPr id="444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47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48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49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443" y="1843642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0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43" y="107896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51" name="object 4"/>
          <p:cNvSpPr txBox="1"/>
          <p:nvPr/>
        </p:nvSpPr>
        <p:spPr>
          <a:xfrm>
            <a:off x="402930" y="712441"/>
            <a:ext cx="53887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InvDelay Benchmark (Final version)</a:t>
            </a:r>
          </a:p>
        </p:txBody>
      </p:sp>
      <p:sp>
        <p:nvSpPr>
          <p:cNvPr id="452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Analyis: </a:t>
            </a:r>
            <a:r>
              <a:rPr b="0"/>
              <a:t>LS-enhanced wrt LS scaling the resource constraints</a:t>
            </a:r>
          </a:p>
        </p:txBody>
      </p:sp>
      <p:pic>
        <p:nvPicPr>
          <p:cNvPr id="45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41220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54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5718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55" name="object 4"/>
          <p:cNvSpPr txBox="1"/>
          <p:nvPr/>
        </p:nvSpPr>
        <p:spPr>
          <a:xfrm>
            <a:off x="577546" y="887057"/>
            <a:ext cx="5388774" cy="1519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The performance gap shrinks consistently as the problem becomes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harder.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Analysis:</a:t>
            </a:r>
            <a:r>
              <a:t> Tighter constraints reduce the margin for error. Instead of degrading, the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final LS version adapts, proving that its logic holds becomes more reliable in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corner conditions.</a:t>
            </a:r>
          </a:p>
        </p:txBody>
      </p:sp>
      <p:sp>
        <p:nvSpPr>
          <p:cNvPr id="456" name="object 4"/>
          <p:cNvSpPr txBox="1"/>
          <p:nvPr/>
        </p:nvSpPr>
        <p:spPr>
          <a:xfrm>
            <a:off x="791512" y="1362925"/>
            <a:ext cx="538877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Loose Constraints (1.0): Gap is - 0.49%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High Stress (0.4 - 0.1): Gap narrows to - 0.12%</a:t>
            </a:r>
          </a:p>
        </p:txBody>
      </p:sp>
      <p:sp>
        <p:nvSpPr>
          <p:cNvPr id="457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object 15"/>
          <p:cNvSpPr txBox="1"/>
          <p:nvPr/>
        </p:nvSpPr>
        <p:spPr>
          <a:xfrm>
            <a:off x="138542" y="2036915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60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61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2" name="object 5" descr="object 5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757443" y="1843642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3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57443" y="1078964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object 4"/>
          <p:cNvSpPr txBox="1"/>
          <p:nvPr/>
        </p:nvSpPr>
        <p:spPr>
          <a:xfrm>
            <a:off x="402930" y="712441"/>
            <a:ext cx="5388774" cy="1478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marR="215265" indent="289558" algn="just">
              <a:defRPr b="1" spc="-49" sz="1100"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Midterm version</a:t>
            </a:r>
          </a:p>
        </p:txBody>
      </p:sp>
      <p:sp>
        <p:nvSpPr>
          <p:cNvPr id="465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/>
          <a:p>
            <a:pPr indent="12700">
              <a:spcBef>
                <a:spcPts val="100"/>
              </a:spcBef>
              <a:defRPr b="1" spc="-100"/>
            </a:pPr>
            <a:r>
              <a:t>Results Analyis: </a:t>
            </a:r>
            <a:r>
              <a:rPr b="0"/>
              <a:t>LS-enhanced wrt LS scaling the resource constraints</a:t>
            </a:r>
          </a:p>
        </p:txBody>
      </p:sp>
      <p:pic>
        <p:nvPicPr>
          <p:cNvPr id="46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412206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6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973186" y="1571818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68" name="object 4"/>
          <p:cNvSpPr txBox="1"/>
          <p:nvPr/>
        </p:nvSpPr>
        <p:spPr>
          <a:xfrm>
            <a:off x="577546" y="887057"/>
            <a:ext cx="5388774" cy="1519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Observation:</a:t>
            </a:r>
            <a:r>
              <a:t> The performance gap consistently shrinks in both Uniform and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InvDelay benchmarks.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Analysis:</a:t>
            </a:r>
            <a:r>
              <a:t> Tighter constraints reduce the margin for error also for the version without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Stiffness metric. Even though results get better as the pressure increases,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this version still gives worse performance with respect to the Final one.   </a:t>
            </a:r>
          </a:p>
        </p:txBody>
      </p:sp>
      <p:sp>
        <p:nvSpPr>
          <p:cNvPr id="469" name="object 4"/>
          <p:cNvSpPr txBox="1"/>
          <p:nvPr/>
        </p:nvSpPr>
        <p:spPr>
          <a:xfrm>
            <a:off x="791512" y="1362925"/>
            <a:ext cx="5388774" cy="3002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Loose Constraints (1.0): Gap is - 12.67% (Uniform) and - 2.74% (invDelay)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High Stress (0.4 - 0.1): Gap narrows to - 0.86% (Uniform) and - 0.67% (invDelay)</a:t>
            </a:r>
          </a:p>
        </p:txBody>
      </p:sp>
      <p:sp>
        <p:nvSpPr>
          <p:cNvPr id="470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object 2"/>
          <p:cNvSpPr txBox="1"/>
          <p:nvPr>
            <p:ph type="title"/>
          </p:nvPr>
        </p:nvSpPr>
        <p:spPr>
          <a:xfrm>
            <a:off x="95297" y="61883"/>
            <a:ext cx="5575205" cy="244479"/>
          </a:xfrm>
          <a:prstGeom prst="rect">
            <a:avLst/>
          </a:prstGeom>
        </p:spPr>
        <p:txBody>
          <a:bodyPr/>
          <a:lstStyle>
            <a:lvl1pPr indent="12700">
              <a:spcBef>
                <a:spcPts val="100"/>
              </a:spcBef>
              <a:defRPr b="1" spc="-100"/>
            </a:lvl1pPr>
          </a:lstStyle>
          <a:p>
            <a:pPr/>
            <a:r>
              <a:t>Conclusion</a:t>
            </a:r>
          </a:p>
        </p:txBody>
      </p:sp>
      <p:sp>
        <p:nvSpPr>
          <p:cNvPr id="473" name="object 15"/>
          <p:cNvSpPr txBox="1"/>
          <p:nvPr/>
        </p:nvSpPr>
        <p:spPr>
          <a:xfrm>
            <a:off x="138542" y="2036915"/>
            <a:ext cx="476889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sp>
        <p:nvSpPr>
          <p:cNvPr id="474" name="object 15"/>
          <p:cNvSpPr txBox="1"/>
          <p:nvPr/>
        </p:nvSpPr>
        <p:spPr>
          <a:xfrm>
            <a:off x="4809" y="1572522"/>
            <a:ext cx="476888" cy="1643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1300"/>
              </a:lnSpc>
              <a:defRPr spc="-135" sz="12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/>
            <a:r>
              <a:t>Essence</a:t>
            </a:r>
          </a:p>
        </p:txBody>
      </p:sp>
      <p:pic>
        <p:nvPicPr>
          <p:cNvPr id="475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767305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6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1515420"/>
            <a:ext cx="65268" cy="65268"/>
          </a:xfrm>
          <a:prstGeom prst="rect">
            <a:avLst/>
          </a:prstGeom>
          <a:ln w="12700">
            <a:miter lim="400000"/>
          </a:ln>
        </p:spPr>
      </p:pic>
      <p:pic>
        <p:nvPicPr>
          <p:cNvPr id="477" name="object 3" descr="object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82456" y="2276236"/>
            <a:ext cx="65268" cy="65268"/>
          </a:xfrm>
          <a:prstGeom prst="rect">
            <a:avLst/>
          </a:prstGeom>
          <a:ln w="12700">
            <a:miter lim="400000"/>
          </a:ln>
        </p:spPr>
      </p:pic>
      <p:sp>
        <p:nvSpPr>
          <p:cNvPr id="478" name="object 4"/>
          <p:cNvSpPr txBox="1"/>
          <p:nvPr/>
        </p:nvSpPr>
        <p:spPr>
          <a:xfrm>
            <a:off x="402930" y="712441"/>
            <a:ext cx="5388774" cy="2129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The Noise of Force-Directed Scheduling (Midterm):</a:t>
            </a:r>
            <a:r>
              <a:t> In the Uniform benchmark,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using FDS without structural awareness introduced significant decision noise.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The scheduler broke ties arbitrarily, leading to a massive 12.99% performance drop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compared to simple Slack Priority.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The Stabilizing Role of Stiffness (Final):</a:t>
            </a:r>
            <a:r>
              <a:t> Adding the Stiffness metric successfully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filtered out this noise. By identifying true bottlenecks, it forced the scheduler to make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smarter decisions, recovering almost all the performance loss (from - 12.99% to </a:t>
            </a:r>
          </a:p>
          <a:p>
            <a:pPr marL="399847" marR="215265" indent="-110289" algn="just">
              <a:buSzPct val="100000"/>
              <a:buChar char="-"/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0.35%).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rPr b="1"/>
              <a:t>Final Conclusion: </a:t>
            </a:r>
            <a:r>
              <a:t>While the standard List Scheduling remains a robust heuristic,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Silvia’s Stiffness metric is essential for making Force-Directed approaches viable. </a:t>
            </a:r>
          </a:p>
          <a:p>
            <a:pPr marR="215265" indent="289558" algn="just">
              <a:defRPr spc="-49" sz="1100">
                <a:latin typeface="Arial"/>
                <a:ea typeface="Arial"/>
                <a:cs typeface="Arial"/>
                <a:sym typeface="Arial"/>
              </a:defRPr>
            </a:pPr>
            <a:r>
              <a:t>It transforms an unstable algorithm into a competitive one.</a:t>
            </a:r>
          </a:p>
        </p:txBody>
      </p:sp>
      <p:sp>
        <p:nvSpPr>
          <p:cNvPr id="479" name="Slide Number"/>
          <p:cNvSpPr txBox="1"/>
          <p:nvPr>
            <p:ph type="sldNum" sz="quarter" idx="4294967295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Aptos"/>
        <a:ea typeface="Aptos"/>
        <a:cs typeface="Aptos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